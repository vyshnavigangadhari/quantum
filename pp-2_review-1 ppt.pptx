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notesMasterIdLst>
    <p:notesMasterId r:id="rId19"/>
  </p:notesMasterIdLst>
  <p:sldIdLst>
    <p:sldId id="256" r:id="rId2"/>
    <p:sldId id="257" r:id="rId3"/>
    <p:sldId id="259" r:id="rId4"/>
    <p:sldId id="258" r:id="rId5"/>
    <p:sldId id="260" r:id="rId6"/>
    <p:sldId id="263" r:id="rId7"/>
    <p:sldId id="264" r:id="rId8"/>
    <p:sldId id="273" r:id="rId9"/>
    <p:sldId id="272" r:id="rId10"/>
    <p:sldId id="265" r:id="rId11"/>
    <p:sldId id="276" r:id="rId12"/>
    <p:sldId id="277" r:id="rId13"/>
    <p:sldId id="266" r:id="rId14"/>
    <p:sldId id="267" r:id="rId15"/>
    <p:sldId id="274" r:id="rId16"/>
    <p:sldId id="275" r:id="rId17"/>
    <p:sldId id="270"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204" autoAdjust="0"/>
    <p:restoredTop sz="94660"/>
  </p:normalViewPr>
  <p:slideViewPr>
    <p:cSldViewPr snapToGrid="0">
      <p:cViewPr varScale="1">
        <p:scale>
          <a:sx n="87" d="100"/>
          <a:sy n="87" d="100"/>
        </p:scale>
        <p:origin x="518"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7152DE7-F159-4A03-93EA-FD2E46ED09A1}" type="doc">
      <dgm:prSet loTypeId="urn:microsoft.com/office/officeart/2005/8/layout/list1" loCatId="list" qsTypeId="urn:microsoft.com/office/officeart/2005/8/quickstyle/simple1" qsCatId="simple" csTypeId="urn:microsoft.com/office/officeart/2005/8/colors/accent2_2" csCatId="accent2" phldr="1"/>
      <dgm:spPr/>
      <dgm:t>
        <a:bodyPr/>
        <a:lstStyle/>
        <a:p>
          <a:endParaRPr lang="en-US"/>
        </a:p>
      </dgm:t>
    </dgm:pt>
    <dgm:pt modelId="{D600B016-5DF8-467E-9075-42A049134471}">
      <dgm:prSet phldrT="[Text]" custT="1"/>
      <dgm:spPr/>
      <dgm:t>
        <a:bodyPr/>
        <a:lstStyle/>
        <a:p>
          <a:r>
            <a:rPr lang="en-US" sz="1600" b="1" dirty="0">
              <a:latin typeface="Times New Roman" panose="02020603050405020304" pitchFamily="18" charset="0"/>
              <a:cs typeface="Times New Roman" panose="02020603050405020304" pitchFamily="18" charset="0"/>
            </a:rPr>
            <a:t>Abstract</a:t>
          </a:r>
          <a:endParaRPr lang="en-US" sz="1600" dirty="0"/>
        </a:p>
      </dgm:t>
    </dgm:pt>
    <dgm:pt modelId="{971178DC-3B5C-43BC-952F-8EB39DB61806}" type="parTrans" cxnId="{D6581319-1230-4E51-A8FA-ECF542F0A431}">
      <dgm:prSet/>
      <dgm:spPr/>
      <dgm:t>
        <a:bodyPr/>
        <a:lstStyle/>
        <a:p>
          <a:endParaRPr lang="en-US"/>
        </a:p>
      </dgm:t>
    </dgm:pt>
    <dgm:pt modelId="{ED71A749-D2C7-4B59-BD42-84A4E585361A}" type="sibTrans" cxnId="{D6581319-1230-4E51-A8FA-ECF542F0A431}">
      <dgm:prSet/>
      <dgm:spPr/>
      <dgm:t>
        <a:bodyPr/>
        <a:lstStyle/>
        <a:p>
          <a:endParaRPr lang="en-US"/>
        </a:p>
      </dgm:t>
    </dgm:pt>
    <dgm:pt modelId="{18C05601-8659-40F4-BE1E-0DE715164F34}">
      <dgm:prSet phldrT="[Text]" custT="1"/>
      <dgm:spPr/>
      <dgm:t>
        <a:bodyPr/>
        <a:lstStyle/>
        <a:p>
          <a:r>
            <a:rPr lang="en-US" sz="1600" b="1" dirty="0">
              <a:latin typeface="Times New Roman" panose="02020603050405020304" pitchFamily="18" charset="0"/>
              <a:cs typeface="Times New Roman" panose="02020603050405020304" pitchFamily="18" charset="0"/>
            </a:rPr>
            <a:t>Problem Statement </a:t>
          </a:r>
          <a:endParaRPr lang="en-US" sz="1600" dirty="0"/>
        </a:p>
      </dgm:t>
    </dgm:pt>
    <dgm:pt modelId="{41478EC1-0EAF-4F90-97FD-CBE1817CA7F7}" type="parTrans" cxnId="{882FD699-5F4D-47F2-87A5-3D26DB55AE75}">
      <dgm:prSet/>
      <dgm:spPr/>
      <dgm:t>
        <a:bodyPr/>
        <a:lstStyle/>
        <a:p>
          <a:endParaRPr lang="en-US"/>
        </a:p>
      </dgm:t>
    </dgm:pt>
    <dgm:pt modelId="{022B4AF3-894F-4884-8255-C039E4B8EB54}" type="sibTrans" cxnId="{882FD699-5F4D-47F2-87A5-3D26DB55AE75}">
      <dgm:prSet/>
      <dgm:spPr/>
      <dgm:t>
        <a:bodyPr/>
        <a:lstStyle/>
        <a:p>
          <a:endParaRPr lang="en-US"/>
        </a:p>
      </dgm:t>
    </dgm:pt>
    <dgm:pt modelId="{E85842D6-AEFD-4FF4-8DF0-F4DA1C935EAB}">
      <dgm:prSet phldrT="[Text]" custT="1"/>
      <dgm:spPr/>
      <dgm:t>
        <a:bodyPr/>
        <a:lstStyle/>
        <a:p>
          <a:r>
            <a:rPr lang="en-US" sz="1600" b="1" dirty="0">
              <a:latin typeface="Times New Roman" panose="02020603050405020304" pitchFamily="18" charset="0"/>
              <a:cs typeface="Times New Roman" panose="02020603050405020304" pitchFamily="18" charset="0"/>
            </a:rPr>
            <a:t>Objectives </a:t>
          </a:r>
          <a:endParaRPr lang="en-US" sz="1600" dirty="0"/>
        </a:p>
      </dgm:t>
    </dgm:pt>
    <dgm:pt modelId="{6836CA4A-54F2-4C50-9332-970385EDBC4B}" type="parTrans" cxnId="{A8E7F5E7-6114-49C0-8063-6B54A1F42A6D}">
      <dgm:prSet/>
      <dgm:spPr/>
      <dgm:t>
        <a:bodyPr/>
        <a:lstStyle/>
        <a:p>
          <a:endParaRPr lang="en-US"/>
        </a:p>
      </dgm:t>
    </dgm:pt>
    <dgm:pt modelId="{CA5511E0-8638-4428-81D9-3D5A46130351}" type="sibTrans" cxnId="{A8E7F5E7-6114-49C0-8063-6B54A1F42A6D}">
      <dgm:prSet/>
      <dgm:spPr/>
      <dgm:t>
        <a:bodyPr/>
        <a:lstStyle/>
        <a:p>
          <a:endParaRPr lang="en-US"/>
        </a:p>
      </dgm:t>
    </dgm:pt>
    <dgm:pt modelId="{291F09F0-1ABC-489B-8EA1-643B67D27884}">
      <dgm:prSet phldrT="[Text]" custT="1"/>
      <dgm:spPr/>
      <dgm:t>
        <a:bodyPr/>
        <a:lstStyle/>
        <a:p>
          <a:r>
            <a:rPr lang="en-US" sz="1600" b="1" dirty="0">
              <a:latin typeface="Times New Roman" panose="02020603050405020304" pitchFamily="18" charset="0"/>
              <a:cs typeface="Times New Roman" panose="02020603050405020304" pitchFamily="18" charset="0"/>
            </a:rPr>
            <a:t>Existing Idea </a:t>
          </a:r>
          <a:endParaRPr lang="en-US" sz="1600" dirty="0"/>
        </a:p>
      </dgm:t>
    </dgm:pt>
    <dgm:pt modelId="{BBA78A90-07B2-44CE-8238-69B7C3CFC8AB}" type="parTrans" cxnId="{A2595AA4-0D32-4536-B4B5-0D0612D089F6}">
      <dgm:prSet/>
      <dgm:spPr/>
      <dgm:t>
        <a:bodyPr/>
        <a:lstStyle/>
        <a:p>
          <a:endParaRPr lang="en-US"/>
        </a:p>
      </dgm:t>
    </dgm:pt>
    <dgm:pt modelId="{269280DF-1791-4476-997B-2A61627FDE13}" type="sibTrans" cxnId="{A2595AA4-0D32-4536-B4B5-0D0612D089F6}">
      <dgm:prSet/>
      <dgm:spPr/>
      <dgm:t>
        <a:bodyPr/>
        <a:lstStyle/>
        <a:p>
          <a:endParaRPr lang="en-US"/>
        </a:p>
      </dgm:t>
    </dgm:pt>
    <dgm:pt modelId="{5A75AD5F-0EBA-4EAD-92B9-03436690DBEB}">
      <dgm:prSet phldrT="[Text]" custT="1"/>
      <dgm:spPr/>
      <dgm:t>
        <a:bodyPr/>
        <a:lstStyle/>
        <a:p>
          <a:r>
            <a:rPr lang="en-US" sz="1600" b="1" dirty="0">
              <a:latin typeface="Times New Roman" panose="02020603050405020304" pitchFamily="18" charset="0"/>
              <a:cs typeface="Times New Roman" panose="02020603050405020304" pitchFamily="18" charset="0"/>
            </a:rPr>
            <a:t>Proposed Methodology </a:t>
          </a:r>
          <a:endParaRPr lang="en-US" sz="1600" dirty="0"/>
        </a:p>
      </dgm:t>
    </dgm:pt>
    <dgm:pt modelId="{5E3EEC73-20B7-42DB-8501-735C19460321}" type="parTrans" cxnId="{345B14E1-9AA1-4639-A845-5DFB82669254}">
      <dgm:prSet/>
      <dgm:spPr/>
      <dgm:t>
        <a:bodyPr/>
        <a:lstStyle/>
        <a:p>
          <a:endParaRPr lang="en-US"/>
        </a:p>
      </dgm:t>
    </dgm:pt>
    <dgm:pt modelId="{6202E9FB-A142-441B-83AE-319297FD4DF5}" type="sibTrans" cxnId="{345B14E1-9AA1-4639-A845-5DFB82669254}">
      <dgm:prSet/>
      <dgm:spPr/>
      <dgm:t>
        <a:bodyPr/>
        <a:lstStyle/>
        <a:p>
          <a:endParaRPr lang="en-US"/>
        </a:p>
      </dgm:t>
    </dgm:pt>
    <dgm:pt modelId="{954F0B27-1DD3-4267-A4C8-10FA33984561}">
      <dgm:prSet phldrT="[Text]" custT="1"/>
      <dgm:spPr/>
      <dgm:t>
        <a:bodyPr/>
        <a:lstStyle/>
        <a:p>
          <a:r>
            <a:rPr lang="en-US" sz="1600" b="1" dirty="0">
              <a:latin typeface="Times New Roman" panose="02020603050405020304" pitchFamily="18" charset="0"/>
              <a:cs typeface="Times New Roman" panose="02020603050405020304" pitchFamily="18" charset="0"/>
            </a:rPr>
            <a:t>Results</a:t>
          </a:r>
          <a:endParaRPr lang="en-US" sz="1600" dirty="0"/>
        </a:p>
      </dgm:t>
    </dgm:pt>
    <dgm:pt modelId="{2AB7E8E9-1E49-4DCF-B6C3-F30B019C24CF}" type="parTrans" cxnId="{909C0066-F372-42A6-8971-193560581AF4}">
      <dgm:prSet/>
      <dgm:spPr/>
      <dgm:t>
        <a:bodyPr/>
        <a:lstStyle/>
        <a:p>
          <a:endParaRPr lang="en-US"/>
        </a:p>
      </dgm:t>
    </dgm:pt>
    <dgm:pt modelId="{0675AC1B-A90F-4B61-A04A-73707904A09E}" type="sibTrans" cxnId="{909C0066-F372-42A6-8971-193560581AF4}">
      <dgm:prSet/>
      <dgm:spPr/>
      <dgm:t>
        <a:bodyPr/>
        <a:lstStyle/>
        <a:p>
          <a:endParaRPr lang="en-US"/>
        </a:p>
      </dgm:t>
    </dgm:pt>
    <dgm:pt modelId="{1C2E5246-6C30-4941-BC2A-597CCEA8E914}" type="pres">
      <dgm:prSet presAssocID="{37152DE7-F159-4A03-93EA-FD2E46ED09A1}" presName="linear" presStyleCnt="0">
        <dgm:presLayoutVars>
          <dgm:dir/>
          <dgm:animLvl val="lvl"/>
          <dgm:resizeHandles val="exact"/>
        </dgm:presLayoutVars>
      </dgm:prSet>
      <dgm:spPr/>
    </dgm:pt>
    <dgm:pt modelId="{CAF560F5-334E-4694-A6B9-220E5D628AE0}" type="pres">
      <dgm:prSet presAssocID="{D600B016-5DF8-467E-9075-42A049134471}" presName="parentLin" presStyleCnt="0"/>
      <dgm:spPr/>
    </dgm:pt>
    <dgm:pt modelId="{AB97C760-6400-472E-96F0-8DA87E657FC3}" type="pres">
      <dgm:prSet presAssocID="{D600B016-5DF8-467E-9075-42A049134471}" presName="parentLeftMargin" presStyleLbl="node1" presStyleIdx="0" presStyleCnt="6"/>
      <dgm:spPr/>
    </dgm:pt>
    <dgm:pt modelId="{2A66CEB2-7766-40B1-AE2F-721C7C93C650}" type="pres">
      <dgm:prSet presAssocID="{D600B016-5DF8-467E-9075-42A049134471}" presName="parentText" presStyleLbl="node1" presStyleIdx="0" presStyleCnt="6">
        <dgm:presLayoutVars>
          <dgm:chMax val="0"/>
          <dgm:bulletEnabled val="1"/>
        </dgm:presLayoutVars>
      </dgm:prSet>
      <dgm:spPr/>
    </dgm:pt>
    <dgm:pt modelId="{9946AD1D-361E-459F-8DE4-E5A81CE53355}" type="pres">
      <dgm:prSet presAssocID="{D600B016-5DF8-467E-9075-42A049134471}" presName="negativeSpace" presStyleCnt="0"/>
      <dgm:spPr/>
    </dgm:pt>
    <dgm:pt modelId="{F696A73F-DA69-4D54-A611-A29800F2EA6E}" type="pres">
      <dgm:prSet presAssocID="{D600B016-5DF8-467E-9075-42A049134471}" presName="childText" presStyleLbl="conFgAcc1" presStyleIdx="0" presStyleCnt="6">
        <dgm:presLayoutVars>
          <dgm:bulletEnabled val="1"/>
        </dgm:presLayoutVars>
      </dgm:prSet>
      <dgm:spPr/>
    </dgm:pt>
    <dgm:pt modelId="{9E8393C4-EB4B-4716-975D-CF40398888B0}" type="pres">
      <dgm:prSet presAssocID="{ED71A749-D2C7-4B59-BD42-84A4E585361A}" presName="spaceBetweenRectangles" presStyleCnt="0"/>
      <dgm:spPr/>
    </dgm:pt>
    <dgm:pt modelId="{548715B2-4C5B-4D07-8E97-55E045A81F3B}" type="pres">
      <dgm:prSet presAssocID="{18C05601-8659-40F4-BE1E-0DE715164F34}" presName="parentLin" presStyleCnt="0"/>
      <dgm:spPr/>
    </dgm:pt>
    <dgm:pt modelId="{65E43230-C9E8-4D58-A61B-36D001F47111}" type="pres">
      <dgm:prSet presAssocID="{18C05601-8659-40F4-BE1E-0DE715164F34}" presName="parentLeftMargin" presStyleLbl="node1" presStyleIdx="0" presStyleCnt="6"/>
      <dgm:spPr/>
    </dgm:pt>
    <dgm:pt modelId="{8B8FE4D3-7892-4707-B8B6-B5DEF06702EB}" type="pres">
      <dgm:prSet presAssocID="{18C05601-8659-40F4-BE1E-0DE715164F34}" presName="parentText" presStyleLbl="node1" presStyleIdx="1" presStyleCnt="6">
        <dgm:presLayoutVars>
          <dgm:chMax val="0"/>
          <dgm:bulletEnabled val="1"/>
        </dgm:presLayoutVars>
      </dgm:prSet>
      <dgm:spPr/>
    </dgm:pt>
    <dgm:pt modelId="{264112FF-834D-41CE-9337-B975C39E2F07}" type="pres">
      <dgm:prSet presAssocID="{18C05601-8659-40F4-BE1E-0DE715164F34}" presName="negativeSpace" presStyleCnt="0"/>
      <dgm:spPr/>
    </dgm:pt>
    <dgm:pt modelId="{413E28A5-66DB-411D-9CB0-07DE32680199}" type="pres">
      <dgm:prSet presAssocID="{18C05601-8659-40F4-BE1E-0DE715164F34}" presName="childText" presStyleLbl="conFgAcc1" presStyleIdx="1" presStyleCnt="6">
        <dgm:presLayoutVars>
          <dgm:bulletEnabled val="1"/>
        </dgm:presLayoutVars>
      </dgm:prSet>
      <dgm:spPr/>
    </dgm:pt>
    <dgm:pt modelId="{DF757DF6-0C61-4BEE-A12D-D826D5814ED9}" type="pres">
      <dgm:prSet presAssocID="{022B4AF3-894F-4884-8255-C039E4B8EB54}" presName="spaceBetweenRectangles" presStyleCnt="0"/>
      <dgm:spPr/>
    </dgm:pt>
    <dgm:pt modelId="{5EDEEC62-2069-4B21-9193-4CC4776FC414}" type="pres">
      <dgm:prSet presAssocID="{E85842D6-AEFD-4FF4-8DF0-F4DA1C935EAB}" presName="parentLin" presStyleCnt="0"/>
      <dgm:spPr/>
    </dgm:pt>
    <dgm:pt modelId="{2307BAFC-0AB1-401D-BF4F-FCF56B3CACD2}" type="pres">
      <dgm:prSet presAssocID="{E85842D6-AEFD-4FF4-8DF0-F4DA1C935EAB}" presName="parentLeftMargin" presStyleLbl="node1" presStyleIdx="1" presStyleCnt="6"/>
      <dgm:spPr/>
    </dgm:pt>
    <dgm:pt modelId="{203AEAF5-A99D-4FBA-8F5B-8929A0B17185}" type="pres">
      <dgm:prSet presAssocID="{E85842D6-AEFD-4FF4-8DF0-F4DA1C935EAB}" presName="parentText" presStyleLbl="node1" presStyleIdx="2" presStyleCnt="6">
        <dgm:presLayoutVars>
          <dgm:chMax val="0"/>
          <dgm:bulletEnabled val="1"/>
        </dgm:presLayoutVars>
      </dgm:prSet>
      <dgm:spPr/>
    </dgm:pt>
    <dgm:pt modelId="{23ABDA22-F86E-435F-8D6B-F3074CD8A3C5}" type="pres">
      <dgm:prSet presAssocID="{E85842D6-AEFD-4FF4-8DF0-F4DA1C935EAB}" presName="negativeSpace" presStyleCnt="0"/>
      <dgm:spPr/>
    </dgm:pt>
    <dgm:pt modelId="{B6830D4F-B22D-41E4-B06A-0544E07A5D4A}" type="pres">
      <dgm:prSet presAssocID="{E85842D6-AEFD-4FF4-8DF0-F4DA1C935EAB}" presName="childText" presStyleLbl="conFgAcc1" presStyleIdx="2" presStyleCnt="6">
        <dgm:presLayoutVars>
          <dgm:bulletEnabled val="1"/>
        </dgm:presLayoutVars>
      </dgm:prSet>
      <dgm:spPr/>
    </dgm:pt>
    <dgm:pt modelId="{ABCF42A6-3EB2-4A56-A74F-F4877AC31195}" type="pres">
      <dgm:prSet presAssocID="{CA5511E0-8638-4428-81D9-3D5A46130351}" presName="spaceBetweenRectangles" presStyleCnt="0"/>
      <dgm:spPr/>
    </dgm:pt>
    <dgm:pt modelId="{945D7095-797D-4FDD-8D70-DB558636582E}" type="pres">
      <dgm:prSet presAssocID="{291F09F0-1ABC-489B-8EA1-643B67D27884}" presName="parentLin" presStyleCnt="0"/>
      <dgm:spPr/>
    </dgm:pt>
    <dgm:pt modelId="{54446AFF-5B3D-4829-A9CB-EDC07595F3E9}" type="pres">
      <dgm:prSet presAssocID="{291F09F0-1ABC-489B-8EA1-643B67D27884}" presName="parentLeftMargin" presStyleLbl="node1" presStyleIdx="2" presStyleCnt="6"/>
      <dgm:spPr/>
    </dgm:pt>
    <dgm:pt modelId="{847BBC85-0549-456B-ACD8-70199FB7CD1D}" type="pres">
      <dgm:prSet presAssocID="{291F09F0-1ABC-489B-8EA1-643B67D27884}" presName="parentText" presStyleLbl="node1" presStyleIdx="3" presStyleCnt="6">
        <dgm:presLayoutVars>
          <dgm:chMax val="0"/>
          <dgm:bulletEnabled val="1"/>
        </dgm:presLayoutVars>
      </dgm:prSet>
      <dgm:spPr/>
    </dgm:pt>
    <dgm:pt modelId="{E22B577A-76BA-4967-AAC9-CE480F68FA3B}" type="pres">
      <dgm:prSet presAssocID="{291F09F0-1ABC-489B-8EA1-643B67D27884}" presName="negativeSpace" presStyleCnt="0"/>
      <dgm:spPr/>
    </dgm:pt>
    <dgm:pt modelId="{52D3ACA3-0E6F-4561-B209-02FECFCFD43A}" type="pres">
      <dgm:prSet presAssocID="{291F09F0-1ABC-489B-8EA1-643B67D27884}" presName="childText" presStyleLbl="conFgAcc1" presStyleIdx="3" presStyleCnt="6">
        <dgm:presLayoutVars>
          <dgm:bulletEnabled val="1"/>
        </dgm:presLayoutVars>
      </dgm:prSet>
      <dgm:spPr/>
    </dgm:pt>
    <dgm:pt modelId="{2533AEFE-55E6-4105-9FA1-DED97F55B4B5}" type="pres">
      <dgm:prSet presAssocID="{269280DF-1791-4476-997B-2A61627FDE13}" presName="spaceBetweenRectangles" presStyleCnt="0"/>
      <dgm:spPr/>
    </dgm:pt>
    <dgm:pt modelId="{60E94BD6-3912-47D3-993A-2FCC570C8708}" type="pres">
      <dgm:prSet presAssocID="{5A75AD5F-0EBA-4EAD-92B9-03436690DBEB}" presName="parentLin" presStyleCnt="0"/>
      <dgm:spPr/>
    </dgm:pt>
    <dgm:pt modelId="{FB2510B5-159B-4F03-954E-847F05DE3F44}" type="pres">
      <dgm:prSet presAssocID="{5A75AD5F-0EBA-4EAD-92B9-03436690DBEB}" presName="parentLeftMargin" presStyleLbl="node1" presStyleIdx="3" presStyleCnt="6"/>
      <dgm:spPr/>
    </dgm:pt>
    <dgm:pt modelId="{DDC55A40-D09E-4472-BB34-B0516A397ECF}" type="pres">
      <dgm:prSet presAssocID="{5A75AD5F-0EBA-4EAD-92B9-03436690DBEB}" presName="parentText" presStyleLbl="node1" presStyleIdx="4" presStyleCnt="6">
        <dgm:presLayoutVars>
          <dgm:chMax val="0"/>
          <dgm:bulletEnabled val="1"/>
        </dgm:presLayoutVars>
      </dgm:prSet>
      <dgm:spPr/>
    </dgm:pt>
    <dgm:pt modelId="{0486E170-DFD0-42A2-81C2-1EE510AA2811}" type="pres">
      <dgm:prSet presAssocID="{5A75AD5F-0EBA-4EAD-92B9-03436690DBEB}" presName="negativeSpace" presStyleCnt="0"/>
      <dgm:spPr/>
    </dgm:pt>
    <dgm:pt modelId="{BE35B5A8-3323-45E7-920B-3DD872E0940C}" type="pres">
      <dgm:prSet presAssocID="{5A75AD5F-0EBA-4EAD-92B9-03436690DBEB}" presName="childText" presStyleLbl="conFgAcc1" presStyleIdx="4" presStyleCnt="6">
        <dgm:presLayoutVars>
          <dgm:bulletEnabled val="1"/>
        </dgm:presLayoutVars>
      </dgm:prSet>
      <dgm:spPr/>
    </dgm:pt>
    <dgm:pt modelId="{B746942B-244E-4B8F-A799-BD56110B020A}" type="pres">
      <dgm:prSet presAssocID="{6202E9FB-A142-441B-83AE-319297FD4DF5}" presName="spaceBetweenRectangles" presStyleCnt="0"/>
      <dgm:spPr/>
    </dgm:pt>
    <dgm:pt modelId="{E15C35CE-9521-4CC6-B729-006CE12AC378}" type="pres">
      <dgm:prSet presAssocID="{954F0B27-1DD3-4267-A4C8-10FA33984561}" presName="parentLin" presStyleCnt="0"/>
      <dgm:spPr/>
    </dgm:pt>
    <dgm:pt modelId="{C1820A55-14E3-4444-9AA0-B094FEA32F64}" type="pres">
      <dgm:prSet presAssocID="{954F0B27-1DD3-4267-A4C8-10FA33984561}" presName="parentLeftMargin" presStyleLbl="node1" presStyleIdx="4" presStyleCnt="6"/>
      <dgm:spPr/>
    </dgm:pt>
    <dgm:pt modelId="{F5C44245-0D92-4A0F-A744-9CB4B869FBF2}" type="pres">
      <dgm:prSet presAssocID="{954F0B27-1DD3-4267-A4C8-10FA33984561}" presName="parentText" presStyleLbl="node1" presStyleIdx="5" presStyleCnt="6">
        <dgm:presLayoutVars>
          <dgm:chMax val="0"/>
          <dgm:bulletEnabled val="1"/>
        </dgm:presLayoutVars>
      </dgm:prSet>
      <dgm:spPr/>
    </dgm:pt>
    <dgm:pt modelId="{FAFD2C68-8B14-4FAA-8A3F-F55795F656D4}" type="pres">
      <dgm:prSet presAssocID="{954F0B27-1DD3-4267-A4C8-10FA33984561}" presName="negativeSpace" presStyleCnt="0"/>
      <dgm:spPr/>
    </dgm:pt>
    <dgm:pt modelId="{C771D96D-286A-4AA4-A430-3ABAD58B0624}" type="pres">
      <dgm:prSet presAssocID="{954F0B27-1DD3-4267-A4C8-10FA33984561}" presName="childText" presStyleLbl="conFgAcc1" presStyleIdx="5" presStyleCnt="6">
        <dgm:presLayoutVars>
          <dgm:bulletEnabled val="1"/>
        </dgm:presLayoutVars>
      </dgm:prSet>
      <dgm:spPr/>
    </dgm:pt>
  </dgm:ptLst>
  <dgm:cxnLst>
    <dgm:cxn modelId="{D6581319-1230-4E51-A8FA-ECF542F0A431}" srcId="{37152DE7-F159-4A03-93EA-FD2E46ED09A1}" destId="{D600B016-5DF8-467E-9075-42A049134471}" srcOrd="0" destOrd="0" parTransId="{971178DC-3B5C-43BC-952F-8EB39DB61806}" sibTransId="{ED71A749-D2C7-4B59-BD42-84A4E585361A}"/>
    <dgm:cxn modelId="{27C8F51B-DBF7-49F5-82BF-04782DDBD8F4}" type="presOf" srcId="{291F09F0-1ABC-489B-8EA1-643B67D27884}" destId="{847BBC85-0549-456B-ACD8-70199FB7CD1D}" srcOrd="1" destOrd="0" presId="urn:microsoft.com/office/officeart/2005/8/layout/list1"/>
    <dgm:cxn modelId="{65100D1E-F9B1-4F23-8F4E-649600D4E98F}" type="presOf" srcId="{18C05601-8659-40F4-BE1E-0DE715164F34}" destId="{8B8FE4D3-7892-4707-B8B6-B5DEF06702EB}" srcOrd="1" destOrd="0" presId="urn:microsoft.com/office/officeart/2005/8/layout/list1"/>
    <dgm:cxn modelId="{C30ED321-3D73-4793-AC0A-AD7FD6C09259}" type="presOf" srcId="{D600B016-5DF8-467E-9075-42A049134471}" destId="{2A66CEB2-7766-40B1-AE2F-721C7C93C650}" srcOrd="1" destOrd="0" presId="urn:microsoft.com/office/officeart/2005/8/layout/list1"/>
    <dgm:cxn modelId="{04655431-27DA-4452-848A-C901478CC8A0}" type="presOf" srcId="{D600B016-5DF8-467E-9075-42A049134471}" destId="{AB97C760-6400-472E-96F0-8DA87E657FC3}" srcOrd="0" destOrd="0" presId="urn:microsoft.com/office/officeart/2005/8/layout/list1"/>
    <dgm:cxn modelId="{60151D3C-8808-4E5B-97CD-A7213BC9B529}" type="presOf" srcId="{37152DE7-F159-4A03-93EA-FD2E46ED09A1}" destId="{1C2E5246-6C30-4941-BC2A-597CCEA8E914}" srcOrd="0" destOrd="0" presId="urn:microsoft.com/office/officeart/2005/8/layout/list1"/>
    <dgm:cxn modelId="{0024EC5B-2B21-4E00-B11C-A43928FE83DD}" type="presOf" srcId="{18C05601-8659-40F4-BE1E-0DE715164F34}" destId="{65E43230-C9E8-4D58-A61B-36D001F47111}" srcOrd="0" destOrd="0" presId="urn:microsoft.com/office/officeart/2005/8/layout/list1"/>
    <dgm:cxn modelId="{909C0066-F372-42A6-8971-193560581AF4}" srcId="{37152DE7-F159-4A03-93EA-FD2E46ED09A1}" destId="{954F0B27-1DD3-4267-A4C8-10FA33984561}" srcOrd="5" destOrd="0" parTransId="{2AB7E8E9-1E49-4DCF-B6C3-F30B019C24CF}" sibTransId="{0675AC1B-A90F-4B61-A04A-73707904A09E}"/>
    <dgm:cxn modelId="{CC51604F-E783-4732-B03C-9B08745C6086}" type="presOf" srcId="{E85842D6-AEFD-4FF4-8DF0-F4DA1C935EAB}" destId="{2307BAFC-0AB1-401D-BF4F-FCF56B3CACD2}" srcOrd="0" destOrd="0" presId="urn:microsoft.com/office/officeart/2005/8/layout/list1"/>
    <dgm:cxn modelId="{AC6A2272-24D8-47CE-A604-924CF819DA6F}" type="presOf" srcId="{5A75AD5F-0EBA-4EAD-92B9-03436690DBEB}" destId="{FB2510B5-159B-4F03-954E-847F05DE3F44}" srcOrd="0" destOrd="0" presId="urn:microsoft.com/office/officeart/2005/8/layout/list1"/>
    <dgm:cxn modelId="{F4C0F555-FD2E-42DD-9536-B0AAF9F8A075}" type="presOf" srcId="{E85842D6-AEFD-4FF4-8DF0-F4DA1C935EAB}" destId="{203AEAF5-A99D-4FBA-8F5B-8929A0B17185}" srcOrd="1" destOrd="0" presId="urn:microsoft.com/office/officeart/2005/8/layout/list1"/>
    <dgm:cxn modelId="{8919B17F-5DD2-438C-A077-8B4434E0AFE3}" type="presOf" srcId="{954F0B27-1DD3-4267-A4C8-10FA33984561}" destId="{F5C44245-0D92-4A0F-A744-9CB4B869FBF2}" srcOrd="1" destOrd="0" presId="urn:microsoft.com/office/officeart/2005/8/layout/list1"/>
    <dgm:cxn modelId="{882FD699-5F4D-47F2-87A5-3D26DB55AE75}" srcId="{37152DE7-F159-4A03-93EA-FD2E46ED09A1}" destId="{18C05601-8659-40F4-BE1E-0DE715164F34}" srcOrd="1" destOrd="0" parTransId="{41478EC1-0EAF-4F90-97FD-CBE1817CA7F7}" sibTransId="{022B4AF3-894F-4884-8255-C039E4B8EB54}"/>
    <dgm:cxn modelId="{A2595AA4-0D32-4536-B4B5-0D0612D089F6}" srcId="{37152DE7-F159-4A03-93EA-FD2E46ED09A1}" destId="{291F09F0-1ABC-489B-8EA1-643B67D27884}" srcOrd="3" destOrd="0" parTransId="{BBA78A90-07B2-44CE-8238-69B7C3CFC8AB}" sibTransId="{269280DF-1791-4476-997B-2A61627FDE13}"/>
    <dgm:cxn modelId="{FA7D2DA7-4D50-4459-962B-9386F462FB97}" type="presOf" srcId="{5A75AD5F-0EBA-4EAD-92B9-03436690DBEB}" destId="{DDC55A40-D09E-4472-BB34-B0516A397ECF}" srcOrd="1" destOrd="0" presId="urn:microsoft.com/office/officeart/2005/8/layout/list1"/>
    <dgm:cxn modelId="{CEC718CD-220E-4361-A581-CE05A29193F7}" type="presOf" srcId="{954F0B27-1DD3-4267-A4C8-10FA33984561}" destId="{C1820A55-14E3-4444-9AA0-B094FEA32F64}" srcOrd="0" destOrd="0" presId="urn:microsoft.com/office/officeart/2005/8/layout/list1"/>
    <dgm:cxn modelId="{345B14E1-9AA1-4639-A845-5DFB82669254}" srcId="{37152DE7-F159-4A03-93EA-FD2E46ED09A1}" destId="{5A75AD5F-0EBA-4EAD-92B9-03436690DBEB}" srcOrd="4" destOrd="0" parTransId="{5E3EEC73-20B7-42DB-8501-735C19460321}" sibTransId="{6202E9FB-A142-441B-83AE-319297FD4DF5}"/>
    <dgm:cxn modelId="{A8E7F5E7-6114-49C0-8063-6B54A1F42A6D}" srcId="{37152DE7-F159-4A03-93EA-FD2E46ED09A1}" destId="{E85842D6-AEFD-4FF4-8DF0-F4DA1C935EAB}" srcOrd="2" destOrd="0" parTransId="{6836CA4A-54F2-4C50-9332-970385EDBC4B}" sibTransId="{CA5511E0-8638-4428-81D9-3D5A46130351}"/>
    <dgm:cxn modelId="{7D39CAFB-EBB7-496E-91FB-FE7FA0A4C838}" type="presOf" srcId="{291F09F0-1ABC-489B-8EA1-643B67D27884}" destId="{54446AFF-5B3D-4829-A9CB-EDC07595F3E9}" srcOrd="0" destOrd="0" presId="urn:microsoft.com/office/officeart/2005/8/layout/list1"/>
    <dgm:cxn modelId="{9C48562F-3052-4C15-8632-2DBAC6DCA214}" type="presParOf" srcId="{1C2E5246-6C30-4941-BC2A-597CCEA8E914}" destId="{CAF560F5-334E-4694-A6B9-220E5D628AE0}" srcOrd="0" destOrd="0" presId="urn:microsoft.com/office/officeart/2005/8/layout/list1"/>
    <dgm:cxn modelId="{97467408-8C33-46AE-BF0F-C50A31E69B46}" type="presParOf" srcId="{CAF560F5-334E-4694-A6B9-220E5D628AE0}" destId="{AB97C760-6400-472E-96F0-8DA87E657FC3}" srcOrd="0" destOrd="0" presId="urn:microsoft.com/office/officeart/2005/8/layout/list1"/>
    <dgm:cxn modelId="{CA093E9E-9B9F-4A1A-A326-300125CCE59B}" type="presParOf" srcId="{CAF560F5-334E-4694-A6B9-220E5D628AE0}" destId="{2A66CEB2-7766-40B1-AE2F-721C7C93C650}" srcOrd="1" destOrd="0" presId="urn:microsoft.com/office/officeart/2005/8/layout/list1"/>
    <dgm:cxn modelId="{6228F4C2-0115-4535-A952-C3C87C21D0C7}" type="presParOf" srcId="{1C2E5246-6C30-4941-BC2A-597CCEA8E914}" destId="{9946AD1D-361E-459F-8DE4-E5A81CE53355}" srcOrd="1" destOrd="0" presId="urn:microsoft.com/office/officeart/2005/8/layout/list1"/>
    <dgm:cxn modelId="{F6E5C332-8AFB-402C-BF4A-41AE907475BF}" type="presParOf" srcId="{1C2E5246-6C30-4941-BC2A-597CCEA8E914}" destId="{F696A73F-DA69-4D54-A611-A29800F2EA6E}" srcOrd="2" destOrd="0" presId="urn:microsoft.com/office/officeart/2005/8/layout/list1"/>
    <dgm:cxn modelId="{3B6146C4-F8D4-4F1C-8AA0-03424E12A0B1}" type="presParOf" srcId="{1C2E5246-6C30-4941-BC2A-597CCEA8E914}" destId="{9E8393C4-EB4B-4716-975D-CF40398888B0}" srcOrd="3" destOrd="0" presId="urn:microsoft.com/office/officeart/2005/8/layout/list1"/>
    <dgm:cxn modelId="{837F5FA5-9336-4D88-81A5-746773816D3E}" type="presParOf" srcId="{1C2E5246-6C30-4941-BC2A-597CCEA8E914}" destId="{548715B2-4C5B-4D07-8E97-55E045A81F3B}" srcOrd="4" destOrd="0" presId="urn:microsoft.com/office/officeart/2005/8/layout/list1"/>
    <dgm:cxn modelId="{8DE8D184-F9F3-4880-BF37-F7C796680380}" type="presParOf" srcId="{548715B2-4C5B-4D07-8E97-55E045A81F3B}" destId="{65E43230-C9E8-4D58-A61B-36D001F47111}" srcOrd="0" destOrd="0" presId="urn:microsoft.com/office/officeart/2005/8/layout/list1"/>
    <dgm:cxn modelId="{1687D7A7-8310-4B23-9A9B-469C468392A3}" type="presParOf" srcId="{548715B2-4C5B-4D07-8E97-55E045A81F3B}" destId="{8B8FE4D3-7892-4707-B8B6-B5DEF06702EB}" srcOrd="1" destOrd="0" presId="urn:microsoft.com/office/officeart/2005/8/layout/list1"/>
    <dgm:cxn modelId="{07D7391E-32FD-400B-8B30-FD94BE03CD6D}" type="presParOf" srcId="{1C2E5246-6C30-4941-BC2A-597CCEA8E914}" destId="{264112FF-834D-41CE-9337-B975C39E2F07}" srcOrd="5" destOrd="0" presId="urn:microsoft.com/office/officeart/2005/8/layout/list1"/>
    <dgm:cxn modelId="{AAE5792C-9714-4147-8494-3F12CA0AC443}" type="presParOf" srcId="{1C2E5246-6C30-4941-BC2A-597CCEA8E914}" destId="{413E28A5-66DB-411D-9CB0-07DE32680199}" srcOrd="6" destOrd="0" presId="urn:microsoft.com/office/officeart/2005/8/layout/list1"/>
    <dgm:cxn modelId="{3CA4ABA0-9CB6-45DC-9782-1A8879FEAD10}" type="presParOf" srcId="{1C2E5246-6C30-4941-BC2A-597CCEA8E914}" destId="{DF757DF6-0C61-4BEE-A12D-D826D5814ED9}" srcOrd="7" destOrd="0" presId="urn:microsoft.com/office/officeart/2005/8/layout/list1"/>
    <dgm:cxn modelId="{6804E3E9-B196-4D9F-8FBF-D8AE45A345A0}" type="presParOf" srcId="{1C2E5246-6C30-4941-BC2A-597CCEA8E914}" destId="{5EDEEC62-2069-4B21-9193-4CC4776FC414}" srcOrd="8" destOrd="0" presId="urn:microsoft.com/office/officeart/2005/8/layout/list1"/>
    <dgm:cxn modelId="{306F6D7B-4329-4A38-A6E8-89AB730D8C01}" type="presParOf" srcId="{5EDEEC62-2069-4B21-9193-4CC4776FC414}" destId="{2307BAFC-0AB1-401D-BF4F-FCF56B3CACD2}" srcOrd="0" destOrd="0" presId="urn:microsoft.com/office/officeart/2005/8/layout/list1"/>
    <dgm:cxn modelId="{C612838E-1DC4-4323-B9CA-F64E884B0D91}" type="presParOf" srcId="{5EDEEC62-2069-4B21-9193-4CC4776FC414}" destId="{203AEAF5-A99D-4FBA-8F5B-8929A0B17185}" srcOrd="1" destOrd="0" presId="urn:microsoft.com/office/officeart/2005/8/layout/list1"/>
    <dgm:cxn modelId="{0FF01CA5-0411-4945-A690-E9FCE7BEE026}" type="presParOf" srcId="{1C2E5246-6C30-4941-BC2A-597CCEA8E914}" destId="{23ABDA22-F86E-435F-8D6B-F3074CD8A3C5}" srcOrd="9" destOrd="0" presId="urn:microsoft.com/office/officeart/2005/8/layout/list1"/>
    <dgm:cxn modelId="{451A19DF-DE4A-4A55-93D8-33849B5B22E1}" type="presParOf" srcId="{1C2E5246-6C30-4941-BC2A-597CCEA8E914}" destId="{B6830D4F-B22D-41E4-B06A-0544E07A5D4A}" srcOrd="10" destOrd="0" presId="urn:microsoft.com/office/officeart/2005/8/layout/list1"/>
    <dgm:cxn modelId="{DB671B7B-085F-4373-A911-3DDAC232F466}" type="presParOf" srcId="{1C2E5246-6C30-4941-BC2A-597CCEA8E914}" destId="{ABCF42A6-3EB2-4A56-A74F-F4877AC31195}" srcOrd="11" destOrd="0" presId="urn:microsoft.com/office/officeart/2005/8/layout/list1"/>
    <dgm:cxn modelId="{0E6B6920-0DFA-4057-87A0-BF076CF9D1AB}" type="presParOf" srcId="{1C2E5246-6C30-4941-BC2A-597CCEA8E914}" destId="{945D7095-797D-4FDD-8D70-DB558636582E}" srcOrd="12" destOrd="0" presId="urn:microsoft.com/office/officeart/2005/8/layout/list1"/>
    <dgm:cxn modelId="{765FBC90-BAAD-409A-A9EF-8D649585A6FB}" type="presParOf" srcId="{945D7095-797D-4FDD-8D70-DB558636582E}" destId="{54446AFF-5B3D-4829-A9CB-EDC07595F3E9}" srcOrd="0" destOrd="0" presId="urn:microsoft.com/office/officeart/2005/8/layout/list1"/>
    <dgm:cxn modelId="{34342287-81D1-4041-8F98-1B86D1CBBA69}" type="presParOf" srcId="{945D7095-797D-4FDD-8D70-DB558636582E}" destId="{847BBC85-0549-456B-ACD8-70199FB7CD1D}" srcOrd="1" destOrd="0" presId="urn:microsoft.com/office/officeart/2005/8/layout/list1"/>
    <dgm:cxn modelId="{E190A827-3DE2-41B7-B15C-D9919C2DBF22}" type="presParOf" srcId="{1C2E5246-6C30-4941-BC2A-597CCEA8E914}" destId="{E22B577A-76BA-4967-AAC9-CE480F68FA3B}" srcOrd="13" destOrd="0" presId="urn:microsoft.com/office/officeart/2005/8/layout/list1"/>
    <dgm:cxn modelId="{4B13FE34-982F-43AF-B50F-FE340223638E}" type="presParOf" srcId="{1C2E5246-6C30-4941-BC2A-597CCEA8E914}" destId="{52D3ACA3-0E6F-4561-B209-02FECFCFD43A}" srcOrd="14" destOrd="0" presId="urn:microsoft.com/office/officeart/2005/8/layout/list1"/>
    <dgm:cxn modelId="{3279119E-5257-4877-84E5-3C8DFBDFFDC1}" type="presParOf" srcId="{1C2E5246-6C30-4941-BC2A-597CCEA8E914}" destId="{2533AEFE-55E6-4105-9FA1-DED97F55B4B5}" srcOrd="15" destOrd="0" presId="urn:microsoft.com/office/officeart/2005/8/layout/list1"/>
    <dgm:cxn modelId="{24BBBB0F-6AAD-46DC-83EA-17520A2555C4}" type="presParOf" srcId="{1C2E5246-6C30-4941-BC2A-597CCEA8E914}" destId="{60E94BD6-3912-47D3-993A-2FCC570C8708}" srcOrd="16" destOrd="0" presId="urn:microsoft.com/office/officeart/2005/8/layout/list1"/>
    <dgm:cxn modelId="{C4FBA001-B071-485A-B72E-69224D1D8ABB}" type="presParOf" srcId="{60E94BD6-3912-47D3-993A-2FCC570C8708}" destId="{FB2510B5-159B-4F03-954E-847F05DE3F44}" srcOrd="0" destOrd="0" presId="urn:microsoft.com/office/officeart/2005/8/layout/list1"/>
    <dgm:cxn modelId="{3D197347-C3B1-456B-BD0C-71E5927AAF20}" type="presParOf" srcId="{60E94BD6-3912-47D3-993A-2FCC570C8708}" destId="{DDC55A40-D09E-4472-BB34-B0516A397ECF}" srcOrd="1" destOrd="0" presId="urn:microsoft.com/office/officeart/2005/8/layout/list1"/>
    <dgm:cxn modelId="{01A2E8DA-8A8B-48B5-B6D7-A7F429AE714F}" type="presParOf" srcId="{1C2E5246-6C30-4941-BC2A-597CCEA8E914}" destId="{0486E170-DFD0-42A2-81C2-1EE510AA2811}" srcOrd="17" destOrd="0" presId="urn:microsoft.com/office/officeart/2005/8/layout/list1"/>
    <dgm:cxn modelId="{42E43BBE-F5CF-4C7A-BD8E-F5C4E6939449}" type="presParOf" srcId="{1C2E5246-6C30-4941-BC2A-597CCEA8E914}" destId="{BE35B5A8-3323-45E7-920B-3DD872E0940C}" srcOrd="18" destOrd="0" presId="urn:microsoft.com/office/officeart/2005/8/layout/list1"/>
    <dgm:cxn modelId="{C615E5C0-A2CA-41C4-80EF-F06FDE75D547}" type="presParOf" srcId="{1C2E5246-6C30-4941-BC2A-597CCEA8E914}" destId="{B746942B-244E-4B8F-A799-BD56110B020A}" srcOrd="19" destOrd="0" presId="urn:microsoft.com/office/officeart/2005/8/layout/list1"/>
    <dgm:cxn modelId="{F9B0F097-36FE-490E-AE00-ECFD6B232BE0}" type="presParOf" srcId="{1C2E5246-6C30-4941-BC2A-597CCEA8E914}" destId="{E15C35CE-9521-4CC6-B729-006CE12AC378}" srcOrd="20" destOrd="0" presId="urn:microsoft.com/office/officeart/2005/8/layout/list1"/>
    <dgm:cxn modelId="{AFCE2518-AD30-4854-A904-1BCB9666415B}" type="presParOf" srcId="{E15C35CE-9521-4CC6-B729-006CE12AC378}" destId="{C1820A55-14E3-4444-9AA0-B094FEA32F64}" srcOrd="0" destOrd="0" presId="urn:microsoft.com/office/officeart/2005/8/layout/list1"/>
    <dgm:cxn modelId="{4F84C5BF-F518-4F80-991D-F87C19692B9C}" type="presParOf" srcId="{E15C35CE-9521-4CC6-B729-006CE12AC378}" destId="{F5C44245-0D92-4A0F-A744-9CB4B869FBF2}" srcOrd="1" destOrd="0" presId="urn:microsoft.com/office/officeart/2005/8/layout/list1"/>
    <dgm:cxn modelId="{3FEE56B9-0581-43AD-B702-C95E32136D4E}" type="presParOf" srcId="{1C2E5246-6C30-4941-BC2A-597CCEA8E914}" destId="{FAFD2C68-8B14-4FAA-8A3F-F55795F656D4}" srcOrd="21" destOrd="0" presId="urn:microsoft.com/office/officeart/2005/8/layout/list1"/>
    <dgm:cxn modelId="{7C40D7F9-BD8D-4E4D-9675-9C8C111E47F4}" type="presParOf" srcId="{1C2E5246-6C30-4941-BC2A-597CCEA8E914}" destId="{C771D96D-286A-4AA4-A430-3ABAD58B0624}" srcOrd="22"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F76CC79-3C83-4FBD-83ED-3D7221AA3D8E}" type="doc">
      <dgm:prSet loTypeId="urn:microsoft.com/office/officeart/2009/3/layout/PlusandMinus" loCatId="relationship" qsTypeId="urn:microsoft.com/office/officeart/2005/8/quickstyle/simple1" qsCatId="simple" csTypeId="urn:microsoft.com/office/officeart/2005/8/colors/accent1_2" csCatId="accent1" phldr="1"/>
      <dgm:spPr/>
      <dgm:t>
        <a:bodyPr/>
        <a:lstStyle/>
        <a:p>
          <a:endParaRPr lang="en-US"/>
        </a:p>
      </dgm:t>
    </dgm:pt>
    <dgm:pt modelId="{875CF0F8-5605-4C9D-9514-03A39F58B0A1}">
      <dgm:prSet phldrT="[Text]" phldr="0" custT="1"/>
      <dgm:spPr/>
      <dgm:t>
        <a:bodyPr/>
        <a:lstStyle/>
        <a:p>
          <a:pPr>
            <a:lnSpc>
              <a:spcPct val="250000"/>
            </a:lnSpc>
          </a:pPr>
          <a:r>
            <a:rPr lang="en-US" sz="2000" dirty="0"/>
            <a:t>Cost Hamiltonian</a:t>
          </a:r>
        </a:p>
        <a:p>
          <a:pPr>
            <a:lnSpc>
              <a:spcPct val="250000"/>
            </a:lnSpc>
          </a:pPr>
          <a:r>
            <a:rPr lang="en-US" sz="2000" dirty="0"/>
            <a:t>Mixer Hamiltonian</a:t>
          </a:r>
          <a:br>
            <a:rPr lang="en-US" sz="2000" dirty="0"/>
          </a:br>
          <a:r>
            <a:rPr lang="en-US" sz="2000" dirty="0"/>
            <a:t>adaptive parameter tuning</a:t>
          </a:r>
        </a:p>
      </dgm:t>
    </dgm:pt>
    <dgm:pt modelId="{3F64156B-24E7-4B98-9961-88ADECF41618}" type="parTrans" cxnId="{B199F0B5-A693-4F44-9E1C-13D1B6E53BFE}">
      <dgm:prSet/>
      <dgm:spPr/>
      <dgm:t>
        <a:bodyPr/>
        <a:lstStyle/>
        <a:p>
          <a:endParaRPr lang="en-US"/>
        </a:p>
      </dgm:t>
    </dgm:pt>
    <dgm:pt modelId="{90B0EC36-C584-4014-9557-0A1584818FCC}" type="sibTrans" cxnId="{B199F0B5-A693-4F44-9E1C-13D1B6E53BFE}">
      <dgm:prSet/>
      <dgm:spPr/>
      <dgm:t>
        <a:bodyPr/>
        <a:lstStyle/>
        <a:p>
          <a:endParaRPr lang="en-US"/>
        </a:p>
      </dgm:t>
    </dgm:pt>
    <dgm:pt modelId="{EB4592E4-FB28-4744-9D6B-FCA959FDA22A}">
      <dgm:prSet phldrT="[Text]" phldr="0" custT="1"/>
      <dgm:spPr/>
      <dgm:t>
        <a:bodyPr/>
        <a:lstStyle/>
        <a:p>
          <a:pPr>
            <a:lnSpc>
              <a:spcPct val="250000"/>
            </a:lnSpc>
          </a:pPr>
          <a:r>
            <a:rPr lang="en-US" sz="2000" dirty="0"/>
            <a:t>Oracle marking</a:t>
          </a:r>
          <a:br>
            <a:rPr lang="en-US" sz="2000" dirty="0"/>
          </a:br>
          <a:r>
            <a:rPr lang="en-US" sz="2000" dirty="0"/>
            <a:t>diffusion operating</a:t>
          </a:r>
          <a:br>
            <a:rPr lang="en-US" sz="2000" dirty="0"/>
          </a:br>
          <a:r>
            <a:rPr lang="en-US" sz="2000" dirty="0"/>
            <a:t>fixed iteration </a:t>
          </a:r>
        </a:p>
      </dgm:t>
    </dgm:pt>
    <dgm:pt modelId="{4B717451-ED2A-4984-BD54-E53581817B55}" type="parTrans" cxnId="{1115A980-951E-4065-B261-FCD468BF3D29}">
      <dgm:prSet/>
      <dgm:spPr/>
      <dgm:t>
        <a:bodyPr/>
        <a:lstStyle/>
        <a:p>
          <a:endParaRPr lang="en-US"/>
        </a:p>
      </dgm:t>
    </dgm:pt>
    <dgm:pt modelId="{8F61A6D1-95E4-4585-998B-CE10CD953711}" type="sibTrans" cxnId="{1115A980-951E-4065-B261-FCD468BF3D29}">
      <dgm:prSet/>
      <dgm:spPr/>
      <dgm:t>
        <a:bodyPr/>
        <a:lstStyle/>
        <a:p>
          <a:endParaRPr lang="en-US"/>
        </a:p>
      </dgm:t>
    </dgm:pt>
    <dgm:pt modelId="{0F811C1E-DBA3-4EF4-AAC1-DC051EE27D17}" type="pres">
      <dgm:prSet presAssocID="{2F76CC79-3C83-4FBD-83ED-3D7221AA3D8E}" presName="Name0" presStyleCnt="0">
        <dgm:presLayoutVars>
          <dgm:chMax val="2"/>
          <dgm:chPref val="2"/>
          <dgm:dir/>
          <dgm:animOne/>
          <dgm:resizeHandles val="exact"/>
        </dgm:presLayoutVars>
      </dgm:prSet>
      <dgm:spPr/>
    </dgm:pt>
    <dgm:pt modelId="{C3F1AC89-859A-48A2-9D64-CF59FD8A87F0}" type="pres">
      <dgm:prSet presAssocID="{2F76CC79-3C83-4FBD-83ED-3D7221AA3D8E}" presName="Background" presStyleLbl="bgImgPlace1" presStyleIdx="0" presStyleCnt="1" custScaleX="136774" custScaleY="121951" custLinFactNeighborX="-319"/>
      <dgm:spPr/>
    </dgm:pt>
    <dgm:pt modelId="{840777A9-A0AC-4270-836F-462489DC9E1D}" type="pres">
      <dgm:prSet presAssocID="{2F76CC79-3C83-4FBD-83ED-3D7221AA3D8E}" presName="ParentText1" presStyleLbl="revTx" presStyleIdx="0" presStyleCnt="2" custScaleX="153036">
        <dgm:presLayoutVars>
          <dgm:chMax val="0"/>
          <dgm:chPref val="0"/>
          <dgm:bulletEnabled val="1"/>
        </dgm:presLayoutVars>
      </dgm:prSet>
      <dgm:spPr/>
    </dgm:pt>
    <dgm:pt modelId="{A748A1CE-A7E5-4907-86DF-AFDCC0C06CD7}" type="pres">
      <dgm:prSet presAssocID="{2F76CC79-3C83-4FBD-83ED-3D7221AA3D8E}" presName="ParentText2" presStyleLbl="revTx" presStyleIdx="1" presStyleCnt="2">
        <dgm:presLayoutVars>
          <dgm:chMax val="0"/>
          <dgm:chPref val="0"/>
          <dgm:bulletEnabled val="1"/>
        </dgm:presLayoutVars>
      </dgm:prSet>
      <dgm:spPr/>
    </dgm:pt>
    <dgm:pt modelId="{690D16C0-1B5F-49B0-ADA0-1E0CF95E58A2}" type="pres">
      <dgm:prSet presAssocID="{2F76CC79-3C83-4FBD-83ED-3D7221AA3D8E}" presName="Plus" presStyleLbl="alignNode1" presStyleIdx="0" presStyleCnt="2" custFlipVert="1" custFlipHor="1" custScaleX="19387" custScaleY="16746" custLinFactNeighborX="-86630" custLinFactNeighborY="-28846"/>
      <dgm:spPr/>
    </dgm:pt>
    <dgm:pt modelId="{4B2B68FC-6746-4BE2-AEE9-F5D661586EB1}" type="pres">
      <dgm:prSet presAssocID="{2F76CC79-3C83-4FBD-83ED-3D7221AA3D8E}" presName="Minus" presStyleLbl="alignNode1" presStyleIdx="1" presStyleCnt="2" custFlipVert="1" custScaleX="21428" custScaleY="25582" custLinFactX="759" custLinFactNeighborX="100000" custLinFactNeighborY="-78185"/>
      <dgm:spPr/>
    </dgm:pt>
    <dgm:pt modelId="{A1A35255-E04B-46D9-B852-13C76ABE1712}" type="pres">
      <dgm:prSet presAssocID="{2F76CC79-3C83-4FBD-83ED-3D7221AA3D8E}" presName="Divider" presStyleLbl="parChTrans1D1" presStyleIdx="0" presStyleCnt="1" custScaleX="2000000" custScaleY="149254" custLinFactX="-15690528" custLinFactNeighborX="-15700000" custLinFactNeighborY="-986"/>
      <dgm:spPr/>
    </dgm:pt>
  </dgm:ptLst>
  <dgm:cxnLst>
    <dgm:cxn modelId="{C6E81D5C-66DC-42FA-8F27-FE8803E93622}" type="presOf" srcId="{EB4592E4-FB28-4744-9D6B-FCA959FDA22A}" destId="{A748A1CE-A7E5-4907-86DF-AFDCC0C06CD7}" srcOrd="0" destOrd="0" presId="urn:microsoft.com/office/officeart/2009/3/layout/PlusandMinus"/>
    <dgm:cxn modelId="{1115A980-951E-4065-B261-FCD468BF3D29}" srcId="{2F76CC79-3C83-4FBD-83ED-3D7221AA3D8E}" destId="{EB4592E4-FB28-4744-9D6B-FCA959FDA22A}" srcOrd="1" destOrd="0" parTransId="{4B717451-ED2A-4984-BD54-E53581817B55}" sibTransId="{8F61A6D1-95E4-4585-998B-CE10CD953711}"/>
    <dgm:cxn modelId="{994BC495-C7AA-4525-8B71-ECC2ED5945B8}" type="presOf" srcId="{875CF0F8-5605-4C9D-9514-03A39F58B0A1}" destId="{840777A9-A0AC-4270-836F-462489DC9E1D}" srcOrd="0" destOrd="0" presId="urn:microsoft.com/office/officeart/2009/3/layout/PlusandMinus"/>
    <dgm:cxn modelId="{A1C903A6-E429-4DB6-B0B6-8D318AC404DA}" type="presOf" srcId="{2F76CC79-3C83-4FBD-83ED-3D7221AA3D8E}" destId="{0F811C1E-DBA3-4EF4-AAC1-DC051EE27D17}" srcOrd="0" destOrd="0" presId="urn:microsoft.com/office/officeart/2009/3/layout/PlusandMinus"/>
    <dgm:cxn modelId="{B199F0B5-A693-4F44-9E1C-13D1B6E53BFE}" srcId="{2F76CC79-3C83-4FBD-83ED-3D7221AA3D8E}" destId="{875CF0F8-5605-4C9D-9514-03A39F58B0A1}" srcOrd="0" destOrd="0" parTransId="{3F64156B-24E7-4B98-9961-88ADECF41618}" sibTransId="{90B0EC36-C584-4014-9557-0A1584818FCC}"/>
    <dgm:cxn modelId="{1AD8FF00-857C-47B4-909A-3891A4663BCE}" type="presParOf" srcId="{0F811C1E-DBA3-4EF4-AAC1-DC051EE27D17}" destId="{C3F1AC89-859A-48A2-9D64-CF59FD8A87F0}" srcOrd="0" destOrd="0" presId="urn:microsoft.com/office/officeart/2009/3/layout/PlusandMinus"/>
    <dgm:cxn modelId="{457AAB0E-3D4A-42BE-9741-B82C22BC99B8}" type="presParOf" srcId="{0F811C1E-DBA3-4EF4-AAC1-DC051EE27D17}" destId="{840777A9-A0AC-4270-836F-462489DC9E1D}" srcOrd="1" destOrd="0" presId="urn:microsoft.com/office/officeart/2009/3/layout/PlusandMinus"/>
    <dgm:cxn modelId="{0AAF249A-7BBB-4C47-986F-B808FE3D22DA}" type="presParOf" srcId="{0F811C1E-DBA3-4EF4-AAC1-DC051EE27D17}" destId="{A748A1CE-A7E5-4907-86DF-AFDCC0C06CD7}" srcOrd="2" destOrd="0" presId="urn:microsoft.com/office/officeart/2009/3/layout/PlusandMinus"/>
    <dgm:cxn modelId="{7DC65FB6-6646-4CF6-9B05-AD29EF50C15B}" type="presParOf" srcId="{0F811C1E-DBA3-4EF4-AAC1-DC051EE27D17}" destId="{690D16C0-1B5F-49B0-ADA0-1E0CF95E58A2}" srcOrd="3" destOrd="0" presId="urn:microsoft.com/office/officeart/2009/3/layout/PlusandMinus"/>
    <dgm:cxn modelId="{33E2CF7F-FC7A-40B0-B806-15C0E04E830D}" type="presParOf" srcId="{0F811C1E-DBA3-4EF4-AAC1-DC051EE27D17}" destId="{4B2B68FC-6746-4BE2-AEE9-F5D661586EB1}" srcOrd="4" destOrd="0" presId="urn:microsoft.com/office/officeart/2009/3/layout/PlusandMinus"/>
    <dgm:cxn modelId="{A4809205-D620-49CF-914C-CA6B7A75CD06}" type="presParOf" srcId="{0F811C1E-DBA3-4EF4-AAC1-DC051EE27D17}" destId="{A1A35255-E04B-46D9-B852-13C76ABE1712}" srcOrd="5" destOrd="0" presId="urn:microsoft.com/office/officeart/2009/3/layout/PlusandMinu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696A73F-DA69-4D54-A611-A29800F2EA6E}">
      <dsp:nvSpPr>
        <dsp:cNvPr id="0" name=""/>
        <dsp:cNvSpPr/>
      </dsp:nvSpPr>
      <dsp:spPr>
        <a:xfrm>
          <a:off x="0" y="294540"/>
          <a:ext cx="7351520" cy="428400"/>
        </a:xfrm>
        <a:prstGeom prst="rect">
          <a:avLst/>
        </a:prstGeom>
        <a:solidFill>
          <a:schemeClr val="lt1">
            <a:alpha val="90000"/>
            <a:hueOff val="0"/>
            <a:satOff val="0"/>
            <a:lumOff val="0"/>
            <a:alphaOff val="0"/>
          </a:schemeClr>
        </a:solidFill>
        <a:ln w="15875"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2A66CEB2-7766-40B1-AE2F-721C7C93C650}">
      <dsp:nvSpPr>
        <dsp:cNvPr id="0" name=""/>
        <dsp:cNvSpPr/>
      </dsp:nvSpPr>
      <dsp:spPr>
        <a:xfrm>
          <a:off x="367576" y="43619"/>
          <a:ext cx="5146064" cy="501840"/>
        </a:xfrm>
        <a:prstGeom prst="roundRect">
          <a:avLst/>
        </a:prstGeom>
        <a:solidFill>
          <a:schemeClr val="accent2">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4509" tIns="0" rIns="194509" bIns="0" numCol="1" spcCol="1270" anchor="ctr" anchorCtr="0">
          <a:noAutofit/>
        </a:bodyPr>
        <a:lstStyle/>
        <a:p>
          <a:pPr marL="0" lvl="0" indent="0" algn="l" defTabSz="711200">
            <a:lnSpc>
              <a:spcPct val="90000"/>
            </a:lnSpc>
            <a:spcBef>
              <a:spcPct val="0"/>
            </a:spcBef>
            <a:spcAft>
              <a:spcPct val="35000"/>
            </a:spcAft>
            <a:buNone/>
          </a:pPr>
          <a:r>
            <a:rPr lang="en-US" sz="1600" b="1" kern="1200" dirty="0">
              <a:latin typeface="Times New Roman" panose="02020603050405020304" pitchFamily="18" charset="0"/>
              <a:cs typeface="Times New Roman" panose="02020603050405020304" pitchFamily="18" charset="0"/>
            </a:rPr>
            <a:t>Abstract</a:t>
          </a:r>
          <a:endParaRPr lang="en-US" sz="1600" kern="1200" dirty="0"/>
        </a:p>
      </dsp:txBody>
      <dsp:txXfrm>
        <a:off x="392074" y="68117"/>
        <a:ext cx="5097068" cy="452844"/>
      </dsp:txXfrm>
    </dsp:sp>
    <dsp:sp modelId="{413E28A5-66DB-411D-9CB0-07DE32680199}">
      <dsp:nvSpPr>
        <dsp:cNvPr id="0" name=""/>
        <dsp:cNvSpPr/>
      </dsp:nvSpPr>
      <dsp:spPr>
        <a:xfrm>
          <a:off x="0" y="1065660"/>
          <a:ext cx="7351520" cy="428400"/>
        </a:xfrm>
        <a:prstGeom prst="rect">
          <a:avLst/>
        </a:prstGeom>
        <a:solidFill>
          <a:schemeClr val="lt1">
            <a:alpha val="90000"/>
            <a:hueOff val="0"/>
            <a:satOff val="0"/>
            <a:lumOff val="0"/>
            <a:alphaOff val="0"/>
          </a:schemeClr>
        </a:solidFill>
        <a:ln w="15875"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8B8FE4D3-7892-4707-B8B6-B5DEF06702EB}">
      <dsp:nvSpPr>
        <dsp:cNvPr id="0" name=""/>
        <dsp:cNvSpPr/>
      </dsp:nvSpPr>
      <dsp:spPr>
        <a:xfrm>
          <a:off x="367576" y="814740"/>
          <a:ext cx="5146064" cy="501840"/>
        </a:xfrm>
        <a:prstGeom prst="roundRect">
          <a:avLst/>
        </a:prstGeom>
        <a:solidFill>
          <a:schemeClr val="accent2">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4509" tIns="0" rIns="194509" bIns="0" numCol="1" spcCol="1270" anchor="ctr" anchorCtr="0">
          <a:noAutofit/>
        </a:bodyPr>
        <a:lstStyle/>
        <a:p>
          <a:pPr marL="0" lvl="0" indent="0" algn="l" defTabSz="711200">
            <a:lnSpc>
              <a:spcPct val="90000"/>
            </a:lnSpc>
            <a:spcBef>
              <a:spcPct val="0"/>
            </a:spcBef>
            <a:spcAft>
              <a:spcPct val="35000"/>
            </a:spcAft>
            <a:buNone/>
          </a:pPr>
          <a:r>
            <a:rPr lang="en-US" sz="1600" b="1" kern="1200" dirty="0">
              <a:latin typeface="Times New Roman" panose="02020603050405020304" pitchFamily="18" charset="0"/>
              <a:cs typeface="Times New Roman" panose="02020603050405020304" pitchFamily="18" charset="0"/>
            </a:rPr>
            <a:t>Problem Statement </a:t>
          </a:r>
          <a:endParaRPr lang="en-US" sz="1600" kern="1200" dirty="0"/>
        </a:p>
      </dsp:txBody>
      <dsp:txXfrm>
        <a:off x="392074" y="839238"/>
        <a:ext cx="5097068" cy="452844"/>
      </dsp:txXfrm>
    </dsp:sp>
    <dsp:sp modelId="{B6830D4F-B22D-41E4-B06A-0544E07A5D4A}">
      <dsp:nvSpPr>
        <dsp:cNvPr id="0" name=""/>
        <dsp:cNvSpPr/>
      </dsp:nvSpPr>
      <dsp:spPr>
        <a:xfrm>
          <a:off x="0" y="1836780"/>
          <a:ext cx="7351520" cy="428400"/>
        </a:xfrm>
        <a:prstGeom prst="rect">
          <a:avLst/>
        </a:prstGeom>
        <a:solidFill>
          <a:schemeClr val="lt1">
            <a:alpha val="90000"/>
            <a:hueOff val="0"/>
            <a:satOff val="0"/>
            <a:lumOff val="0"/>
            <a:alphaOff val="0"/>
          </a:schemeClr>
        </a:solidFill>
        <a:ln w="15875"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203AEAF5-A99D-4FBA-8F5B-8929A0B17185}">
      <dsp:nvSpPr>
        <dsp:cNvPr id="0" name=""/>
        <dsp:cNvSpPr/>
      </dsp:nvSpPr>
      <dsp:spPr>
        <a:xfrm>
          <a:off x="367576" y="1585859"/>
          <a:ext cx="5146064" cy="501840"/>
        </a:xfrm>
        <a:prstGeom prst="roundRect">
          <a:avLst/>
        </a:prstGeom>
        <a:solidFill>
          <a:schemeClr val="accent2">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4509" tIns="0" rIns="194509" bIns="0" numCol="1" spcCol="1270" anchor="ctr" anchorCtr="0">
          <a:noAutofit/>
        </a:bodyPr>
        <a:lstStyle/>
        <a:p>
          <a:pPr marL="0" lvl="0" indent="0" algn="l" defTabSz="711200">
            <a:lnSpc>
              <a:spcPct val="90000"/>
            </a:lnSpc>
            <a:spcBef>
              <a:spcPct val="0"/>
            </a:spcBef>
            <a:spcAft>
              <a:spcPct val="35000"/>
            </a:spcAft>
            <a:buNone/>
          </a:pPr>
          <a:r>
            <a:rPr lang="en-US" sz="1600" b="1" kern="1200" dirty="0">
              <a:latin typeface="Times New Roman" panose="02020603050405020304" pitchFamily="18" charset="0"/>
              <a:cs typeface="Times New Roman" panose="02020603050405020304" pitchFamily="18" charset="0"/>
            </a:rPr>
            <a:t>Objectives </a:t>
          </a:r>
          <a:endParaRPr lang="en-US" sz="1600" kern="1200" dirty="0"/>
        </a:p>
      </dsp:txBody>
      <dsp:txXfrm>
        <a:off x="392074" y="1610357"/>
        <a:ext cx="5097068" cy="452844"/>
      </dsp:txXfrm>
    </dsp:sp>
    <dsp:sp modelId="{52D3ACA3-0E6F-4561-B209-02FECFCFD43A}">
      <dsp:nvSpPr>
        <dsp:cNvPr id="0" name=""/>
        <dsp:cNvSpPr/>
      </dsp:nvSpPr>
      <dsp:spPr>
        <a:xfrm>
          <a:off x="0" y="2607900"/>
          <a:ext cx="7351520" cy="428400"/>
        </a:xfrm>
        <a:prstGeom prst="rect">
          <a:avLst/>
        </a:prstGeom>
        <a:solidFill>
          <a:schemeClr val="lt1">
            <a:alpha val="90000"/>
            <a:hueOff val="0"/>
            <a:satOff val="0"/>
            <a:lumOff val="0"/>
            <a:alphaOff val="0"/>
          </a:schemeClr>
        </a:solidFill>
        <a:ln w="15875"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847BBC85-0549-456B-ACD8-70199FB7CD1D}">
      <dsp:nvSpPr>
        <dsp:cNvPr id="0" name=""/>
        <dsp:cNvSpPr/>
      </dsp:nvSpPr>
      <dsp:spPr>
        <a:xfrm>
          <a:off x="367576" y="2356980"/>
          <a:ext cx="5146064" cy="501840"/>
        </a:xfrm>
        <a:prstGeom prst="roundRect">
          <a:avLst/>
        </a:prstGeom>
        <a:solidFill>
          <a:schemeClr val="accent2">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4509" tIns="0" rIns="194509" bIns="0" numCol="1" spcCol="1270" anchor="ctr" anchorCtr="0">
          <a:noAutofit/>
        </a:bodyPr>
        <a:lstStyle/>
        <a:p>
          <a:pPr marL="0" lvl="0" indent="0" algn="l" defTabSz="711200">
            <a:lnSpc>
              <a:spcPct val="90000"/>
            </a:lnSpc>
            <a:spcBef>
              <a:spcPct val="0"/>
            </a:spcBef>
            <a:spcAft>
              <a:spcPct val="35000"/>
            </a:spcAft>
            <a:buNone/>
          </a:pPr>
          <a:r>
            <a:rPr lang="en-US" sz="1600" b="1" kern="1200" dirty="0">
              <a:latin typeface="Times New Roman" panose="02020603050405020304" pitchFamily="18" charset="0"/>
              <a:cs typeface="Times New Roman" panose="02020603050405020304" pitchFamily="18" charset="0"/>
            </a:rPr>
            <a:t>Existing Idea </a:t>
          </a:r>
          <a:endParaRPr lang="en-US" sz="1600" kern="1200" dirty="0"/>
        </a:p>
      </dsp:txBody>
      <dsp:txXfrm>
        <a:off x="392074" y="2381478"/>
        <a:ext cx="5097068" cy="452844"/>
      </dsp:txXfrm>
    </dsp:sp>
    <dsp:sp modelId="{BE35B5A8-3323-45E7-920B-3DD872E0940C}">
      <dsp:nvSpPr>
        <dsp:cNvPr id="0" name=""/>
        <dsp:cNvSpPr/>
      </dsp:nvSpPr>
      <dsp:spPr>
        <a:xfrm>
          <a:off x="0" y="3379020"/>
          <a:ext cx="7351520" cy="428400"/>
        </a:xfrm>
        <a:prstGeom prst="rect">
          <a:avLst/>
        </a:prstGeom>
        <a:solidFill>
          <a:schemeClr val="lt1">
            <a:alpha val="90000"/>
            <a:hueOff val="0"/>
            <a:satOff val="0"/>
            <a:lumOff val="0"/>
            <a:alphaOff val="0"/>
          </a:schemeClr>
        </a:solidFill>
        <a:ln w="15875"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DDC55A40-D09E-4472-BB34-B0516A397ECF}">
      <dsp:nvSpPr>
        <dsp:cNvPr id="0" name=""/>
        <dsp:cNvSpPr/>
      </dsp:nvSpPr>
      <dsp:spPr>
        <a:xfrm>
          <a:off x="367576" y="3128100"/>
          <a:ext cx="5146064" cy="501840"/>
        </a:xfrm>
        <a:prstGeom prst="roundRect">
          <a:avLst/>
        </a:prstGeom>
        <a:solidFill>
          <a:schemeClr val="accent2">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4509" tIns="0" rIns="194509" bIns="0" numCol="1" spcCol="1270" anchor="ctr" anchorCtr="0">
          <a:noAutofit/>
        </a:bodyPr>
        <a:lstStyle/>
        <a:p>
          <a:pPr marL="0" lvl="0" indent="0" algn="l" defTabSz="711200">
            <a:lnSpc>
              <a:spcPct val="90000"/>
            </a:lnSpc>
            <a:spcBef>
              <a:spcPct val="0"/>
            </a:spcBef>
            <a:spcAft>
              <a:spcPct val="35000"/>
            </a:spcAft>
            <a:buNone/>
          </a:pPr>
          <a:r>
            <a:rPr lang="en-US" sz="1600" b="1" kern="1200" dirty="0">
              <a:latin typeface="Times New Roman" panose="02020603050405020304" pitchFamily="18" charset="0"/>
              <a:cs typeface="Times New Roman" panose="02020603050405020304" pitchFamily="18" charset="0"/>
            </a:rPr>
            <a:t>Proposed Methodology </a:t>
          </a:r>
          <a:endParaRPr lang="en-US" sz="1600" kern="1200" dirty="0"/>
        </a:p>
      </dsp:txBody>
      <dsp:txXfrm>
        <a:off x="392074" y="3152598"/>
        <a:ext cx="5097068" cy="452844"/>
      </dsp:txXfrm>
    </dsp:sp>
    <dsp:sp modelId="{C771D96D-286A-4AA4-A430-3ABAD58B0624}">
      <dsp:nvSpPr>
        <dsp:cNvPr id="0" name=""/>
        <dsp:cNvSpPr/>
      </dsp:nvSpPr>
      <dsp:spPr>
        <a:xfrm>
          <a:off x="0" y="4150140"/>
          <a:ext cx="7351520" cy="428400"/>
        </a:xfrm>
        <a:prstGeom prst="rect">
          <a:avLst/>
        </a:prstGeom>
        <a:solidFill>
          <a:schemeClr val="lt1">
            <a:alpha val="90000"/>
            <a:hueOff val="0"/>
            <a:satOff val="0"/>
            <a:lumOff val="0"/>
            <a:alphaOff val="0"/>
          </a:schemeClr>
        </a:solidFill>
        <a:ln w="15875"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F5C44245-0D92-4A0F-A744-9CB4B869FBF2}">
      <dsp:nvSpPr>
        <dsp:cNvPr id="0" name=""/>
        <dsp:cNvSpPr/>
      </dsp:nvSpPr>
      <dsp:spPr>
        <a:xfrm>
          <a:off x="367576" y="3899220"/>
          <a:ext cx="5146064" cy="501840"/>
        </a:xfrm>
        <a:prstGeom prst="roundRect">
          <a:avLst/>
        </a:prstGeom>
        <a:solidFill>
          <a:schemeClr val="accent2">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4509" tIns="0" rIns="194509" bIns="0" numCol="1" spcCol="1270" anchor="ctr" anchorCtr="0">
          <a:noAutofit/>
        </a:bodyPr>
        <a:lstStyle/>
        <a:p>
          <a:pPr marL="0" lvl="0" indent="0" algn="l" defTabSz="711200">
            <a:lnSpc>
              <a:spcPct val="90000"/>
            </a:lnSpc>
            <a:spcBef>
              <a:spcPct val="0"/>
            </a:spcBef>
            <a:spcAft>
              <a:spcPct val="35000"/>
            </a:spcAft>
            <a:buNone/>
          </a:pPr>
          <a:r>
            <a:rPr lang="en-US" sz="1600" b="1" kern="1200" dirty="0">
              <a:latin typeface="Times New Roman" panose="02020603050405020304" pitchFamily="18" charset="0"/>
              <a:cs typeface="Times New Roman" panose="02020603050405020304" pitchFamily="18" charset="0"/>
            </a:rPr>
            <a:t>Results</a:t>
          </a:r>
          <a:endParaRPr lang="en-US" sz="1600" kern="1200" dirty="0"/>
        </a:p>
      </dsp:txBody>
      <dsp:txXfrm>
        <a:off x="392074" y="3923718"/>
        <a:ext cx="5097068" cy="45284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3F1AC89-859A-48A2-9D64-CF59FD8A87F0}">
      <dsp:nvSpPr>
        <dsp:cNvPr id="0" name=""/>
        <dsp:cNvSpPr/>
      </dsp:nvSpPr>
      <dsp:spPr>
        <a:xfrm>
          <a:off x="12352" y="-44721"/>
          <a:ext cx="8665635" cy="3993002"/>
        </a:xfrm>
        <a:prstGeom prst="rect">
          <a:avLst/>
        </a:prstGeom>
        <a:solidFill>
          <a:schemeClr val="accent1">
            <a:tint val="50000"/>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840777A9-A0AC-4270-836F-462489DC9E1D}">
      <dsp:nvSpPr>
        <dsp:cNvPr id="0" name=""/>
        <dsp:cNvSpPr/>
      </dsp:nvSpPr>
      <dsp:spPr>
        <a:xfrm>
          <a:off x="606669" y="697575"/>
          <a:ext cx="4502488" cy="28010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100" tIns="38100" rIns="38100" bIns="38100" numCol="1" spcCol="1270" anchor="t" anchorCtr="0">
          <a:noAutofit/>
        </a:bodyPr>
        <a:lstStyle/>
        <a:p>
          <a:pPr marL="0" lvl="0" indent="0" algn="l" defTabSz="889000">
            <a:lnSpc>
              <a:spcPct val="250000"/>
            </a:lnSpc>
            <a:spcBef>
              <a:spcPct val="0"/>
            </a:spcBef>
            <a:spcAft>
              <a:spcPct val="35000"/>
            </a:spcAft>
            <a:buNone/>
          </a:pPr>
          <a:r>
            <a:rPr lang="en-US" sz="2000" kern="1200" dirty="0"/>
            <a:t>Cost Hamiltonian</a:t>
          </a:r>
        </a:p>
        <a:p>
          <a:pPr marL="0" lvl="0" indent="0" algn="l" defTabSz="889000">
            <a:lnSpc>
              <a:spcPct val="250000"/>
            </a:lnSpc>
            <a:spcBef>
              <a:spcPct val="0"/>
            </a:spcBef>
            <a:spcAft>
              <a:spcPct val="35000"/>
            </a:spcAft>
            <a:buNone/>
          </a:pPr>
          <a:r>
            <a:rPr lang="en-US" sz="2000" kern="1200" dirty="0"/>
            <a:t>Mixer Hamiltonian</a:t>
          </a:r>
          <a:br>
            <a:rPr lang="en-US" sz="2000" kern="1200" dirty="0"/>
          </a:br>
          <a:r>
            <a:rPr lang="en-US" sz="2000" kern="1200" dirty="0"/>
            <a:t>adaptive parameter tuning</a:t>
          </a:r>
        </a:p>
      </dsp:txBody>
      <dsp:txXfrm>
        <a:off x="606669" y="697575"/>
        <a:ext cx="4502488" cy="2801096"/>
      </dsp:txXfrm>
    </dsp:sp>
    <dsp:sp modelId="{A748A1CE-A7E5-4907-86DF-AFDCC0C06CD7}">
      <dsp:nvSpPr>
        <dsp:cNvPr id="0" name=""/>
        <dsp:cNvSpPr/>
      </dsp:nvSpPr>
      <dsp:spPr>
        <a:xfrm>
          <a:off x="4394510" y="697575"/>
          <a:ext cx="2942110" cy="28010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100" tIns="38100" rIns="38100" bIns="38100" numCol="1" spcCol="1270" anchor="t" anchorCtr="0">
          <a:noAutofit/>
        </a:bodyPr>
        <a:lstStyle/>
        <a:p>
          <a:pPr marL="0" lvl="0" indent="0" algn="l" defTabSz="889000">
            <a:lnSpc>
              <a:spcPct val="250000"/>
            </a:lnSpc>
            <a:spcBef>
              <a:spcPct val="0"/>
            </a:spcBef>
            <a:spcAft>
              <a:spcPct val="35000"/>
            </a:spcAft>
            <a:buNone/>
          </a:pPr>
          <a:r>
            <a:rPr lang="en-US" sz="2000" kern="1200" dirty="0"/>
            <a:t>Oracle marking</a:t>
          </a:r>
          <a:br>
            <a:rPr lang="en-US" sz="2000" kern="1200" dirty="0"/>
          </a:br>
          <a:r>
            <a:rPr lang="en-US" sz="2000" kern="1200" dirty="0"/>
            <a:t>diffusion operating</a:t>
          </a:r>
          <a:br>
            <a:rPr lang="en-US" sz="2000" kern="1200" dirty="0"/>
          </a:br>
          <a:r>
            <a:rPr lang="en-US" sz="2000" kern="1200" dirty="0"/>
            <a:t>fixed iteration </a:t>
          </a:r>
        </a:p>
      </dsp:txBody>
      <dsp:txXfrm>
        <a:off x="4394510" y="697575"/>
        <a:ext cx="2942110" cy="2801096"/>
      </dsp:txXfrm>
    </dsp:sp>
    <dsp:sp modelId="{690D16C0-1B5F-49B0-ADA0-1E0CF95E58A2}">
      <dsp:nvSpPr>
        <dsp:cNvPr id="0" name=""/>
        <dsp:cNvSpPr/>
      </dsp:nvSpPr>
      <dsp:spPr>
        <a:xfrm flipH="1" flipV="1">
          <a:off x="0" y="0"/>
          <a:ext cx="240014" cy="207318"/>
        </a:xfrm>
        <a:prstGeom prst="plus">
          <a:avLst>
            <a:gd name="adj" fmla="val 32810"/>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B2B68FC-6746-4BE2-AEE9-F5D661586EB1}">
      <dsp:nvSpPr>
        <dsp:cNvPr id="0" name=""/>
        <dsp:cNvSpPr/>
      </dsp:nvSpPr>
      <dsp:spPr>
        <a:xfrm flipV="1">
          <a:off x="8291146" y="0"/>
          <a:ext cx="249677" cy="102149"/>
        </a:xfrm>
        <a:prstGeom prst="rect">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1A35255-E04B-46D9-B852-13C76ABE1712}">
      <dsp:nvSpPr>
        <dsp:cNvPr id="0" name=""/>
        <dsp:cNvSpPr/>
      </dsp:nvSpPr>
      <dsp:spPr>
        <a:xfrm>
          <a:off x="4129862" y="18335"/>
          <a:ext cx="14564" cy="3993017"/>
        </a:xfrm>
        <a:prstGeom prst="line">
          <a:avLst/>
        </a:prstGeom>
        <a:noFill/>
        <a:ln w="15875"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9/3/layout/PlusandMinus">
  <dgm:title val=""/>
  <dgm:desc val=""/>
  <dgm:catLst>
    <dgm:cat type="relationship" pri="3600"/>
  </dgm:catLst>
  <dgm:samp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clrData>
  <dgm:layoutNode name="Name0">
    <dgm:varLst>
      <dgm:chMax val="2"/>
      <dgm:chPref val="2"/>
      <dgm:dir/>
      <dgm:animOne/>
      <dgm:resizeHandles val="exact"/>
    </dgm:varLst>
    <dgm:alg type="composite">
      <dgm:param type="ar" val="1.8238"/>
    </dgm:alg>
    <dgm:shape xmlns:r="http://schemas.openxmlformats.org/officeDocument/2006/relationships" r:blip="">
      <dgm:adjLst/>
    </dgm:shape>
    <dgm:choose name="Name1">
      <dgm:if name="Name2" func="var" arg="dir" op="equ" val="norm">
        <dgm:constrLst>
          <dgm:constr type="primFontSz" for="des" ptType="node" op="equ" val="65"/>
          <dgm:constr type="l" for="ch" forName="Background" refType="w" fact="0.09"/>
          <dgm:constr type="t" for="ch" forName="Background" refType="h" fact="0.1641"/>
          <dgm:constr type="w" for="ch" forName="Background" refType="w" fact="0.87"/>
          <dgm:constr type="h" for="ch" forName="Background" refType="h" fact="0.82"/>
          <dgm:constr type="l" for="ch" forName="ParentText1" refType="w" fact="0.116"/>
          <dgm:constr type="t" for="ch" forName="ParentText1" refType="h" fact="0.26"/>
          <dgm:constr type="w" for="ch" forName="ParentText1" refType="w" fact="0.404"/>
          <dgm:constr type="h" for="ch" forName="ParentText1" refType="h" fact="0.7015"/>
          <dgm:constr type="l" for="ch" forName="ParentText2" refType="w" fact="0.529"/>
          <dgm:constr type="t" for="ch" forName="ParentText2" refType="h" fact="0.26"/>
          <dgm:constr type="w" for="ch" forName="ParentText2" refType="w" fact="0.404"/>
          <dgm:constr type="h" for="ch" forName="ParentText2" refType="h" fact="0.7015"/>
          <dgm:constr type="l" for="ch" forName="Plus" refType="w" fact="0"/>
          <dgm:constr type="t" for="ch" forName="Plus" refType="h" fact="0"/>
          <dgm:constr type="w" for="ch" forName="Plus" refType="w" fact="0.17"/>
          <dgm:constr type="h" for="ch" forName="Plus" refType="w" refFor="ch" refForName="Plus"/>
          <dgm:constr type="l" for="ch" forName="Minus" refType="w" fact="0.84"/>
          <dgm:constr type="t" for="ch" forName="Minus" refType="h" fact="0.1115"/>
          <dgm:constr type="w" for="ch" forName="Minus" refType="w" fact="0.16"/>
          <dgm:constr type="h" for="ch" forName="Minus" refType="h" fact="0.1"/>
          <dgm:constr type="l" for="ch" forName="Divider" refType="w" fact="0.525"/>
          <dgm:constr type="t" for="ch" forName="Divider" refType="h" fact="0.2615"/>
          <dgm:constr type="w" for="ch" forName="Divider" refType="w" fact="0.0001"/>
          <dgm:constr type="h" for="ch" forName="Divider" refType="h" fact="0.67"/>
        </dgm:constrLst>
      </dgm:if>
      <dgm:else name="Name3">
        <dgm:constrLst>
          <dgm:constr type="primFontSz" for="des" ptType="node" op="equ" val="65"/>
          <dgm:constr type="r" for="ch" forName="Background" refType="w" fact="-0.09"/>
          <dgm:constr type="t" for="ch" forName="Background" refType="h" fact="0.1641"/>
          <dgm:constr type="w" for="ch" forName="Background" refType="w" fact="0.87"/>
          <dgm:constr type="h" for="ch" forName="Background" refType="h" fact="0.82"/>
          <dgm:constr type="r" for="ch" forName="ParentText1" refType="w" fact="-0.116"/>
          <dgm:constr type="t" for="ch" forName="ParentText1" refType="h" fact="0.26"/>
          <dgm:constr type="w" for="ch" forName="ParentText1" refType="w" fact="0.404"/>
          <dgm:constr type="h" for="ch" forName="ParentText1" refType="h" fact="0.7015"/>
          <dgm:constr type="r" for="ch" forName="ParentText2" refType="w" fact="-0.529"/>
          <dgm:constr type="t" for="ch" forName="ParentText2" refType="h" fact="0.26"/>
          <dgm:constr type="w" for="ch" forName="ParentText2" refType="w" fact="0.404"/>
          <dgm:constr type="h" for="ch" forName="ParentText2" refType="h" fact="0.7015"/>
          <dgm:constr type="r" for="ch" forName="Plus" refType="w" fact="0"/>
          <dgm:constr type="t" for="ch" forName="Plus" refType="h" fact="0"/>
          <dgm:constr type="w" for="ch" forName="Plus" refType="w" fact="0.17"/>
          <dgm:constr type="h" for="ch" forName="Plus" refType="w" refFor="ch" refForName="Plus"/>
          <dgm:constr type="r" for="ch" forName="Minus" refType="w" fact="-0.84"/>
          <dgm:constr type="t" for="ch" forName="Minus" refType="h" fact="0.1115"/>
          <dgm:constr type="w" for="ch" forName="Minus" refType="w" fact="0.16"/>
          <dgm:constr type="h" for="ch" forName="Minus" refType="h" fact="0.1"/>
          <dgm:constr type="r" for="ch" forName="Divider" refType="w" fact="-0.525"/>
          <dgm:constr type="t" for="ch" forName="Divider" refType="h" fact="0.2615"/>
          <dgm:constr type="w" for="ch" forName="Divider" refType="w" fact="0.0001"/>
          <dgm:constr type="h" for="ch" forName="Divider" refType="h" fact="0.67"/>
        </dgm:constrLst>
      </dgm:else>
    </dgm:choose>
    <dgm:layoutNode name="Background" styleLbl="bgImgPlace1">
      <dgm:alg type="sp"/>
      <dgm:shape xmlns:r="http://schemas.openxmlformats.org/officeDocument/2006/relationships" type="rect" r:blip="">
        <dgm:adjLst/>
      </dgm:shape>
      <dgm:presOf/>
    </dgm:layoutNode>
    <dgm:layoutNode name="ParentText1" styleLbl="revTx">
      <dgm:varLst>
        <dgm:chMax val="0"/>
        <dgm:chPref val="0"/>
        <dgm:bulletEnabled val="1"/>
      </dgm:varLst>
      <dgm:alg type="tx">
        <dgm:param type="parTxLTRAlign" val="l"/>
        <dgm:param type="txAnchorVert" val="t"/>
      </dgm:alg>
      <dgm:shape xmlns:r="http://schemas.openxmlformats.org/officeDocument/2006/relationships" type="rect" r:blip="">
        <dgm:adjLst/>
      </dgm:shape>
      <dgm:presOf axis="ch desOrSelf" ptType="node node" st="1 1" cnt="1 0"/>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ParentText2" styleLbl="revTx">
      <dgm:varLst>
        <dgm:chMax val="0"/>
        <dgm:chPref val="0"/>
        <dgm:bulletEnabled val="1"/>
      </dgm:varLst>
      <dgm:alg type="tx">
        <dgm:param type="parTxLTRAlign" val="l"/>
        <dgm:param type="txAnchorVert" val="t"/>
      </dgm:alg>
      <dgm:shape xmlns:r="http://schemas.openxmlformats.org/officeDocument/2006/relationships" type="rect" r:blip="">
        <dgm:adjLst/>
      </dgm:shape>
      <dgm:presOf axis="ch desOrSelf" ptType="node node" st="2 1" cnt="1 0"/>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Plus" styleLbl="alignNode1">
      <dgm:alg type="sp"/>
      <dgm:shape xmlns:r="http://schemas.openxmlformats.org/officeDocument/2006/relationships" type="plus" r:blip="">
        <dgm:adjLst>
          <dgm:adj idx="1" val="0.3281"/>
        </dgm:adjLst>
      </dgm:shape>
      <dgm:presOf/>
    </dgm:layoutNode>
    <dgm:layoutNode name="Minus" styleLbl="alignNode1">
      <dgm:alg type="sp"/>
      <dgm:shape xmlns:r="http://schemas.openxmlformats.org/officeDocument/2006/relationships" type="rect" r:blip="">
        <dgm:adjLst/>
      </dgm:shape>
      <dgm:presOf/>
    </dgm:layoutNode>
    <dgm:layoutNode name="Divider" styleLbl="parChTrans1D1">
      <dgm:alg type="sp"/>
      <dgm:shape xmlns:r="http://schemas.openxmlformats.org/officeDocument/2006/relationships" type="line" r:blip="">
        <dgm:adjLst/>
      </dgm:shape>
      <dgm:presOf/>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522A08F-BC3F-4656-BDE9-6AD99B5C03D6}" type="datetimeFigureOut">
              <a:rPr lang="en-US" smtClean="0"/>
              <a:t>2/28/2026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E6990BF-02BE-47C5-A0B6-FBCBBED2B3C9}" type="slidenum">
              <a:rPr lang="en-US" smtClean="0"/>
              <a:t>‹#›</a:t>
            </a:fld>
            <a:endParaRPr lang="en-US"/>
          </a:p>
        </p:txBody>
      </p:sp>
    </p:spTree>
    <p:extLst>
      <p:ext uri="{BB962C8B-B14F-4D97-AF65-F5344CB8AC3E}">
        <p14:creationId xmlns:p14="http://schemas.microsoft.com/office/powerpoint/2010/main" val="14821634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E6990BF-02BE-47C5-A0B6-FBCBBED2B3C9}" type="slidenum">
              <a:rPr lang="en-US" smtClean="0"/>
              <a:t>1</a:t>
            </a:fld>
            <a:endParaRPr lang="en-US"/>
          </a:p>
        </p:txBody>
      </p:sp>
    </p:spTree>
    <p:extLst>
      <p:ext uri="{BB962C8B-B14F-4D97-AF65-F5344CB8AC3E}">
        <p14:creationId xmlns:p14="http://schemas.microsoft.com/office/powerpoint/2010/main" val="1666781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8A4AC62-EEAE-4561-9ACF-3AF7EA06F6DC}" type="datetimeFigureOut">
              <a:rPr lang="en-US" smtClean="0"/>
              <a:t>2/28/2026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7EC2C8-DC01-4A1A-A98C-8C3739FE3672}"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042302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4AC62-EEAE-4561-9ACF-3AF7EA06F6DC}" type="datetimeFigureOut">
              <a:rPr lang="en-US" smtClean="0"/>
              <a:t>2/28/2026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7EC2C8-DC01-4A1A-A98C-8C3739FE3672}" type="slidenum">
              <a:rPr lang="en-US" smtClean="0"/>
              <a:t>‹#›</a:t>
            </a:fld>
            <a:endParaRPr lang="en-US"/>
          </a:p>
        </p:txBody>
      </p:sp>
    </p:spTree>
    <p:extLst>
      <p:ext uri="{BB962C8B-B14F-4D97-AF65-F5344CB8AC3E}">
        <p14:creationId xmlns:p14="http://schemas.microsoft.com/office/powerpoint/2010/main" val="41785639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4AC62-EEAE-4561-9ACF-3AF7EA06F6DC}" type="datetimeFigureOut">
              <a:rPr lang="en-US" smtClean="0"/>
              <a:t>2/28/2026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7EC2C8-DC01-4A1A-A98C-8C3739FE3672}"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137734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4AC62-EEAE-4561-9ACF-3AF7EA06F6DC}" type="datetimeFigureOut">
              <a:rPr lang="en-US" smtClean="0"/>
              <a:t>2/28/2026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47EC2C8-DC01-4A1A-A98C-8C3739FE3672}" type="slidenum">
              <a:rPr lang="en-US" smtClean="0"/>
              <a:t>‹#›</a:t>
            </a:fld>
            <a:endParaRPr lang="en-US"/>
          </a:p>
        </p:txBody>
      </p:sp>
    </p:spTree>
    <p:extLst>
      <p:ext uri="{BB962C8B-B14F-4D97-AF65-F5344CB8AC3E}">
        <p14:creationId xmlns:p14="http://schemas.microsoft.com/office/powerpoint/2010/main" val="11043257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4AC62-EEAE-4561-9ACF-3AF7EA06F6DC}" type="datetimeFigureOut">
              <a:rPr lang="en-US" smtClean="0"/>
              <a:t>2/28/2026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47EC2C8-DC01-4A1A-A98C-8C3739FE3672}" type="slidenum">
              <a:rPr lang="en-US" smtClean="0"/>
              <a:t>‹#›</a:t>
            </a:fld>
            <a:endParaRPr lang="en-US"/>
          </a:p>
        </p:txBody>
      </p:sp>
    </p:spTree>
    <p:extLst>
      <p:ext uri="{BB962C8B-B14F-4D97-AF65-F5344CB8AC3E}">
        <p14:creationId xmlns:p14="http://schemas.microsoft.com/office/powerpoint/2010/main" val="10190764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4AC62-EEAE-4561-9ACF-3AF7EA06F6DC}" type="datetimeFigureOut">
              <a:rPr lang="en-US" smtClean="0"/>
              <a:t>2/28/2026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47EC2C8-DC01-4A1A-A98C-8C3739FE3672}" type="slidenum">
              <a:rPr lang="en-US" smtClean="0"/>
              <a:t>‹#›</a:t>
            </a:fld>
            <a:endParaRPr lang="en-US"/>
          </a:p>
        </p:txBody>
      </p:sp>
    </p:spTree>
    <p:extLst>
      <p:ext uri="{BB962C8B-B14F-4D97-AF65-F5344CB8AC3E}">
        <p14:creationId xmlns:p14="http://schemas.microsoft.com/office/powerpoint/2010/main" val="12237334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48A4AC62-EEAE-4561-9ACF-3AF7EA06F6DC}" type="datetimeFigureOut">
              <a:rPr lang="en-US" smtClean="0"/>
              <a:t>2/28/2026</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247EC2C8-DC01-4A1A-A98C-8C3739FE3672}" type="slidenum">
              <a:rPr lang="en-US" smtClean="0"/>
              <a:t>‹#›</a:t>
            </a:fld>
            <a:endParaRPr lang="en-US"/>
          </a:p>
        </p:txBody>
      </p:sp>
    </p:spTree>
    <p:extLst>
      <p:ext uri="{BB962C8B-B14F-4D97-AF65-F5344CB8AC3E}">
        <p14:creationId xmlns:p14="http://schemas.microsoft.com/office/powerpoint/2010/main" val="2487279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48A4AC62-EEAE-4561-9ACF-3AF7EA06F6DC}" type="datetimeFigureOut">
              <a:rPr lang="en-US" smtClean="0"/>
              <a:t>2/28/2026</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247EC2C8-DC01-4A1A-A98C-8C3739FE3672}" type="slidenum">
              <a:rPr lang="en-US" smtClean="0"/>
              <a:t>‹#›</a:t>
            </a:fld>
            <a:endParaRPr lang="en-US"/>
          </a:p>
        </p:txBody>
      </p:sp>
    </p:spTree>
    <p:extLst>
      <p:ext uri="{BB962C8B-B14F-4D97-AF65-F5344CB8AC3E}">
        <p14:creationId xmlns:p14="http://schemas.microsoft.com/office/powerpoint/2010/main" val="22765714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8A4AC62-EEAE-4561-9ACF-3AF7EA06F6DC}" type="datetimeFigureOut">
              <a:rPr lang="en-US" smtClean="0"/>
              <a:t>2/28/2026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47EC2C8-DC01-4A1A-A98C-8C3739FE3672}" type="slidenum">
              <a:rPr lang="en-US" smtClean="0"/>
              <a:t>‹#›</a:t>
            </a:fld>
            <a:endParaRPr lang="en-US"/>
          </a:p>
        </p:txBody>
      </p:sp>
    </p:spTree>
    <p:extLst>
      <p:ext uri="{BB962C8B-B14F-4D97-AF65-F5344CB8AC3E}">
        <p14:creationId xmlns:p14="http://schemas.microsoft.com/office/powerpoint/2010/main" val="18252332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4AC62-EEAE-4561-9ACF-3AF7EA06F6DC}" type="datetimeFigureOut">
              <a:rPr lang="en-US" smtClean="0"/>
              <a:t>2/28/2026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7EC2C8-DC01-4A1A-A98C-8C3739FE3672}" type="slidenum">
              <a:rPr lang="en-US" smtClean="0"/>
              <a:t>‹#›</a:t>
            </a:fld>
            <a:endParaRPr lang="en-US"/>
          </a:p>
        </p:txBody>
      </p:sp>
    </p:spTree>
    <p:extLst>
      <p:ext uri="{BB962C8B-B14F-4D97-AF65-F5344CB8AC3E}">
        <p14:creationId xmlns:p14="http://schemas.microsoft.com/office/powerpoint/2010/main" val="21438883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4AC62-EEAE-4561-9ACF-3AF7EA06F6DC}" type="datetimeFigureOut">
              <a:rPr lang="en-US" smtClean="0"/>
              <a:t>2/28/2026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7EC2C8-DC01-4A1A-A98C-8C3739FE3672}" type="slidenum">
              <a:rPr lang="en-US" smtClean="0"/>
              <a:t>‹#›</a:t>
            </a:fld>
            <a:endParaRPr lang="en-US"/>
          </a:p>
        </p:txBody>
      </p:sp>
    </p:spTree>
    <p:extLst>
      <p:ext uri="{BB962C8B-B14F-4D97-AF65-F5344CB8AC3E}">
        <p14:creationId xmlns:p14="http://schemas.microsoft.com/office/powerpoint/2010/main" val="26533768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48A4AC62-EEAE-4561-9ACF-3AF7EA06F6DC}" type="datetimeFigureOut">
              <a:rPr lang="en-US" smtClean="0"/>
              <a:t>2/28/2026</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247EC2C8-DC01-4A1A-A98C-8C3739FE3672}"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02408119"/>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6.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6.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3.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jpg"/><Relationship Id="rId1" Type="http://schemas.openxmlformats.org/officeDocument/2006/relationships/slideLayout" Target="../slideLayouts/slideLayout6.xml"/><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7.jpg"/><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9.jp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image" Target="../media/image11.jp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863760-AE40-5403-1B55-2DF0A99F53E4}"/>
              </a:ext>
            </a:extLst>
          </p:cNvPr>
          <p:cNvSpPr>
            <a:spLocks noGrp="1"/>
          </p:cNvSpPr>
          <p:nvPr>
            <p:ph type="ctrTitle"/>
          </p:nvPr>
        </p:nvSpPr>
        <p:spPr>
          <a:xfrm>
            <a:off x="870348" y="1405130"/>
            <a:ext cx="11081374" cy="1510644"/>
          </a:xfrm>
        </p:spPr>
        <p:txBody>
          <a:bodyPr>
            <a:noAutofit/>
          </a:bodyPr>
          <a:lstStyle/>
          <a:p>
            <a:r>
              <a:rPr lang="en-US" sz="3200" b="1" dirty="0">
                <a:latin typeface="Times New Roman" panose="02020603050405020304" pitchFamily="18" charset="0"/>
                <a:cs typeface="Times New Roman" panose="02020603050405020304" pitchFamily="18" charset="0"/>
              </a:rPr>
              <a:t>Hybrid-Enhanced Quantum Evolution Search (H-HQES)</a:t>
            </a:r>
          </a:p>
        </p:txBody>
      </p:sp>
      <p:sp>
        <p:nvSpPr>
          <p:cNvPr id="3" name="Subtitle 2">
            <a:extLst>
              <a:ext uri="{FF2B5EF4-FFF2-40B4-BE49-F238E27FC236}">
                <a16:creationId xmlns:a16="http://schemas.microsoft.com/office/drawing/2014/main" id="{187CD7D3-E802-47EE-D379-E2A50D39406B}"/>
              </a:ext>
            </a:extLst>
          </p:cNvPr>
          <p:cNvSpPr>
            <a:spLocks noGrp="1"/>
          </p:cNvSpPr>
          <p:nvPr>
            <p:ph type="subTitle" idx="1"/>
          </p:nvPr>
        </p:nvSpPr>
        <p:spPr>
          <a:xfrm>
            <a:off x="3181546" y="3198542"/>
            <a:ext cx="5828907" cy="460915"/>
          </a:xfrm>
        </p:spPr>
        <p:txBody>
          <a:bodyPr>
            <a:normAutofit/>
          </a:bodyPr>
          <a:lstStyle/>
          <a:p>
            <a:r>
              <a:rPr lang="en-US" sz="2000" dirty="0">
                <a:latin typeface="Times New Roman" panose="02020603050405020304" pitchFamily="18" charset="0"/>
                <a:cs typeface="Times New Roman" panose="02020603050405020304" pitchFamily="18" charset="0"/>
              </a:rPr>
              <a:t>(Batch No: CBIT/IT/2025-26/IT1/108)</a:t>
            </a:r>
          </a:p>
        </p:txBody>
      </p:sp>
      <p:pic>
        <p:nvPicPr>
          <p:cNvPr id="5" name="Picture 4">
            <a:extLst>
              <a:ext uri="{FF2B5EF4-FFF2-40B4-BE49-F238E27FC236}">
                <a16:creationId xmlns:a16="http://schemas.microsoft.com/office/drawing/2014/main" id="{828A873D-24E8-8FF0-51C5-113F91215D8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92883" y="657524"/>
            <a:ext cx="6106020" cy="1709959"/>
          </a:xfrm>
          <a:prstGeom prst="rect">
            <a:avLst/>
          </a:prstGeom>
        </p:spPr>
      </p:pic>
      <p:sp>
        <p:nvSpPr>
          <p:cNvPr id="6" name="TextBox 5">
            <a:extLst>
              <a:ext uri="{FF2B5EF4-FFF2-40B4-BE49-F238E27FC236}">
                <a16:creationId xmlns:a16="http://schemas.microsoft.com/office/drawing/2014/main" id="{9C394A8A-5EE1-516C-8D36-9A4F16BB2C41}"/>
              </a:ext>
            </a:extLst>
          </p:cNvPr>
          <p:cNvSpPr txBox="1"/>
          <p:nvPr/>
        </p:nvSpPr>
        <p:spPr>
          <a:xfrm>
            <a:off x="1319753" y="4443663"/>
            <a:ext cx="3436454" cy="984885"/>
          </a:xfrm>
          <a:prstGeom prst="rect">
            <a:avLst/>
          </a:prstGeom>
          <a:noFill/>
        </p:spPr>
        <p:txBody>
          <a:bodyPr wrap="none" rtlCol="0">
            <a:spAutoFit/>
          </a:bodyPr>
          <a:lstStyle/>
          <a:p>
            <a:r>
              <a:rPr lang="en-US" sz="2000" b="1" dirty="0">
                <a:solidFill>
                  <a:srgbClr val="C00000"/>
                </a:solidFill>
                <a:latin typeface="Times New Roman" panose="02020603050405020304" pitchFamily="18" charset="0"/>
                <a:cs typeface="Times New Roman" panose="02020603050405020304" pitchFamily="18" charset="0"/>
              </a:rPr>
              <a:t>Under the Guidance of: </a:t>
            </a:r>
          </a:p>
          <a:p>
            <a:r>
              <a:rPr lang="en-US" sz="2000" b="1" dirty="0">
                <a:solidFill>
                  <a:srgbClr val="0070C0"/>
                </a:solidFill>
                <a:latin typeface="Times New Roman" panose="02020603050405020304" pitchFamily="18" charset="0"/>
                <a:cs typeface="Times New Roman" panose="02020603050405020304" pitchFamily="18" charset="0"/>
              </a:rPr>
              <a:t>Dr. T. Satyanarayana Murthy</a:t>
            </a:r>
          </a:p>
          <a:p>
            <a:r>
              <a:rPr lang="en-US" dirty="0">
                <a:latin typeface="Times New Roman" panose="02020603050405020304" pitchFamily="18" charset="0"/>
                <a:cs typeface="Times New Roman" panose="02020603050405020304" pitchFamily="18" charset="0"/>
              </a:rPr>
              <a:t>Associate Professor, IT, CBIT</a:t>
            </a:r>
          </a:p>
        </p:txBody>
      </p:sp>
      <p:sp>
        <p:nvSpPr>
          <p:cNvPr id="7" name="TextBox 6">
            <a:extLst>
              <a:ext uri="{FF2B5EF4-FFF2-40B4-BE49-F238E27FC236}">
                <a16:creationId xmlns:a16="http://schemas.microsoft.com/office/drawing/2014/main" id="{66AF21B5-87E8-F76F-EB4E-04E9190B7833}"/>
              </a:ext>
            </a:extLst>
          </p:cNvPr>
          <p:cNvSpPr txBox="1"/>
          <p:nvPr/>
        </p:nvSpPr>
        <p:spPr>
          <a:xfrm>
            <a:off x="5973118" y="6488668"/>
            <a:ext cx="6218882" cy="369332"/>
          </a:xfrm>
          <a:prstGeom prst="rect">
            <a:avLst/>
          </a:prstGeom>
          <a:noFill/>
        </p:spPr>
        <p:txBody>
          <a:bodyPr wrap="none" rtlCol="0">
            <a:spAutoFit/>
          </a:bodyPr>
          <a:lstStyle/>
          <a:p>
            <a:r>
              <a:rPr lang="en-US" i="1" dirty="0"/>
              <a:t>Review-1: Project Part-2, Department of Information Technology</a:t>
            </a:r>
          </a:p>
        </p:txBody>
      </p:sp>
      <p:sp>
        <p:nvSpPr>
          <p:cNvPr id="9" name="TextBox 8">
            <a:extLst>
              <a:ext uri="{FF2B5EF4-FFF2-40B4-BE49-F238E27FC236}">
                <a16:creationId xmlns:a16="http://schemas.microsoft.com/office/drawing/2014/main" id="{610F487C-B59B-8067-6F33-D8B300CF1B28}"/>
              </a:ext>
            </a:extLst>
          </p:cNvPr>
          <p:cNvSpPr txBox="1"/>
          <p:nvPr/>
        </p:nvSpPr>
        <p:spPr>
          <a:xfrm>
            <a:off x="7260830" y="4443663"/>
            <a:ext cx="6094428" cy="1200329"/>
          </a:xfrm>
          <a:prstGeom prst="rect">
            <a:avLst/>
          </a:prstGeom>
          <a:noFill/>
        </p:spPr>
        <p:txBody>
          <a:bodyPr wrap="square">
            <a:spAutoFit/>
          </a:bodyPr>
          <a:lstStyle/>
          <a:p>
            <a:r>
              <a:rPr lang="en-US" sz="1800" b="1" dirty="0">
                <a:solidFill>
                  <a:srgbClr val="0070C0"/>
                </a:solidFill>
                <a:latin typeface="Times New Roman" panose="02020603050405020304" pitchFamily="18" charset="0"/>
                <a:cs typeface="Times New Roman" panose="02020603050405020304" pitchFamily="18" charset="0"/>
              </a:rPr>
              <a:t>Presented By</a:t>
            </a:r>
          </a:p>
          <a:p>
            <a:r>
              <a:rPr lang="en-US" dirty="0">
                <a:latin typeface="Times New Roman" panose="02020603050405020304" pitchFamily="18" charset="0"/>
                <a:cs typeface="Times New Roman" panose="02020603050405020304" pitchFamily="18" charset="0"/>
              </a:rPr>
              <a:t>G.Vyshnavi, 160122737005</a:t>
            </a:r>
          </a:p>
          <a:p>
            <a:r>
              <a:rPr lang="en-US" dirty="0">
                <a:latin typeface="Times New Roman" panose="02020603050405020304" pitchFamily="18" charset="0"/>
                <a:cs typeface="Times New Roman" panose="02020603050405020304" pitchFamily="18" charset="0"/>
              </a:rPr>
              <a:t>J. Sai Teja, 160122737044</a:t>
            </a:r>
          </a:p>
          <a:p>
            <a:r>
              <a:rPr lang="en-US" dirty="0">
                <a:latin typeface="Times New Roman" panose="02020603050405020304" pitchFamily="18" charset="0"/>
                <a:cs typeface="Times New Roman" panose="02020603050405020304" pitchFamily="18" charset="0"/>
              </a:rPr>
              <a:t>N. Shresta, 160122737307</a:t>
            </a:r>
          </a:p>
        </p:txBody>
      </p:sp>
    </p:spTree>
    <p:extLst>
      <p:ext uri="{BB962C8B-B14F-4D97-AF65-F5344CB8AC3E}">
        <p14:creationId xmlns:p14="http://schemas.microsoft.com/office/powerpoint/2010/main" val="36873884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10B596-5A2E-79A3-0ECE-9315E7ED7613}"/>
              </a:ext>
            </a:extLst>
          </p:cNvPr>
          <p:cNvSpPr>
            <a:spLocks noGrp="1"/>
          </p:cNvSpPr>
          <p:nvPr>
            <p:ph type="title"/>
          </p:nvPr>
        </p:nvSpPr>
        <p:spPr>
          <a:xfrm>
            <a:off x="4227293" y="355145"/>
            <a:ext cx="3290740" cy="1325563"/>
          </a:xfrm>
        </p:spPr>
        <p:txBody>
          <a:bodyPr>
            <a:normAutofit/>
          </a:bodyPr>
          <a:lstStyle/>
          <a:p>
            <a:r>
              <a:rPr lang="en-US" sz="4000" b="1" dirty="0">
                <a:solidFill>
                  <a:srgbClr val="C00000"/>
                </a:solidFill>
                <a:latin typeface="Times New Roman" panose="02020603050405020304" pitchFamily="18" charset="0"/>
                <a:cs typeface="Times New Roman" panose="02020603050405020304" pitchFamily="18" charset="0"/>
              </a:rPr>
              <a:t>AGENDA</a:t>
            </a:r>
          </a:p>
        </p:txBody>
      </p:sp>
      <p:sp>
        <p:nvSpPr>
          <p:cNvPr id="6" name="TextBox 5">
            <a:extLst>
              <a:ext uri="{FF2B5EF4-FFF2-40B4-BE49-F238E27FC236}">
                <a16:creationId xmlns:a16="http://schemas.microsoft.com/office/drawing/2014/main" id="{49607DDF-0A29-2154-C982-57349D7D01F4}"/>
              </a:ext>
            </a:extLst>
          </p:cNvPr>
          <p:cNvSpPr txBox="1"/>
          <p:nvPr/>
        </p:nvSpPr>
        <p:spPr>
          <a:xfrm>
            <a:off x="377072" y="6413253"/>
            <a:ext cx="3850221" cy="369332"/>
          </a:xfrm>
          <a:prstGeom prst="rect">
            <a:avLst/>
          </a:prstGeom>
          <a:noFill/>
        </p:spPr>
        <p:txBody>
          <a:bodyPr wrap="none" rtlCol="0">
            <a:spAutoFit/>
          </a:bodyPr>
          <a:lstStyle/>
          <a:p>
            <a:r>
              <a:rPr lang="en-US" i="1" dirty="0"/>
              <a:t>Department of Information Technology</a:t>
            </a:r>
          </a:p>
        </p:txBody>
      </p:sp>
      <p:graphicFrame>
        <p:nvGraphicFramePr>
          <p:cNvPr id="7" name="Diagram 6">
            <a:extLst>
              <a:ext uri="{FF2B5EF4-FFF2-40B4-BE49-F238E27FC236}">
                <a16:creationId xmlns:a16="http://schemas.microsoft.com/office/drawing/2014/main" id="{23558245-D3D0-BB02-669E-B699AA6858D3}"/>
              </a:ext>
            </a:extLst>
          </p:cNvPr>
          <p:cNvGraphicFramePr/>
          <p:nvPr>
            <p:extLst>
              <p:ext uri="{D42A27DB-BD31-4B8C-83A1-F6EECF244321}">
                <p14:modId xmlns:p14="http://schemas.microsoft.com/office/powerpoint/2010/main" val="1575540796"/>
              </p:ext>
            </p:extLst>
          </p:nvPr>
        </p:nvGraphicFramePr>
        <p:xfrm>
          <a:off x="2603186" y="1735900"/>
          <a:ext cx="7351520" cy="462216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731373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4A5953-7797-961F-C4E0-417AAECA9D58}"/>
              </a:ext>
            </a:extLst>
          </p:cNvPr>
          <p:cNvSpPr>
            <a:spLocks noGrp="1"/>
          </p:cNvSpPr>
          <p:nvPr>
            <p:ph type="title"/>
          </p:nvPr>
        </p:nvSpPr>
        <p:spPr/>
        <p:txBody>
          <a:bodyPr>
            <a:normAutofit/>
          </a:bodyPr>
          <a:lstStyle/>
          <a:p>
            <a:r>
              <a:rPr lang="en-US" sz="4000" b="1" dirty="0">
                <a:solidFill>
                  <a:srgbClr val="C00000"/>
                </a:solidFill>
                <a:latin typeface="Times New Roman" panose="02020603050405020304" pitchFamily="18" charset="0"/>
                <a:cs typeface="Times New Roman" panose="02020603050405020304" pitchFamily="18" charset="0"/>
              </a:rPr>
              <a:t>PROBLEM  STATEMENT</a:t>
            </a:r>
          </a:p>
        </p:txBody>
      </p:sp>
      <p:sp>
        <p:nvSpPr>
          <p:cNvPr id="3" name="TextBox 2">
            <a:extLst>
              <a:ext uri="{FF2B5EF4-FFF2-40B4-BE49-F238E27FC236}">
                <a16:creationId xmlns:a16="http://schemas.microsoft.com/office/drawing/2014/main" id="{0E3DF091-C116-0681-92C1-015B2BE8880D}"/>
              </a:ext>
            </a:extLst>
          </p:cNvPr>
          <p:cNvSpPr txBox="1"/>
          <p:nvPr/>
        </p:nvSpPr>
        <p:spPr>
          <a:xfrm>
            <a:off x="1097280" y="2215299"/>
            <a:ext cx="9779367" cy="3139321"/>
          </a:xfrm>
          <a:prstGeom prst="rect">
            <a:avLst/>
          </a:prstGeom>
          <a:noFill/>
        </p:spPr>
        <p:txBody>
          <a:bodyPr wrap="square" rtlCol="0">
            <a:spAutoFit/>
          </a:bodyPr>
          <a:lstStyle/>
          <a:p>
            <a:pPr algn="just"/>
            <a:r>
              <a:rPr lang="en-US" dirty="0">
                <a:latin typeface="Times New Roman" panose="02020603050405020304" pitchFamily="18" charset="0"/>
                <a:cs typeface="Times New Roman" panose="02020603050405020304" pitchFamily="18" charset="0"/>
              </a:rPr>
              <a:t>The Traveling Salesman Problem (TSP) is a difficult optimization problem where finding the shortest route becomes harder as the number of cities increases. Earlier quantum methods based on Grover’s search used amplitude amplification and complex circuits, which are not practical for current noisy quantum devices.</a:t>
            </a:r>
          </a:p>
          <a:p>
            <a:pPr algn="just"/>
            <a:r>
              <a:rPr lang="en-US" dirty="0">
                <a:latin typeface="Times New Roman" panose="02020603050405020304" pitchFamily="18" charset="0"/>
                <a:cs typeface="Times New Roman" panose="02020603050405020304" pitchFamily="18" charset="0"/>
              </a:rPr>
              <a:t>To improve this, the project upgrades the approach from Grover’s algorithm to the </a:t>
            </a:r>
            <a:r>
              <a:rPr lang="en-US" b="1" dirty="0">
                <a:latin typeface="Times New Roman" panose="02020603050405020304" pitchFamily="18" charset="0"/>
                <a:cs typeface="Times New Roman" panose="02020603050405020304" pitchFamily="18" charset="0"/>
              </a:rPr>
              <a:t>Quantum Approximate Optimization Algorithm (QAOA)</a:t>
            </a:r>
            <a:r>
              <a:rPr lang="en-US" dirty="0">
                <a:latin typeface="Times New Roman" panose="02020603050405020304" pitchFamily="18" charset="0"/>
                <a:cs typeface="Times New Roman" panose="02020603050405020304" pitchFamily="18" charset="0"/>
              </a:rPr>
              <a:t>. QAOA is a hybrid quantum–classical method that treats TSP as a cost minimization problem and gradually moves toward the best route using adjustable parameters.</a:t>
            </a:r>
          </a:p>
          <a:p>
            <a:pPr algn="just"/>
            <a:r>
              <a:rPr lang="en-US" dirty="0">
                <a:latin typeface="Times New Roman" panose="02020603050405020304" pitchFamily="18" charset="0"/>
                <a:cs typeface="Times New Roman" panose="02020603050405020304" pitchFamily="18" charset="0"/>
              </a:rPr>
              <a:t>The goal is to design a QAOA-based solution that is simpler, more scalable, and suitable for present-day quantum systems.</a:t>
            </a:r>
          </a:p>
          <a:p>
            <a:pPr algn="just"/>
            <a:endParaRPr lang="en-US"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A3DED56A-DC04-C403-DCFB-9C480C5C78C4}"/>
              </a:ext>
            </a:extLst>
          </p:cNvPr>
          <p:cNvSpPr txBox="1"/>
          <p:nvPr/>
        </p:nvSpPr>
        <p:spPr>
          <a:xfrm>
            <a:off x="452487" y="6400800"/>
            <a:ext cx="4157220" cy="646331"/>
          </a:xfrm>
          <a:prstGeom prst="rect">
            <a:avLst/>
          </a:prstGeom>
          <a:noFill/>
        </p:spPr>
        <p:txBody>
          <a:bodyPr wrap="square" rtlCol="0">
            <a:spAutoFit/>
          </a:bodyPr>
          <a:lstStyle/>
          <a:p>
            <a:r>
              <a:rPr lang="en-US" i="1" dirty="0"/>
              <a:t>Department of Information Technology</a:t>
            </a:r>
          </a:p>
          <a:p>
            <a:endParaRPr lang="en-US" dirty="0"/>
          </a:p>
        </p:txBody>
      </p:sp>
    </p:spTree>
    <p:extLst>
      <p:ext uri="{BB962C8B-B14F-4D97-AF65-F5344CB8AC3E}">
        <p14:creationId xmlns:p14="http://schemas.microsoft.com/office/powerpoint/2010/main" val="31646519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ABE079-521F-1149-B17D-342AA632E0B2}"/>
              </a:ext>
            </a:extLst>
          </p:cNvPr>
          <p:cNvSpPr>
            <a:spLocks noGrp="1"/>
          </p:cNvSpPr>
          <p:nvPr>
            <p:ph type="title"/>
          </p:nvPr>
        </p:nvSpPr>
        <p:spPr/>
        <p:txBody>
          <a:bodyPr>
            <a:normAutofit/>
          </a:bodyPr>
          <a:lstStyle/>
          <a:p>
            <a:r>
              <a:rPr lang="en-US" sz="4000" b="1" dirty="0">
                <a:solidFill>
                  <a:srgbClr val="C00000"/>
                </a:solidFill>
                <a:latin typeface="Times New Roman" panose="02020603050405020304" pitchFamily="18" charset="0"/>
                <a:cs typeface="Times New Roman" panose="02020603050405020304" pitchFamily="18" charset="0"/>
              </a:rPr>
              <a:t>ABSTRACT</a:t>
            </a:r>
          </a:p>
        </p:txBody>
      </p:sp>
      <p:sp>
        <p:nvSpPr>
          <p:cNvPr id="3" name="TextBox 2">
            <a:extLst>
              <a:ext uri="{FF2B5EF4-FFF2-40B4-BE49-F238E27FC236}">
                <a16:creationId xmlns:a16="http://schemas.microsoft.com/office/drawing/2014/main" id="{AB8C7B9D-86A7-13C3-0C20-DA866AB723F4}"/>
              </a:ext>
            </a:extLst>
          </p:cNvPr>
          <p:cNvSpPr txBox="1"/>
          <p:nvPr/>
        </p:nvSpPr>
        <p:spPr>
          <a:xfrm>
            <a:off x="1097280" y="1991080"/>
            <a:ext cx="9763586" cy="3693319"/>
          </a:xfrm>
          <a:prstGeom prst="rect">
            <a:avLst/>
          </a:prstGeom>
          <a:noFill/>
        </p:spPr>
        <p:txBody>
          <a:bodyPr wrap="square" rtlCol="0">
            <a:spAutoFit/>
          </a:bodyPr>
          <a:lstStyle/>
          <a:p>
            <a:pPr algn="just"/>
            <a:r>
              <a:rPr lang="en-US" dirty="0">
                <a:latin typeface="Times New Roman" panose="02020603050405020304" pitchFamily="18" charset="0"/>
                <a:cs typeface="Times New Roman" panose="02020603050405020304" pitchFamily="18" charset="0"/>
              </a:rPr>
              <a:t>The Traveling Salesman Problem (TSP) is a difficult optimization problem that aims to find the shortest possible route visiting all cities exactly once. In our previous work, we used a Grover-based Two-Step Quantum Search (TSQS) approach, which amplifies optimal solutions using oracle-based marking. Although effective, this method requires extra qubits and deep circuits, making it complex for real quantum hardware.</a:t>
            </a:r>
          </a:p>
          <a:p>
            <a:pPr algn="just"/>
            <a:r>
              <a:rPr lang="en-US" dirty="0">
                <a:latin typeface="Times New Roman" panose="02020603050405020304" pitchFamily="18" charset="0"/>
                <a:cs typeface="Times New Roman" panose="02020603050405020304" pitchFamily="18" charset="0"/>
              </a:rPr>
              <a:t>In this project, we replace Grover’s algorithm with a quantum evolution approach using the Quantum Approximate Optimization Algorithm (QAOA). Instead of marking optimal tours, we encode the tour cost into a Hamiltonian and allow the quantum system to evolve. A classical optimizer adjusts the parameters to increase the probability of low-cost tours.</a:t>
            </a:r>
          </a:p>
          <a:p>
            <a:pPr algn="just"/>
            <a:r>
              <a:rPr lang="en-US" dirty="0">
                <a:latin typeface="Times New Roman" panose="02020603050405020304" pitchFamily="18" charset="0"/>
                <a:cs typeface="Times New Roman" panose="02020603050405020304" pitchFamily="18" charset="0"/>
              </a:rPr>
              <a:t>Results show that the QAOA-based method significantly reduces circuit width and depth while still identifying optimal or near-optimal tours. This makes it more scalable and suitable for current quantum devices.</a:t>
            </a:r>
          </a:p>
          <a:p>
            <a:pPr algn="just"/>
            <a:endParaRPr lang="en-US"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1959650B-106D-EB1E-B8F1-60EF3567F6BE}"/>
              </a:ext>
            </a:extLst>
          </p:cNvPr>
          <p:cNvSpPr txBox="1"/>
          <p:nvPr/>
        </p:nvSpPr>
        <p:spPr>
          <a:xfrm>
            <a:off x="471340" y="6386731"/>
            <a:ext cx="3850221" cy="369332"/>
          </a:xfrm>
          <a:prstGeom prst="rect">
            <a:avLst/>
          </a:prstGeom>
          <a:noFill/>
        </p:spPr>
        <p:txBody>
          <a:bodyPr wrap="none" rtlCol="0">
            <a:spAutoFit/>
          </a:bodyPr>
          <a:lstStyle/>
          <a:p>
            <a:r>
              <a:rPr lang="en-US" i="1" dirty="0"/>
              <a:t>Department of Information Technology</a:t>
            </a:r>
          </a:p>
        </p:txBody>
      </p:sp>
    </p:spTree>
    <p:extLst>
      <p:ext uri="{BB962C8B-B14F-4D97-AF65-F5344CB8AC3E}">
        <p14:creationId xmlns:p14="http://schemas.microsoft.com/office/powerpoint/2010/main" val="14326427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43BE9C-9978-53E8-91A5-78B1E14C3DAF}"/>
              </a:ext>
            </a:extLst>
          </p:cNvPr>
          <p:cNvSpPr>
            <a:spLocks noGrp="1"/>
          </p:cNvSpPr>
          <p:nvPr>
            <p:ph type="title"/>
          </p:nvPr>
        </p:nvSpPr>
        <p:spPr/>
        <p:txBody>
          <a:bodyPr>
            <a:normAutofit/>
          </a:bodyPr>
          <a:lstStyle/>
          <a:p>
            <a:r>
              <a:rPr lang="en-US" sz="4000" b="1" dirty="0">
                <a:solidFill>
                  <a:srgbClr val="C00000"/>
                </a:solidFill>
                <a:latin typeface="Times New Roman" panose="02020603050405020304" pitchFamily="18" charset="0"/>
                <a:cs typeface="Times New Roman" panose="02020603050405020304" pitchFamily="18" charset="0"/>
              </a:rPr>
              <a:t>PROJECT OBJECTIVES</a:t>
            </a:r>
          </a:p>
        </p:txBody>
      </p:sp>
      <p:sp>
        <p:nvSpPr>
          <p:cNvPr id="3" name="TextBox 2">
            <a:extLst>
              <a:ext uri="{FF2B5EF4-FFF2-40B4-BE49-F238E27FC236}">
                <a16:creationId xmlns:a16="http://schemas.microsoft.com/office/drawing/2014/main" id="{E538F5EF-7864-29A4-FDC5-B025A1BA6982}"/>
              </a:ext>
            </a:extLst>
          </p:cNvPr>
          <p:cNvSpPr txBox="1"/>
          <p:nvPr/>
        </p:nvSpPr>
        <p:spPr>
          <a:xfrm>
            <a:off x="1036320" y="1895622"/>
            <a:ext cx="10680570" cy="3338735"/>
          </a:xfrm>
          <a:prstGeom prst="rect">
            <a:avLst/>
          </a:prstGeom>
          <a:noFill/>
        </p:spPr>
        <p:txBody>
          <a:bodyPr wrap="square" rtlCol="0">
            <a:spAutoFit/>
          </a:bodyPr>
          <a:lstStyle/>
          <a:p>
            <a:pPr marL="285750" indent="-285750">
              <a:lnSpc>
                <a:spcPct val="200000"/>
              </a:lnSpc>
              <a:buFont typeface="Arial" panose="020B0604020202020204" pitchFamily="34" charset="0"/>
              <a:buChar char="•"/>
            </a:pPr>
            <a:r>
              <a:rPr lang="en-US" dirty="0"/>
              <a:t>Replace Grover-based TSQS with QAOA-based quantum evolution.</a:t>
            </a:r>
          </a:p>
          <a:p>
            <a:pPr marL="285750" indent="-285750">
              <a:lnSpc>
                <a:spcPct val="200000"/>
              </a:lnSpc>
              <a:buFont typeface="Arial" panose="020B0604020202020204" pitchFamily="34" charset="0"/>
              <a:buChar char="•"/>
            </a:pPr>
            <a:r>
              <a:rPr lang="en-US" dirty="0"/>
              <a:t>Encode TSP cost as a Hamiltonian energy function.</a:t>
            </a:r>
          </a:p>
          <a:p>
            <a:pPr marL="285750" indent="-285750">
              <a:lnSpc>
                <a:spcPct val="200000"/>
              </a:lnSpc>
              <a:buFont typeface="Arial" panose="020B0604020202020204" pitchFamily="34" charset="0"/>
              <a:buChar char="•"/>
            </a:pPr>
            <a:r>
              <a:rPr lang="en-US" dirty="0"/>
              <a:t>Optimize QAOA parameters (</a:t>
            </a:r>
            <a:r>
              <a:rPr lang="el-GR" dirty="0"/>
              <a:t>γ, β) </a:t>
            </a:r>
            <a:r>
              <a:rPr lang="en-US" dirty="0"/>
              <a:t>using classical tuning.</a:t>
            </a:r>
          </a:p>
          <a:p>
            <a:pPr marL="285750" indent="-285750">
              <a:lnSpc>
                <a:spcPct val="200000"/>
              </a:lnSpc>
              <a:buFont typeface="Arial" panose="020B0604020202020204" pitchFamily="34" charset="0"/>
              <a:buChar char="•"/>
            </a:pPr>
            <a:r>
              <a:rPr lang="en-US" dirty="0"/>
              <a:t>Reduce circuit width and depth for better NISQ compatibility.</a:t>
            </a:r>
          </a:p>
          <a:p>
            <a:pPr marL="285750" indent="-285750">
              <a:lnSpc>
                <a:spcPct val="200000"/>
              </a:lnSpc>
              <a:buFont typeface="Arial" panose="020B0604020202020204" pitchFamily="34" charset="0"/>
              <a:buChar char="•"/>
            </a:pPr>
            <a:r>
              <a:rPr lang="en-US" dirty="0"/>
              <a:t>Compare performance with the original H-TSQS framework.</a:t>
            </a:r>
          </a:p>
          <a:p>
            <a:pPr marL="285750" indent="-285750">
              <a:lnSpc>
                <a:spcPct val="200000"/>
              </a:lnSpc>
              <a:buFont typeface="Arial" panose="020B0604020202020204" pitchFamily="34" charset="0"/>
              <a:buChar char="•"/>
            </a:pPr>
            <a:endParaRPr lang="en-US" dirty="0">
              <a:cs typeface="Times New Roman" panose="02020603050405020304" pitchFamily="18" charset="0"/>
            </a:endParaRPr>
          </a:p>
        </p:txBody>
      </p:sp>
      <p:sp>
        <p:nvSpPr>
          <p:cNvPr id="4" name="TextBox 3">
            <a:extLst>
              <a:ext uri="{FF2B5EF4-FFF2-40B4-BE49-F238E27FC236}">
                <a16:creationId xmlns:a16="http://schemas.microsoft.com/office/drawing/2014/main" id="{73FE3B3A-C615-9A23-4180-3B460DE004E2}"/>
              </a:ext>
            </a:extLst>
          </p:cNvPr>
          <p:cNvSpPr txBox="1"/>
          <p:nvPr/>
        </p:nvSpPr>
        <p:spPr>
          <a:xfrm>
            <a:off x="622169" y="6386731"/>
            <a:ext cx="3822970" cy="369332"/>
          </a:xfrm>
          <a:prstGeom prst="rect">
            <a:avLst/>
          </a:prstGeom>
          <a:noFill/>
        </p:spPr>
        <p:txBody>
          <a:bodyPr wrap="none" rtlCol="0">
            <a:spAutoFit/>
          </a:bodyPr>
          <a:lstStyle/>
          <a:p>
            <a:r>
              <a:rPr lang="en-US" i="1" dirty="0"/>
              <a:t>Department of Information Technology</a:t>
            </a:r>
          </a:p>
        </p:txBody>
      </p:sp>
    </p:spTree>
    <p:extLst>
      <p:ext uri="{BB962C8B-B14F-4D97-AF65-F5344CB8AC3E}">
        <p14:creationId xmlns:p14="http://schemas.microsoft.com/office/powerpoint/2010/main" val="9210668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69B06E-D13D-B8AD-79FD-769C6DD33B04}"/>
              </a:ext>
            </a:extLst>
          </p:cNvPr>
          <p:cNvSpPr>
            <a:spLocks noGrp="1"/>
          </p:cNvSpPr>
          <p:nvPr>
            <p:ph type="title"/>
          </p:nvPr>
        </p:nvSpPr>
        <p:spPr/>
        <p:txBody>
          <a:bodyPr>
            <a:normAutofit/>
          </a:bodyPr>
          <a:lstStyle/>
          <a:p>
            <a:r>
              <a:rPr lang="en-US" sz="4000" b="1" dirty="0">
                <a:solidFill>
                  <a:srgbClr val="C00000"/>
                </a:solidFill>
                <a:latin typeface="Times New Roman" panose="02020603050405020304" pitchFamily="18" charset="0"/>
                <a:cs typeface="Times New Roman" panose="02020603050405020304" pitchFamily="18" charset="0"/>
              </a:rPr>
              <a:t>BASE PAPER</a:t>
            </a:r>
          </a:p>
        </p:txBody>
      </p:sp>
      <p:sp>
        <p:nvSpPr>
          <p:cNvPr id="3" name="TextBox 2">
            <a:extLst>
              <a:ext uri="{FF2B5EF4-FFF2-40B4-BE49-F238E27FC236}">
                <a16:creationId xmlns:a16="http://schemas.microsoft.com/office/drawing/2014/main" id="{4F444800-99DE-DF0E-2FFD-721482F0F176}"/>
              </a:ext>
            </a:extLst>
          </p:cNvPr>
          <p:cNvSpPr txBox="1"/>
          <p:nvPr/>
        </p:nvSpPr>
        <p:spPr>
          <a:xfrm>
            <a:off x="1097280" y="1997839"/>
            <a:ext cx="9629733" cy="3416320"/>
          </a:xfrm>
          <a:prstGeom prst="rect">
            <a:avLst/>
          </a:prstGeom>
          <a:noFill/>
        </p:spPr>
        <p:txBody>
          <a:bodyPr wrap="square" rtlCol="0">
            <a:spAutoFit/>
          </a:bodyPr>
          <a:lstStyle/>
          <a:p>
            <a:r>
              <a:rPr lang="en-US" dirty="0"/>
              <a:t>The existing </a:t>
            </a:r>
            <a:r>
              <a:rPr lang="en-US" b="1" dirty="0"/>
              <a:t>Two-Step Quantum Search (TSQS)</a:t>
            </a:r>
            <a:r>
              <a:rPr lang="en-US" dirty="0"/>
              <a:t> algorithm, proposed by </a:t>
            </a:r>
            <a:r>
              <a:rPr lang="en-US" i="1" dirty="0"/>
              <a:t>Sato et al. (2025)</a:t>
            </a:r>
            <a:r>
              <a:rPr lang="en-US" dirty="0"/>
              <a:t>, is a quantum optimization approach designed to solve the </a:t>
            </a:r>
            <a:r>
              <a:rPr lang="en-US" b="1" dirty="0"/>
              <a:t>Traveling Salesman Problem (TSP)</a:t>
            </a:r>
            <a:r>
              <a:rPr lang="en-US" dirty="0"/>
              <a:t> more efficiently than classical methods. It operates in two key phases: the first constructs a uniform superposition of all feasible tours using HOBO-based encoding, and the second amplifies the optimal (minimum-cost) tour through Grover-style iterations. </a:t>
            </a:r>
          </a:p>
          <a:p>
            <a:endParaRPr lang="en-US" dirty="0"/>
          </a:p>
          <a:p>
            <a:r>
              <a:rPr lang="en-US" dirty="0"/>
              <a:t>This dual-operator structure achieves a </a:t>
            </a:r>
            <a:r>
              <a:rPr lang="en-US" b="1" dirty="0"/>
              <a:t>quadratic speed-up</a:t>
            </a:r>
            <a:r>
              <a:rPr lang="en-US" dirty="0"/>
              <a:t> compared to classical brute-force search and demonstrates effective path amplification in small-scale simulations. However, the original TSQS model is primarily theoretical, with </a:t>
            </a:r>
            <a:r>
              <a:rPr lang="en-US" b="1" dirty="0"/>
              <a:t>fixed iteration parameters</a:t>
            </a:r>
            <a:r>
              <a:rPr lang="en-US" dirty="0"/>
              <a:t>, </a:t>
            </a:r>
            <a:r>
              <a:rPr lang="en-US" b="1" dirty="0"/>
              <a:t>high circuit depth</a:t>
            </a:r>
            <a:r>
              <a:rPr lang="en-US" dirty="0"/>
              <a:t>, and </a:t>
            </a:r>
            <a:r>
              <a:rPr lang="en-US" b="1" dirty="0"/>
              <a:t>no noise modeling</a:t>
            </a:r>
            <a:r>
              <a:rPr lang="en-US" dirty="0"/>
              <a:t>, which limit its scalability on current NISQ hardware. These constraints highlight the need for an enhanced, hybrid, and adaptive extension to make TSQS practical and executable on real quantum systems.</a:t>
            </a:r>
          </a:p>
        </p:txBody>
      </p:sp>
      <p:sp>
        <p:nvSpPr>
          <p:cNvPr id="5" name="TextBox 4">
            <a:extLst>
              <a:ext uri="{FF2B5EF4-FFF2-40B4-BE49-F238E27FC236}">
                <a16:creationId xmlns:a16="http://schemas.microsoft.com/office/drawing/2014/main" id="{9E85EEA0-915E-58BD-97EC-3BDBC15C7797}"/>
              </a:ext>
            </a:extLst>
          </p:cNvPr>
          <p:cNvSpPr txBox="1"/>
          <p:nvPr/>
        </p:nvSpPr>
        <p:spPr>
          <a:xfrm>
            <a:off x="403123" y="6386731"/>
            <a:ext cx="6096000" cy="369332"/>
          </a:xfrm>
          <a:prstGeom prst="rect">
            <a:avLst/>
          </a:prstGeom>
          <a:noFill/>
        </p:spPr>
        <p:txBody>
          <a:bodyPr wrap="square">
            <a:spAutoFit/>
          </a:bodyPr>
          <a:lstStyle/>
          <a:p>
            <a:r>
              <a:rPr lang="en-US" i="1" dirty="0"/>
              <a:t>Department of Information Technology</a:t>
            </a:r>
          </a:p>
        </p:txBody>
      </p:sp>
    </p:spTree>
    <p:extLst>
      <p:ext uri="{BB962C8B-B14F-4D97-AF65-F5344CB8AC3E}">
        <p14:creationId xmlns:p14="http://schemas.microsoft.com/office/powerpoint/2010/main" val="5856697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C2F299-7DBA-3484-4A84-B4459C830044}"/>
              </a:ext>
            </a:extLst>
          </p:cNvPr>
          <p:cNvSpPr>
            <a:spLocks noGrp="1"/>
          </p:cNvSpPr>
          <p:nvPr>
            <p:ph type="title"/>
          </p:nvPr>
        </p:nvSpPr>
        <p:spPr/>
        <p:txBody>
          <a:bodyPr>
            <a:normAutofit/>
          </a:bodyPr>
          <a:lstStyle/>
          <a:p>
            <a:r>
              <a:rPr lang="en-US" sz="4000" b="1" dirty="0">
                <a:solidFill>
                  <a:srgbClr val="C00000"/>
                </a:solidFill>
                <a:latin typeface="Times New Roman" panose="02020603050405020304" pitchFamily="18" charset="0"/>
                <a:cs typeface="Times New Roman" panose="02020603050405020304" pitchFamily="18" charset="0"/>
              </a:rPr>
              <a:t>EXISTING METHODOLOGY</a:t>
            </a:r>
          </a:p>
        </p:txBody>
      </p:sp>
      <p:sp>
        <p:nvSpPr>
          <p:cNvPr id="3" name="TextBox 2">
            <a:extLst>
              <a:ext uri="{FF2B5EF4-FFF2-40B4-BE49-F238E27FC236}">
                <a16:creationId xmlns:a16="http://schemas.microsoft.com/office/drawing/2014/main" id="{E806593F-4841-36CB-68A0-FB0E2E782782}"/>
              </a:ext>
            </a:extLst>
          </p:cNvPr>
          <p:cNvSpPr txBox="1"/>
          <p:nvPr/>
        </p:nvSpPr>
        <p:spPr>
          <a:xfrm>
            <a:off x="1097280" y="1997839"/>
            <a:ext cx="9417376" cy="2862322"/>
          </a:xfrm>
          <a:prstGeom prst="rect">
            <a:avLst/>
          </a:prstGeom>
          <a:noFill/>
        </p:spPr>
        <p:txBody>
          <a:bodyPr wrap="square" rtlCol="0">
            <a:spAutoFit/>
          </a:bodyPr>
          <a:lstStyle/>
          <a:p>
            <a:pPr algn="just"/>
            <a:r>
              <a:rPr lang="en-US" dirty="0">
                <a:latin typeface="Times New Roman" panose="02020603050405020304" pitchFamily="18" charset="0"/>
                <a:cs typeface="Times New Roman" panose="02020603050405020304" pitchFamily="18" charset="0"/>
              </a:rPr>
              <a:t>The existing method is called Hybrid-Enhanced Two-Step Quantum Search (H-TSQS). It improves the original TSQS by combining classical methods and quantum circuits. First, classical algorithms like Nearest Neighbor and 2-Opt are used to reduce the number of possible tours. This helps to reduce the quantum search space.</a:t>
            </a:r>
          </a:p>
          <a:p>
            <a:pPr algn="just"/>
            <a:r>
              <a:rPr lang="en-US" dirty="0">
                <a:latin typeface="Times New Roman" panose="02020603050405020304" pitchFamily="18" charset="0"/>
                <a:cs typeface="Times New Roman" panose="02020603050405020304" pitchFamily="18" charset="0"/>
              </a:rPr>
              <a:t>Next, a quantum circuit is created using HOBO-based oracles and MCX gates to check valid tours and their costs. Adaptive iteration tuning is used to find the best parameter values that increase the success probability.</a:t>
            </a:r>
          </a:p>
          <a:p>
            <a:pPr algn="just"/>
            <a:r>
              <a:rPr lang="en-US" dirty="0">
                <a:latin typeface="Times New Roman" panose="02020603050405020304" pitchFamily="18" charset="0"/>
                <a:cs typeface="Times New Roman" panose="02020603050405020304" pitchFamily="18" charset="0"/>
              </a:rPr>
              <a:t>Finally, the algorithm is tested on both ideal and noisy simulators using </a:t>
            </a:r>
            <a:r>
              <a:rPr lang="en-US" dirty="0" err="1">
                <a:latin typeface="Times New Roman" panose="02020603050405020304" pitchFamily="18" charset="0"/>
                <a:cs typeface="Times New Roman" panose="02020603050405020304" pitchFamily="18" charset="0"/>
              </a:rPr>
              <a:t>Qiskit</a:t>
            </a:r>
            <a:r>
              <a:rPr lang="en-US" dirty="0">
                <a:latin typeface="Times New Roman" panose="02020603050405020304" pitchFamily="18" charset="0"/>
                <a:cs typeface="Times New Roman" panose="02020603050405020304" pitchFamily="18" charset="0"/>
              </a:rPr>
              <a:t>. This hybrid approach makes the system more practical and suitable for current NISQ quantum devices.</a:t>
            </a:r>
          </a:p>
          <a:p>
            <a:pPr algn="just"/>
            <a:endParaRPr lang="en-US"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55996E32-5CF8-816B-55AA-3692C7AFB3E5}"/>
              </a:ext>
            </a:extLst>
          </p:cNvPr>
          <p:cNvSpPr txBox="1"/>
          <p:nvPr/>
        </p:nvSpPr>
        <p:spPr>
          <a:xfrm>
            <a:off x="344129" y="6386731"/>
            <a:ext cx="6096000" cy="369332"/>
          </a:xfrm>
          <a:prstGeom prst="rect">
            <a:avLst/>
          </a:prstGeom>
          <a:noFill/>
        </p:spPr>
        <p:txBody>
          <a:bodyPr wrap="square">
            <a:spAutoFit/>
          </a:bodyPr>
          <a:lstStyle/>
          <a:p>
            <a:r>
              <a:rPr lang="en-US" i="1" dirty="0"/>
              <a:t>Department of Information Technology</a:t>
            </a:r>
          </a:p>
        </p:txBody>
      </p:sp>
    </p:spTree>
    <p:extLst>
      <p:ext uri="{BB962C8B-B14F-4D97-AF65-F5344CB8AC3E}">
        <p14:creationId xmlns:p14="http://schemas.microsoft.com/office/powerpoint/2010/main" val="17766264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6F67D4-AF56-37FE-8E70-7F958B02AF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7580E17-991D-C888-9AFF-C69CDA789ABB}"/>
              </a:ext>
            </a:extLst>
          </p:cNvPr>
          <p:cNvSpPr>
            <a:spLocks noGrp="1"/>
          </p:cNvSpPr>
          <p:nvPr>
            <p:ph type="title"/>
          </p:nvPr>
        </p:nvSpPr>
        <p:spPr/>
        <p:txBody>
          <a:bodyPr>
            <a:normAutofit/>
          </a:bodyPr>
          <a:lstStyle/>
          <a:p>
            <a:r>
              <a:rPr lang="en-US" sz="4000" b="1" dirty="0">
                <a:solidFill>
                  <a:srgbClr val="C00000"/>
                </a:solidFill>
                <a:latin typeface="Times New Roman" panose="02020603050405020304" pitchFamily="18" charset="0"/>
                <a:cs typeface="Times New Roman" panose="02020603050405020304" pitchFamily="18" charset="0"/>
              </a:rPr>
              <a:t>PROPOSED METHODOLOGY</a:t>
            </a:r>
          </a:p>
        </p:txBody>
      </p:sp>
      <p:sp>
        <p:nvSpPr>
          <p:cNvPr id="5" name="TextBox 4">
            <a:extLst>
              <a:ext uri="{FF2B5EF4-FFF2-40B4-BE49-F238E27FC236}">
                <a16:creationId xmlns:a16="http://schemas.microsoft.com/office/drawing/2014/main" id="{B835FCAA-713C-EE05-A0D6-DB9592B6AE7D}"/>
              </a:ext>
            </a:extLst>
          </p:cNvPr>
          <p:cNvSpPr txBox="1"/>
          <p:nvPr/>
        </p:nvSpPr>
        <p:spPr>
          <a:xfrm>
            <a:off x="344129" y="6386731"/>
            <a:ext cx="6096000" cy="369332"/>
          </a:xfrm>
          <a:prstGeom prst="rect">
            <a:avLst/>
          </a:prstGeom>
          <a:noFill/>
        </p:spPr>
        <p:txBody>
          <a:bodyPr wrap="square">
            <a:spAutoFit/>
          </a:bodyPr>
          <a:lstStyle/>
          <a:p>
            <a:r>
              <a:rPr lang="en-US" i="1" dirty="0"/>
              <a:t>Department of Information Technology</a:t>
            </a:r>
          </a:p>
        </p:txBody>
      </p:sp>
      <p:sp>
        <p:nvSpPr>
          <p:cNvPr id="7" name="Rectangle 3">
            <a:extLst>
              <a:ext uri="{FF2B5EF4-FFF2-40B4-BE49-F238E27FC236}">
                <a16:creationId xmlns:a16="http://schemas.microsoft.com/office/drawing/2014/main" id="{9A74F039-45CB-C258-AD17-B48FD9B2683F}"/>
              </a:ext>
            </a:extLst>
          </p:cNvPr>
          <p:cNvSpPr>
            <a:spLocks noChangeArrowheads="1"/>
          </p:cNvSpPr>
          <p:nvPr/>
        </p:nvSpPr>
        <p:spPr bwMode="auto">
          <a:xfrm>
            <a:off x="1314157" y="2065917"/>
            <a:ext cx="8884920"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 this work, we replace the Grover-based search method with the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Quantum Approximate Optimization Algorithm (QAOA)</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 solve the Traveling Salesman Problem (TSP). Instead of searching using fixed iterations, QAOA tries to reduce the total travel cost step by step.</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First, we calculate the cost of all possible tours. Then, we convert the problem into a quantum form using a cost Hamiltonian and a mixer Hamiltonian.</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Next, we build a QAOA circuit. The circuit creates superposition and then applies adjustable parameters (gamma and beta). A classical optimizer is used to find the best parameter values that give the lowest tour cost.</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Finally, the circuit is executed using </a:t>
            </a:r>
            <a:r>
              <a:rPr kumimoji="0" lang="en-US" altLang="en-US"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Qiskit</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simulator. The tour with the highest probability and lowest cost is selected as the optimal solution.</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This method is simpler, more flexible, and suitable for current quantum devices.</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985913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E09F11-F725-B9D1-AA0F-793C4BFF7043}"/>
              </a:ext>
            </a:extLst>
          </p:cNvPr>
          <p:cNvSpPr>
            <a:spLocks noGrp="1"/>
          </p:cNvSpPr>
          <p:nvPr>
            <p:ph type="title"/>
          </p:nvPr>
        </p:nvSpPr>
        <p:spPr/>
        <p:txBody>
          <a:bodyPr/>
          <a:lstStyle/>
          <a:p>
            <a:r>
              <a:rPr lang="en-US" b="1" dirty="0">
                <a:solidFill>
                  <a:srgbClr val="C00000"/>
                </a:solidFill>
                <a:latin typeface="Times New Roman" panose="02020603050405020304" pitchFamily="18" charset="0"/>
                <a:cs typeface="Times New Roman" panose="02020603050405020304" pitchFamily="18" charset="0"/>
              </a:rPr>
              <a:t>SYSTEM ARCHITECTURE</a:t>
            </a:r>
            <a:endParaRPr lang="en-IN" dirty="0"/>
          </a:p>
        </p:txBody>
      </p:sp>
      <p:sp>
        <p:nvSpPr>
          <p:cNvPr id="5" name="TextBox 4">
            <a:extLst>
              <a:ext uri="{FF2B5EF4-FFF2-40B4-BE49-F238E27FC236}">
                <a16:creationId xmlns:a16="http://schemas.microsoft.com/office/drawing/2014/main" id="{CE57A3CF-A9F8-54E5-CBA0-F78D6C8F343C}"/>
              </a:ext>
            </a:extLst>
          </p:cNvPr>
          <p:cNvSpPr txBox="1"/>
          <p:nvPr/>
        </p:nvSpPr>
        <p:spPr>
          <a:xfrm>
            <a:off x="386862" y="6479931"/>
            <a:ext cx="3822970" cy="646331"/>
          </a:xfrm>
          <a:prstGeom prst="rect">
            <a:avLst/>
          </a:prstGeom>
          <a:noFill/>
        </p:spPr>
        <p:txBody>
          <a:bodyPr wrap="none" rtlCol="0">
            <a:spAutoFit/>
          </a:bodyPr>
          <a:lstStyle/>
          <a:p>
            <a:r>
              <a:rPr lang="en-US" i="1" dirty="0"/>
              <a:t>Department of Information Technology</a:t>
            </a:r>
          </a:p>
          <a:p>
            <a:endParaRPr lang="en-US" dirty="0"/>
          </a:p>
        </p:txBody>
      </p:sp>
      <p:pic>
        <p:nvPicPr>
          <p:cNvPr id="6" name="Picture 5">
            <a:extLst>
              <a:ext uri="{FF2B5EF4-FFF2-40B4-BE49-F238E27FC236}">
                <a16:creationId xmlns:a16="http://schemas.microsoft.com/office/drawing/2014/main" id="{598FEC95-4B13-DE2F-0E9F-FE1D771DDB4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6669" y="1630424"/>
            <a:ext cx="10673862" cy="4594530"/>
          </a:xfrm>
          <a:prstGeom prst="rect">
            <a:avLst/>
          </a:prstGeom>
        </p:spPr>
      </p:pic>
    </p:spTree>
    <p:extLst>
      <p:ext uri="{BB962C8B-B14F-4D97-AF65-F5344CB8AC3E}">
        <p14:creationId xmlns:p14="http://schemas.microsoft.com/office/powerpoint/2010/main" val="37561267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02138E-C0BC-A47E-32C7-5206374F920E}"/>
              </a:ext>
            </a:extLst>
          </p:cNvPr>
          <p:cNvSpPr>
            <a:spLocks noGrp="1"/>
          </p:cNvSpPr>
          <p:nvPr>
            <p:ph type="title"/>
          </p:nvPr>
        </p:nvSpPr>
        <p:spPr/>
        <p:txBody>
          <a:bodyPr>
            <a:normAutofit/>
          </a:bodyPr>
          <a:lstStyle/>
          <a:p>
            <a:r>
              <a:rPr lang="en-US" sz="4000" b="1" dirty="0">
                <a:solidFill>
                  <a:srgbClr val="C00000"/>
                </a:solidFill>
                <a:latin typeface="Times New Roman" panose="02020603050405020304" pitchFamily="18" charset="0"/>
                <a:cs typeface="Times New Roman" panose="02020603050405020304" pitchFamily="18" charset="0"/>
              </a:rPr>
              <a:t>IMPROVEMENTS</a:t>
            </a:r>
          </a:p>
        </p:txBody>
      </p:sp>
      <p:sp>
        <p:nvSpPr>
          <p:cNvPr id="3" name="TextBox 2">
            <a:extLst>
              <a:ext uri="{FF2B5EF4-FFF2-40B4-BE49-F238E27FC236}">
                <a16:creationId xmlns:a16="http://schemas.microsoft.com/office/drawing/2014/main" id="{252E4693-836C-2562-7A36-0DE1127C8CA3}"/>
              </a:ext>
            </a:extLst>
          </p:cNvPr>
          <p:cNvSpPr txBox="1"/>
          <p:nvPr/>
        </p:nvSpPr>
        <p:spPr>
          <a:xfrm>
            <a:off x="1097280" y="1881002"/>
            <a:ext cx="10416294" cy="3366563"/>
          </a:xfrm>
          <a:prstGeom prst="rect">
            <a:avLst/>
          </a:prstGeom>
          <a:noFill/>
        </p:spPr>
        <p:txBody>
          <a:bodyPr wrap="square" rtlCol="0">
            <a:spAutoFit/>
          </a:bodyPr>
          <a:lstStyle/>
          <a:p>
            <a:pPr>
              <a:lnSpc>
                <a:spcPct val="150000"/>
              </a:lnSpc>
            </a:pP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Adaptive Parameter Optimization:</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Automatically finds the best (</a:t>
            </a:r>
            <a:r>
              <a:rPr lang="el-GR" dirty="0">
                <a:latin typeface="Times New Roman" panose="02020603050405020304" pitchFamily="18" charset="0"/>
                <a:cs typeface="Times New Roman" panose="02020603050405020304" pitchFamily="18" charset="0"/>
              </a:rPr>
              <a:t>γ, β) </a:t>
            </a:r>
            <a:r>
              <a:rPr lang="en-US" dirty="0">
                <a:latin typeface="Times New Roman" panose="02020603050405020304" pitchFamily="18" charset="0"/>
                <a:cs typeface="Times New Roman" panose="02020603050405020304" pitchFamily="18" charset="0"/>
              </a:rPr>
              <a:t>values instead of fixed Grover iterations.</a:t>
            </a:r>
          </a:p>
          <a:p>
            <a:pPr>
              <a:lnSpc>
                <a:spcPct val="150000"/>
              </a:lnSpc>
            </a:pP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Cost-Based Optimization Approach:</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Uses the Quantum Approximate Optimization Algorithm (QAOA) to directly minimize tour cost.</a:t>
            </a:r>
          </a:p>
          <a:p>
            <a:pPr>
              <a:lnSpc>
                <a:spcPct val="150000"/>
              </a:lnSpc>
            </a:pP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Reduced Circuit Complexity:</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Removes complex oracle design and reduces circuit depth.</a:t>
            </a:r>
          </a:p>
          <a:p>
            <a:pPr>
              <a:lnSpc>
                <a:spcPct val="150000"/>
              </a:lnSpc>
            </a:pP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NISQ Compatibility:</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Tested under noisy simulation, making it practical for real quantum devices.</a:t>
            </a:r>
          </a:p>
        </p:txBody>
      </p:sp>
      <p:sp>
        <p:nvSpPr>
          <p:cNvPr id="5" name="TextBox 4">
            <a:extLst>
              <a:ext uri="{FF2B5EF4-FFF2-40B4-BE49-F238E27FC236}">
                <a16:creationId xmlns:a16="http://schemas.microsoft.com/office/drawing/2014/main" id="{A1B55805-3E77-B069-AF36-F3F70E53F239}"/>
              </a:ext>
            </a:extLst>
          </p:cNvPr>
          <p:cNvSpPr txBox="1"/>
          <p:nvPr/>
        </p:nvSpPr>
        <p:spPr>
          <a:xfrm>
            <a:off x="491613" y="6386731"/>
            <a:ext cx="6096000" cy="369332"/>
          </a:xfrm>
          <a:prstGeom prst="rect">
            <a:avLst/>
          </a:prstGeom>
          <a:noFill/>
        </p:spPr>
        <p:txBody>
          <a:bodyPr wrap="square">
            <a:spAutoFit/>
          </a:bodyPr>
          <a:lstStyle/>
          <a:p>
            <a:r>
              <a:rPr lang="en-US" i="1" dirty="0"/>
              <a:t>Department of Information Technology</a:t>
            </a:r>
          </a:p>
        </p:txBody>
      </p:sp>
    </p:spTree>
    <p:extLst>
      <p:ext uri="{BB962C8B-B14F-4D97-AF65-F5344CB8AC3E}">
        <p14:creationId xmlns:p14="http://schemas.microsoft.com/office/powerpoint/2010/main" val="4421011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71FE98-656E-A682-76DD-0652DCEB77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9F9831-0CAA-77F0-A393-7104E236F32A}"/>
              </a:ext>
            </a:extLst>
          </p:cNvPr>
          <p:cNvSpPr>
            <a:spLocks noGrp="1"/>
          </p:cNvSpPr>
          <p:nvPr>
            <p:ph type="title"/>
          </p:nvPr>
        </p:nvSpPr>
        <p:spPr/>
        <p:txBody>
          <a:bodyPr>
            <a:normAutofit/>
          </a:bodyPr>
          <a:lstStyle/>
          <a:p>
            <a:r>
              <a:rPr lang="en-US" sz="4000" b="1" dirty="0">
                <a:solidFill>
                  <a:srgbClr val="C00000"/>
                </a:solidFill>
                <a:latin typeface="Times New Roman" panose="02020603050405020304" pitchFamily="18" charset="0"/>
                <a:cs typeface="Times New Roman" panose="02020603050405020304" pitchFamily="18" charset="0"/>
              </a:rPr>
              <a:t>Why QAOA?</a:t>
            </a:r>
          </a:p>
        </p:txBody>
      </p:sp>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801F8815-B843-3511-0052-DF5A7582195C}"/>
                  </a:ext>
                </a:extLst>
              </p:cNvPr>
              <p:cNvSpPr txBox="1"/>
              <p:nvPr/>
            </p:nvSpPr>
            <p:spPr>
              <a:xfrm>
                <a:off x="1097280" y="1881002"/>
                <a:ext cx="10416294" cy="3366563"/>
              </a:xfrm>
              <a:prstGeom prst="rect">
                <a:avLst/>
              </a:prstGeom>
              <a:noFill/>
            </p:spPr>
            <p:txBody>
              <a:bodyPr wrap="square" rtlCol="0">
                <a:spAutoFit/>
              </a:bodyPr>
              <a:lstStyle/>
              <a:p>
                <a:pPr>
                  <a:lnSpc>
                    <a:spcPct val="150000"/>
                  </a:lnSpc>
                </a:pPr>
                <a:r>
                  <a:rPr lang="en-US" dirty="0">
                    <a:latin typeface="Times New Roman" panose="02020603050405020304" pitchFamily="18" charset="0"/>
                    <a:cs typeface="Times New Roman" panose="02020603050405020304" pitchFamily="18" charset="0"/>
                  </a:rPr>
                  <a:t>Convert them into a energy minimize where quantum states moves towards minimum using tunable parameters</a:t>
                </a:r>
              </a:p>
              <a:p>
                <a:pPr>
                  <a:lnSpc>
                    <a:spcPct val="150000"/>
                  </a:lnSpc>
                </a:pPr>
                <a:r>
                  <a:rPr lang="en-US" dirty="0">
                    <a:latin typeface="Times New Roman" panose="02020603050405020304" pitchFamily="18" charset="0"/>
                    <a:cs typeface="Times New Roman" panose="02020603050405020304" pitchFamily="18" charset="0"/>
                  </a:rPr>
                  <a:t>We </a:t>
                </a:r>
                <a:r>
                  <a:rPr lang="en-US" b="1" dirty="0">
                    <a:latin typeface="Times New Roman" panose="02020603050405020304" pitchFamily="18" charset="0"/>
                    <a:cs typeface="Times New Roman" panose="02020603050405020304" pitchFamily="18" charset="0"/>
                  </a:rPr>
                  <a:t>Encode </a:t>
                </a:r>
                <a:r>
                  <a:rPr lang="en-US" dirty="0">
                    <a:latin typeface="Times New Roman" panose="02020603050405020304" pitchFamily="18" charset="0"/>
                    <a:cs typeface="Times New Roman" panose="02020603050405020304" pitchFamily="18" charset="0"/>
                  </a:rPr>
                  <a:t>with cost Hamiltonian use </a:t>
                </a:r>
                <a:r>
                  <a:rPr lang="en-US" dirty="0" err="1">
                    <a:latin typeface="Times New Roman" panose="02020603050405020304" pitchFamily="18" charset="0"/>
                    <a:cs typeface="Times New Roman" panose="02020603050405020304" pitchFamily="18" charset="0"/>
                  </a:rPr>
                  <a:t>hadamard</a:t>
                </a:r>
                <a:r>
                  <a:rPr lang="en-US" dirty="0">
                    <a:latin typeface="Times New Roman" panose="02020603050405020304" pitchFamily="18" charset="0"/>
                    <a:cs typeface="Times New Roman" panose="02020603050405020304" pitchFamily="18" charset="0"/>
                  </a:rPr>
                  <a:t> gates make them superposition </a:t>
                </a:r>
              </a:p>
              <a:p>
                <a:pPr>
                  <a:lnSpc>
                    <a:spcPct val="150000"/>
                  </a:lnSpc>
                </a:pPr>
                <a:r>
                  <a:rPr lang="en-US" dirty="0">
                    <a:latin typeface="Times New Roman" panose="02020603050405020304" pitchFamily="18" charset="0"/>
                    <a:cs typeface="Times New Roman" panose="02020603050405020304" pitchFamily="18" charset="0"/>
                  </a:rPr>
                  <a:t>lowest energy = best solution </a:t>
                </a:r>
              </a:p>
              <a:p>
                <a:pPr>
                  <a:lnSpc>
                    <a:spcPct val="150000"/>
                  </a:lnSpc>
                </a:pPr>
                <a:r>
                  <a:rPr lang="en-US" b="1" dirty="0">
                    <a:latin typeface="Times New Roman" panose="02020603050405020304" pitchFamily="18" charset="0"/>
                    <a:cs typeface="Times New Roman" panose="02020603050405020304" pitchFamily="18" charset="0"/>
                  </a:rPr>
                  <a:t>Operators: C</a:t>
                </a:r>
                <a:r>
                  <a:rPr lang="en-US" dirty="0">
                    <a:latin typeface="Times New Roman" panose="02020603050405020304" pitchFamily="18" charset="0"/>
                    <a:cs typeface="Times New Roman" panose="02020603050405020304" pitchFamily="18" charset="0"/>
                  </a:rPr>
                  <a:t>ost operator</a:t>
                </a:r>
              </a:p>
              <a:p>
                <a:pPr>
                  <a:lnSpc>
                    <a:spcPct val="150000"/>
                  </a:lnSpc>
                </a:pPr>
                <a:r>
                  <a:rPr lang="en-US" b="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Mixed operator</a:t>
                </a:r>
              </a:p>
              <a:p>
                <a:r>
                  <a:rPr lang="en-US" b="1" dirty="0">
                    <a:latin typeface="Times New Roman" panose="02020603050405020304" pitchFamily="18" charset="0"/>
                    <a:cs typeface="Times New Roman" panose="02020603050405020304" pitchFamily="18" charset="0"/>
                  </a:rPr>
                  <a:t>Tunable parameters</a:t>
                </a:r>
                <a:br>
                  <a:rPr lang="en-US" b="1" dirty="0">
                    <a:latin typeface="Times New Roman" panose="02020603050405020304" pitchFamily="18" charset="0"/>
                    <a:cs typeface="Times New Roman" panose="02020603050405020304" pitchFamily="18" charset="0"/>
                  </a:rPr>
                </a:br>
                <a:r>
                  <a:rPr lang="en-US" b="1" dirty="0">
                    <a:latin typeface="Times New Roman" panose="02020603050405020304" pitchFamily="18" charset="0"/>
                    <a:cs typeface="Times New Roman" panose="02020603050405020304" pitchFamily="18" charset="0"/>
                  </a:rPr>
                  <a:t>		     </a:t>
                </a:r>
                <a:r>
                  <a:rPr lang="el-GR" dirty="0">
                    <a:latin typeface="Times New Roman" panose="02020603050405020304" pitchFamily="18" charset="0"/>
                    <a:cs typeface="Times New Roman" panose="02020603050405020304" pitchFamily="18" charset="0"/>
                  </a:rPr>
                  <a:t>γ(</a:t>
                </a:r>
                <a:r>
                  <a:rPr lang="en-US" dirty="0">
                    <a:latin typeface="Times New Roman" panose="02020603050405020304" pitchFamily="18" charset="0"/>
                    <a:cs typeface="Times New Roman" panose="02020603050405020304" pitchFamily="18" charset="0"/>
                  </a:rPr>
                  <a:t>gamma) controls cost evolution</a:t>
                </a:r>
              </a:p>
              <a:p>
                <a:r>
                  <a:rPr lang="en-US" dirty="0">
                    <a:latin typeface="Times New Roman" panose="02020603050405020304" pitchFamily="18" charset="0"/>
                    <a:cs typeface="Times New Roman" panose="02020603050405020304" pitchFamily="18" charset="0"/>
                  </a:rPr>
                  <a:t>                       </a:t>
                </a:r>
                <a14:m>
                  <m:oMath xmlns:m="http://schemas.openxmlformats.org/officeDocument/2006/math">
                    <m:r>
                      <a:rPr lang="en-US" i="1"/>
                      <m:t>𝛽</m:t>
                    </m:r>
                    <m:d>
                      <m:dPr>
                        <m:ctrlPr>
                          <a:rPr lang="ar-AE" i="1"/>
                        </m:ctrlPr>
                      </m:dPr>
                      <m:e>
                        <m:r>
                          <m:rPr>
                            <m:nor/>
                          </m:rPr>
                          <a:rPr lang="en-US" i="1">
                            <a:latin typeface="Times New Roman" panose="02020603050405020304" pitchFamily="18" charset="0"/>
                            <a:cs typeface="Times New Roman" panose="02020603050405020304" pitchFamily="18" charset="0"/>
                          </a:rPr>
                          <m:t>beta</m:t>
                        </m:r>
                      </m:e>
                    </m:d>
                    <m:r>
                      <a:rPr lang="en-US" b="0" i="1" smtClean="0">
                        <a:latin typeface="Cambria Math" panose="02040503050406030204" pitchFamily="18" charset="0"/>
                      </a:rPr>
                      <m:t> </m:t>
                    </m:r>
                    <m:r>
                      <m:rPr>
                        <m:sty m:val="p"/>
                      </m:rPr>
                      <a:rPr lang="en-US" b="0" i="0" smtClean="0">
                        <a:latin typeface="Cambria Math" panose="02040503050406030204" pitchFamily="18" charset="0"/>
                      </a:rPr>
                      <m:t>controls</m:t>
                    </m:r>
                    <m:r>
                      <a:rPr lang="en-US" b="0" i="0" smtClean="0">
                        <a:latin typeface="Cambria Math" panose="02040503050406030204" pitchFamily="18" charset="0"/>
                      </a:rPr>
                      <m:t> </m:t>
                    </m:r>
                    <m:r>
                      <m:rPr>
                        <m:sty m:val="p"/>
                      </m:rPr>
                      <a:rPr lang="en-US" b="0" i="0" smtClean="0">
                        <a:latin typeface="Cambria Math" panose="02040503050406030204" pitchFamily="18" charset="0"/>
                      </a:rPr>
                      <m:t>mixing</m:t>
                    </m:r>
                  </m:oMath>
                </a14:m>
                <a:endParaRPr lang="ar-AE" b="0" dirty="0">
                  <a:latin typeface="Times New Roman" panose="02020603050405020304" pitchFamily="18" charset="0"/>
                  <a:cs typeface="Times New Roman" panose="02020603050405020304" pitchFamily="18" charset="0"/>
                </a:endParaRPr>
              </a:p>
              <a:p>
                <a:pPr>
                  <a:lnSpc>
                    <a:spcPct val="150000"/>
                  </a:lnSpc>
                </a:pPr>
                <a:endParaRPr lang="en-US" b="1" dirty="0">
                  <a:latin typeface="Times New Roman" panose="02020603050405020304" pitchFamily="18" charset="0"/>
                  <a:cs typeface="Times New Roman" panose="02020603050405020304" pitchFamily="18" charset="0"/>
                </a:endParaRPr>
              </a:p>
            </p:txBody>
          </p:sp>
        </mc:Choice>
        <mc:Fallback>
          <p:sp>
            <p:nvSpPr>
              <p:cNvPr id="3" name="TextBox 2">
                <a:extLst>
                  <a:ext uri="{FF2B5EF4-FFF2-40B4-BE49-F238E27FC236}">
                    <a16:creationId xmlns:a16="http://schemas.microsoft.com/office/drawing/2014/main" id="{801F8815-B843-3511-0052-DF5A7582195C}"/>
                  </a:ext>
                </a:extLst>
              </p:cNvPr>
              <p:cNvSpPr txBox="1">
                <a:spLocks noRot="1" noChangeAspect="1" noMove="1" noResize="1" noEditPoints="1" noAdjustHandles="1" noChangeArrowheads="1" noChangeShapeType="1" noTextEdit="1"/>
              </p:cNvSpPr>
              <p:nvPr/>
            </p:nvSpPr>
            <p:spPr>
              <a:xfrm>
                <a:off x="1097280" y="1881002"/>
                <a:ext cx="10416294" cy="3366563"/>
              </a:xfrm>
              <a:prstGeom prst="rect">
                <a:avLst/>
              </a:prstGeom>
              <a:blipFill>
                <a:blip r:embed="rId2"/>
                <a:stretch>
                  <a:fillRect l="-468" r="-117"/>
                </a:stretch>
              </a:blipFill>
            </p:spPr>
            <p:txBody>
              <a:bodyPr/>
              <a:lstStyle/>
              <a:p>
                <a:r>
                  <a:rPr lang="en-US">
                    <a:noFill/>
                  </a:rPr>
                  <a:t> </a:t>
                </a:r>
              </a:p>
            </p:txBody>
          </p:sp>
        </mc:Fallback>
      </mc:AlternateContent>
      <p:sp>
        <p:nvSpPr>
          <p:cNvPr id="5" name="TextBox 4">
            <a:extLst>
              <a:ext uri="{FF2B5EF4-FFF2-40B4-BE49-F238E27FC236}">
                <a16:creationId xmlns:a16="http://schemas.microsoft.com/office/drawing/2014/main" id="{953CEF35-15ED-601E-34C7-FD098CBE3E6B}"/>
              </a:ext>
            </a:extLst>
          </p:cNvPr>
          <p:cNvSpPr txBox="1"/>
          <p:nvPr/>
        </p:nvSpPr>
        <p:spPr>
          <a:xfrm>
            <a:off x="491613" y="6386731"/>
            <a:ext cx="6096000" cy="369332"/>
          </a:xfrm>
          <a:prstGeom prst="rect">
            <a:avLst/>
          </a:prstGeom>
          <a:noFill/>
        </p:spPr>
        <p:txBody>
          <a:bodyPr wrap="square">
            <a:spAutoFit/>
          </a:bodyPr>
          <a:lstStyle/>
          <a:p>
            <a:r>
              <a:rPr lang="en-US" i="1" dirty="0"/>
              <a:t>Department of Information Technology</a:t>
            </a:r>
          </a:p>
        </p:txBody>
      </p:sp>
    </p:spTree>
    <p:extLst>
      <p:ext uri="{BB962C8B-B14F-4D97-AF65-F5344CB8AC3E}">
        <p14:creationId xmlns:p14="http://schemas.microsoft.com/office/powerpoint/2010/main" val="36023064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4CCB61-1677-8C2C-FCD1-B2F779DF0A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E247DD-DA18-38C4-336B-1AE13622588F}"/>
              </a:ext>
            </a:extLst>
          </p:cNvPr>
          <p:cNvSpPr>
            <a:spLocks noGrp="1"/>
          </p:cNvSpPr>
          <p:nvPr>
            <p:ph type="title"/>
          </p:nvPr>
        </p:nvSpPr>
        <p:spPr/>
        <p:txBody>
          <a:bodyPr>
            <a:normAutofit/>
          </a:bodyPr>
          <a:lstStyle/>
          <a:p>
            <a:r>
              <a:rPr lang="en-US" sz="4000" b="1" dirty="0">
                <a:solidFill>
                  <a:srgbClr val="C00000"/>
                </a:solidFill>
                <a:latin typeface="Times New Roman" panose="02020603050405020304" pitchFamily="18" charset="0"/>
                <a:cs typeface="Times New Roman" panose="02020603050405020304" pitchFamily="18" charset="0"/>
              </a:rPr>
              <a:t>Major Changes</a:t>
            </a:r>
          </a:p>
        </p:txBody>
      </p:sp>
      <p:sp>
        <p:nvSpPr>
          <p:cNvPr id="5" name="TextBox 4">
            <a:extLst>
              <a:ext uri="{FF2B5EF4-FFF2-40B4-BE49-F238E27FC236}">
                <a16:creationId xmlns:a16="http://schemas.microsoft.com/office/drawing/2014/main" id="{C6FF5FBA-827A-14C8-4CAC-7DC464328522}"/>
              </a:ext>
            </a:extLst>
          </p:cNvPr>
          <p:cNvSpPr txBox="1"/>
          <p:nvPr/>
        </p:nvSpPr>
        <p:spPr>
          <a:xfrm>
            <a:off x="491613" y="6386731"/>
            <a:ext cx="6096000" cy="369332"/>
          </a:xfrm>
          <a:prstGeom prst="rect">
            <a:avLst/>
          </a:prstGeom>
          <a:noFill/>
        </p:spPr>
        <p:txBody>
          <a:bodyPr wrap="square">
            <a:spAutoFit/>
          </a:bodyPr>
          <a:lstStyle/>
          <a:p>
            <a:r>
              <a:rPr lang="en-US" i="1" dirty="0"/>
              <a:t>Department of Information Technology</a:t>
            </a:r>
          </a:p>
        </p:txBody>
      </p:sp>
      <p:graphicFrame>
        <p:nvGraphicFramePr>
          <p:cNvPr id="4" name="Diagram 3">
            <a:extLst>
              <a:ext uri="{FF2B5EF4-FFF2-40B4-BE49-F238E27FC236}">
                <a16:creationId xmlns:a16="http://schemas.microsoft.com/office/drawing/2014/main" id="{5434FF44-230D-ECA8-B300-870D6D830391}"/>
              </a:ext>
            </a:extLst>
          </p:cNvPr>
          <p:cNvGraphicFramePr/>
          <p:nvPr>
            <p:extLst>
              <p:ext uri="{D42A27DB-BD31-4B8C-83A1-F6EECF244321}">
                <p14:modId xmlns:p14="http://schemas.microsoft.com/office/powerpoint/2010/main" val="2561980248"/>
              </p:ext>
            </p:extLst>
          </p:nvPr>
        </p:nvGraphicFramePr>
        <p:xfrm>
          <a:off x="1354015" y="2065541"/>
          <a:ext cx="8730762" cy="399301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TextBox 5">
            <a:extLst>
              <a:ext uri="{FF2B5EF4-FFF2-40B4-BE49-F238E27FC236}">
                <a16:creationId xmlns:a16="http://schemas.microsoft.com/office/drawing/2014/main" id="{AA2B7610-72AF-71F4-C2EB-B68E912E2405}"/>
              </a:ext>
            </a:extLst>
          </p:cNvPr>
          <p:cNvSpPr txBox="1"/>
          <p:nvPr/>
        </p:nvSpPr>
        <p:spPr>
          <a:xfrm>
            <a:off x="1899138" y="2329962"/>
            <a:ext cx="1204176" cy="523220"/>
          </a:xfrm>
          <a:prstGeom prst="rect">
            <a:avLst/>
          </a:prstGeom>
          <a:noFill/>
        </p:spPr>
        <p:txBody>
          <a:bodyPr wrap="none" rtlCol="0">
            <a:spAutoFit/>
          </a:bodyPr>
          <a:lstStyle/>
          <a:p>
            <a:r>
              <a:rPr lang="en-US" sz="2800" b="1" dirty="0">
                <a:latin typeface="Times New Roman" panose="02020603050405020304" pitchFamily="18" charset="0"/>
                <a:cs typeface="Times New Roman" panose="02020603050405020304" pitchFamily="18" charset="0"/>
              </a:rPr>
              <a:t>Added</a:t>
            </a:r>
          </a:p>
        </p:txBody>
      </p:sp>
      <p:sp>
        <p:nvSpPr>
          <p:cNvPr id="7" name="TextBox 6">
            <a:extLst>
              <a:ext uri="{FF2B5EF4-FFF2-40B4-BE49-F238E27FC236}">
                <a16:creationId xmlns:a16="http://schemas.microsoft.com/office/drawing/2014/main" id="{77FFCE20-DEF3-C610-3438-1F736966C8F9}"/>
              </a:ext>
            </a:extLst>
          </p:cNvPr>
          <p:cNvSpPr txBox="1"/>
          <p:nvPr/>
        </p:nvSpPr>
        <p:spPr>
          <a:xfrm>
            <a:off x="5777134" y="2329962"/>
            <a:ext cx="1620957" cy="523220"/>
          </a:xfrm>
          <a:prstGeom prst="rect">
            <a:avLst/>
          </a:prstGeom>
          <a:noFill/>
        </p:spPr>
        <p:txBody>
          <a:bodyPr wrap="none" rtlCol="0">
            <a:spAutoFit/>
          </a:bodyPr>
          <a:lstStyle/>
          <a:p>
            <a:r>
              <a:rPr lang="en-US" sz="2800" b="1" dirty="0">
                <a:latin typeface="Times New Roman" panose="02020603050405020304" pitchFamily="18" charset="0"/>
                <a:cs typeface="Times New Roman" panose="02020603050405020304" pitchFamily="18" charset="0"/>
              </a:rPr>
              <a:t>Removed</a:t>
            </a:r>
          </a:p>
        </p:txBody>
      </p:sp>
      <p:sp>
        <p:nvSpPr>
          <p:cNvPr id="8" name="Straight Connector 7">
            <a:extLst>
              <a:ext uri="{FF2B5EF4-FFF2-40B4-BE49-F238E27FC236}">
                <a16:creationId xmlns:a16="http://schemas.microsoft.com/office/drawing/2014/main" id="{D21E422C-B80D-081D-D874-6ED4A6D69A09}"/>
              </a:ext>
            </a:extLst>
          </p:cNvPr>
          <p:cNvSpPr/>
          <p:nvPr/>
        </p:nvSpPr>
        <p:spPr>
          <a:xfrm>
            <a:off x="1354015" y="3117602"/>
            <a:ext cx="8634047" cy="1"/>
          </a:xfrm>
          <a:prstGeom prst="line">
            <a:avLst/>
          </a:prstGeom>
        </p:spPr>
        <p:style>
          <a:lnRef idx="2">
            <a:schemeClr val="accent1">
              <a:shade val="60000"/>
              <a:hueOff val="0"/>
              <a:satOff val="0"/>
              <a:lumOff val="0"/>
              <a:alphaOff val="0"/>
            </a:schemeClr>
          </a:lnRef>
          <a:fillRef idx="0">
            <a:schemeClr val="accent1">
              <a:hueOff val="0"/>
              <a:satOff val="0"/>
              <a:lumOff val="0"/>
              <a:alphaOff val="0"/>
            </a:schemeClr>
          </a:fillRef>
          <a:effectRef idx="0">
            <a:schemeClr val="accent1">
              <a:hueOff val="0"/>
              <a:satOff val="0"/>
              <a:lumOff val="0"/>
              <a:alphaOff val="0"/>
            </a:schemeClr>
          </a:effectRef>
          <a:fontRef idx="minor">
            <a:schemeClr val="tx1">
              <a:hueOff val="0"/>
              <a:satOff val="0"/>
              <a:lumOff val="0"/>
              <a:alphaOff val="0"/>
            </a:schemeClr>
          </a:fontRef>
        </p:style>
      </p:sp>
    </p:spTree>
    <p:extLst>
      <p:ext uri="{BB962C8B-B14F-4D97-AF65-F5344CB8AC3E}">
        <p14:creationId xmlns:p14="http://schemas.microsoft.com/office/powerpoint/2010/main" val="29193365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921D82-A35F-B003-9784-DED29C073311}"/>
              </a:ext>
            </a:extLst>
          </p:cNvPr>
          <p:cNvSpPr>
            <a:spLocks noGrp="1"/>
          </p:cNvSpPr>
          <p:nvPr>
            <p:ph type="title"/>
          </p:nvPr>
        </p:nvSpPr>
        <p:spPr/>
        <p:txBody>
          <a:bodyPr>
            <a:normAutofit/>
          </a:bodyPr>
          <a:lstStyle/>
          <a:p>
            <a:r>
              <a:rPr lang="en-US" sz="4000" b="1" dirty="0">
                <a:solidFill>
                  <a:srgbClr val="C00000"/>
                </a:solidFill>
                <a:latin typeface="Times New Roman" panose="02020603050405020304" pitchFamily="18" charset="0"/>
                <a:cs typeface="Times New Roman" panose="02020603050405020304" pitchFamily="18" charset="0"/>
              </a:rPr>
              <a:t>PREVIOUS RESULTS</a:t>
            </a:r>
          </a:p>
        </p:txBody>
      </p:sp>
      <p:pic>
        <p:nvPicPr>
          <p:cNvPr id="4" name="Picture 3">
            <a:extLst>
              <a:ext uri="{FF2B5EF4-FFF2-40B4-BE49-F238E27FC236}">
                <a16:creationId xmlns:a16="http://schemas.microsoft.com/office/drawing/2014/main" id="{0FA5CB97-31A6-FB93-4F3C-58C2DCEB751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48108" y="1972559"/>
            <a:ext cx="3983767" cy="3107709"/>
          </a:xfrm>
          <a:prstGeom prst="rect">
            <a:avLst/>
          </a:prstGeom>
        </p:spPr>
      </p:pic>
      <p:pic>
        <p:nvPicPr>
          <p:cNvPr id="6" name="Picture 5">
            <a:extLst>
              <a:ext uri="{FF2B5EF4-FFF2-40B4-BE49-F238E27FC236}">
                <a16:creationId xmlns:a16="http://schemas.microsoft.com/office/drawing/2014/main" id="{C444AB40-8694-03C7-D5D6-3FB18B532F97}"/>
              </a:ext>
            </a:extLst>
          </p:cNvPr>
          <p:cNvPicPr>
            <a:picLocks noChangeAspect="1"/>
          </p:cNvPicPr>
          <p:nvPr/>
        </p:nvPicPr>
        <p:blipFill>
          <a:blip r:embed="rId3">
            <a:extLst>
              <a:ext uri="{28A0092B-C50C-407E-A947-70E740481C1C}">
                <a14:useLocalDpi xmlns:a14="http://schemas.microsoft.com/office/drawing/2010/main" val="0"/>
              </a:ext>
            </a:extLst>
          </a:blip>
          <a:srcRect l="2329" t="3118" r="19781" b="31347"/>
          <a:stretch>
            <a:fillRect/>
          </a:stretch>
        </p:blipFill>
        <p:spPr>
          <a:xfrm>
            <a:off x="5656082" y="1894788"/>
            <a:ext cx="5590095" cy="3185480"/>
          </a:xfrm>
          <a:prstGeom prst="rect">
            <a:avLst/>
          </a:prstGeom>
        </p:spPr>
      </p:pic>
      <p:sp>
        <p:nvSpPr>
          <p:cNvPr id="8" name="TextBox 7">
            <a:extLst>
              <a:ext uri="{FF2B5EF4-FFF2-40B4-BE49-F238E27FC236}">
                <a16:creationId xmlns:a16="http://schemas.microsoft.com/office/drawing/2014/main" id="{8653EE23-95A0-8C42-F003-59DE768F95FA}"/>
              </a:ext>
            </a:extLst>
          </p:cNvPr>
          <p:cNvSpPr txBox="1"/>
          <p:nvPr/>
        </p:nvSpPr>
        <p:spPr>
          <a:xfrm>
            <a:off x="370003" y="6386731"/>
            <a:ext cx="6094428" cy="369332"/>
          </a:xfrm>
          <a:prstGeom prst="rect">
            <a:avLst/>
          </a:prstGeom>
          <a:noFill/>
        </p:spPr>
        <p:txBody>
          <a:bodyPr wrap="square">
            <a:spAutoFit/>
          </a:bodyPr>
          <a:lstStyle/>
          <a:p>
            <a:r>
              <a:rPr lang="en-US" i="1" dirty="0"/>
              <a:t>Department of Information Technology</a:t>
            </a:r>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2845C539-98C5-80DD-0CC2-CEB44843E6C1}"/>
                  </a:ext>
                </a:extLst>
              </p:cNvPr>
              <p:cNvSpPr txBox="1"/>
              <p:nvPr/>
            </p:nvSpPr>
            <p:spPr>
              <a:xfrm>
                <a:off x="1248107" y="5385909"/>
                <a:ext cx="10393996" cy="769441"/>
              </a:xfrm>
              <a:prstGeom prst="rect">
                <a:avLst/>
              </a:prstGeom>
              <a:noFill/>
            </p:spPr>
            <p:txBody>
              <a:bodyPr wrap="square" rtlCol="0">
                <a:spAutoFit/>
              </a:bodyPr>
              <a:lstStyle/>
              <a:p>
                <a:r>
                  <a:rPr lang="en-US" sz="1100" b="1" i="1" dirty="0"/>
                  <a:t>Execution Output and Visualization of Hybrid TSQS (Case 1)</a:t>
                </a:r>
                <a:endParaRPr lang="en-US" sz="1100" b="1" dirty="0"/>
              </a:p>
              <a:p>
                <a:r>
                  <a:rPr lang="en-US" sz="1100" dirty="0"/>
                  <a:t>This figure shows the </a:t>
                </a:r>
                <a:r>
                  <a:rPr lang="en-US" sz="1100" b="1" dirty="0"/>
                  <a:t>terminal output</a:t>
                </a:r>
                <a:r>
                  <a:rPr lang="en-US" sz="1100" dirty="0"/>
                  <a:t> and </a:t>
                </a:r>
                <a:r>
                  <a:rPr lang="en-US" sz="1100" b="1" dirty="0"/>
                  <a:t>simulation plots</a:t>
                </a:r>
                <a:r>
                  <a:rPr lang="en-US" sz="1100" dirty="0"/>
                  <a:t> for the </a:t>
                </a:r>
                <a:r>
                  <a:rPr lang="en-US" sz="1100" b="1" dirty="0"/>
                  <a:t>Hybrid Two-Step Quantum Search (H-TSQS)</a:t>
                </a:r>
                <a:r>
                  <a:rPr lang="en-US" sz="1100" dirty="0"/>
                  <a:t> applied to a 4-city TSP instance. The adaptive tuning module identified the optimal parameters </a:t>
                </a:r>
                <a14:m>
                  <m:oMath xmlns:m="http://schemas.openxmlformats.org/officeDocument/2006/math">
                    <m:d>
                      <m:dPr>
                        <m:sepChr m:val=","/>
                        <m:ctrlPr>
                          <a:rPr lang="ar-AE" sz="1100" i="1">
                            <a:latin typeface="Cambria Math" panose="02040503050406030204" pitchFamily="18" charset="0"/>
                          </a:rPr>
                        </m:ctrlPr>
                      </m:dPr>
                      <m:e>
                        <m:sSub>
                          <m:sSubPr>
                            <m:ctrlPr>
                              <a:rPr lang="ar-AE" sz="1100" i="1">
                                <a:latin typeface="Cambria Math" panose="02040503050406030204" pitchFamily="18" charset="0"/>
                              </a:rPr>
                            </m:ctrlPr>
                          </m:sSubPr>
                          <m:e>
                            <m:r>
                              <a:rPr lang="ar-AE" sz="1100" i="1">
                                <a:latin typeface="Cambria Math" panose="02040503050406030204" pitchFamily="18" charset="0"/>
                              </a:rPr>
                              <m:t>𝑡</m:t>
                            </m:r>
                          </m:e>
                          <m:sub>
                            <m:r>
                              <a:rPr lang="ar-AE" sz="1100">
                                <a:latin typeface="Cambria Math" panose="02040503050406030204" pitchFamily="18" charset="0"/>
                              </a:rPr>
                              <m:t>1</m:t>
                            </m:r>
                          </m:sub>
                        </m:sSub>
                      </m:e>
                      <m:e>
                        <m:sSub>
                          <m:sSubPr>
                            <m:ctrlPr>
                              <a:rPr lang="ar-AE" sz="1100" i="1">
                                <a:latin typeface="Cambria Math" panose="02040503050406030204" pitchFamily="18" charset="0"/>
                              </a:rPr>
                            </m:ctrlPr>
                          </m:sSubPr>
                          <m:e>
                            <m:r>
                              <a:rPr lang="ar-AE" sz="1100" i="1">
                                <a:latin typeface="Cambria Math" panose="02040503050406030204" pitchFamily="18" charset="0"/>
                              </a:rPr>
                              <m:t>𝑡</m:t>
                            </m:r>
                          </m:e>
                          <m:sub>
                            <m:r>
                              <a:rPr lang="ar-AE" sz="1100">
                                <a:latin typeface="Cambria Math" panose="02040503050406030204" pitchFamily="18" charset="0"/>
                              </a:rPr>
                              <m:t>2</m:t>
                            </m:r>
                          </m:sub>
                        </m:sSub>
                      </m:e>
                    </m:d>
                    <m:r>
                      <a:rPr lang="ar-AE" sz="1100">
                        <a:latin typeface="Cambria Math" panose="02040503050406030204" pitchFamily="18" charset="0"/>
                      </a:rPr>
                      <m:t>=</m:t>
                    </m:r>
                    <m:d>
                      <m:dPr>
                        <m:sepChr m:val=","/>
                        <m:ctrlPr>
                          <a:rPr lang="ar-AE" sz="1100" i="1">
                            <a:latin typeface="Cambria Math" panose="02040503050406030204" pitchFamily="18" charset="0"/>
                          </a:rPr>
                        </m:ctrlPr>
                      </m:dPr>
                      <m:e>
                        <m:r>
                          <a:rPr lang="ar-AE" sz="1100">
                            <a:latin typeface="Cambria Math" panose="02040503050406030204" pitchFamily="18" charset="0"/>
                          </a:rPr>
                          <m:t>1</m:t>
                        </m:r>
                      </m:e>
                      <m:e>
                        <m:r>
                          <a:rPr lang="ar-AE" sz="1100">
                            <a:latin typeface="Cambria Math" panose="02040503050406030204" pitchFamily="18" charset="0"/>
                          </a:rPr>
                          <m:t>3</m:t>
                        </m:r>
                      </m:e>
                    </m:d>
                  </m:oMath>
                </a14:m>
                <a:r>
                  <a:rPr lang="en-US" sz="1100" dirty="0"/>
                  <a:t>with a peak success probability of </a:t>
                </a:r>
                <a:r>
                  <a:rPr lang="en-US" sz="1100" b="1" dirty="0"/>
                  <a:t>0.426</a:t>
                </a:r>
                <a:r>
                  <a:rPr lang="en-US" sz="1100" dirty="0"/>
                  <a:t>. The histogram plots display the </a:t>
                </a:r>
                <a:r>
                  <a:rPr lang="en-US" sz="1100" b="1" dirty="0"/>
                  <a:t>Tour Frequency Distribution</a:t>
                </a:r>
                <a:r>
                  <a:rPr lang="en-US" sz="1100" dirty="0"/>
                  <a:t> and </a:t>
                </a:r>
                <a:r>
                  <a:rPr lang="en-US" sz="1100" b="1" dirty="0"/>
                  <a:t>Tour Probability Distribution</a:t>
                </a:r>
                <a:r>
                  <a:rPr lang="en-US" sz="1100" dirty="0"/>
                  <a:t>, highlighting that the minimal-cost tours are successfully amplified.</a:t>
                </a:r>
              </a:p>
            </p:txBody>
          </p:sp>
        </mc:Choice>
        <mc:Fallback xmlns="">
          <p:sp>
            <p:nvSpPr>
              <p:cNvPr id="9" name="TextBox 8">
                <a:extLst>
                  <a:ext uri="{FF2B5EF4-FFF2-40B4-BE49-F238E27FC236}">
                    <a16:creationId xmlns:a16="http://schemas.microsoft.com/office/drawing/2014/main" id="{2845C539-98C5-80DD-0CC2-CEB44843E6C1}"/>
                  </a:ext>
                </a:extLst>
              </p:cNvPr>
              <p:cNvSpPr txBox="1">
                <a:spLocks noRot="1" noChangeAspect="1" noMove="1" noResize="1" noEditPoints="1" noAdjustHandles="1" noChangeArrowheads="1" noChangeShapeType="1" noTextEdit="1"/>
              </p:cNvSpPr>
              <p:nvPr/>
            </p:nvSpPr>
            <p:spPr>
              <a:xfrm>
                <a:off x="1248107" y="5385909"/>
                <a:ext cx="10393996" cy="769441"/>
              </a:xfrm>
              <a:prstGeom prst="rect">
                <a:avLst/>
              </a:prstGeom>
              <a:blipFill>
                <a:blip r:embed="rId4"/>
                <a:stretch>
                  <a:fillRect t="-794" b="-4762"/>
                </a:stretch>
              </a:blipFill>
            </p:spPr>
            <p:txBody>
              <a:bodyPr/>
              <a:lstStyle/>
              <a:p>
                <a:r>
                  <a:rPr lang="en-US">
                    <a:noFill/>
                  </a:rPr>
                  <a:t> </a:t>
                </a:r>
              </a:p>
            </p:txBody>
          </p:sp>
        </mc:Fallback>
      </mc:AlternateContent>
    </p:spTree>
    <p:extLst>
      <p:ext uri="{BB962C8B-B14F-4D97-AF65-F5344CB8AC3E}">
        <p14:creationId xmlns:p14="http://schemas.microsoft.com/office/powerpoint/2010/main" val="40943267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74D5BBC-7997-CC6D-CC39-60D530E750E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0848" y="1085016"/>
            <a:ext cx="5492881" cy="3477558"/>
          </a:xfrm>
          <a:prstGeom prst="rect">
            <a:avLst/>
          </a:prstGeom>
        </p:spPr>
      </p:pic>
      <p:pic>
        <p:nvPicPr>
          <p:cNvPr id="5" name="Picture 4">
            <a:extLst>
              <a:ext uri="{FF2B5EF4-FFF2-40B4-BE49-F238E27FC236}">
                <a16:creationId xmlns:a16="http://schemas.microsoft.com/office/drawing/2014/main" id="{9A2DB44F-AAC0-1DA5-7AB8-6CA2FB9C99E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53665" y="1085016"/>
            <a:ext cx="5307487" cy="3477558"/>
          </a:xfrm>
          <a:prstGeom prst="rect">
            <a:avLst/>
          </a:prstGeom>
        </p:spPr>
      </p:pic>
      <p:sp>
        <p:nvSpPr>
          <p:cNvPr id="7" name="TextBox 6">
            <a:extLst>
              <a:ext uri="{FF2B5EF4-FFF2-40B4-BE49-F238E27FC236}">
                <a16:creationId xmlns:a16="http://schemas.microsoft.com/office/drawing/2014/main" id="{A80ED12C-03F4-9119-B88C-5865493183C9}"/>
              </a:ext>
            </a:extLst>
          </p:cNvPr>
          <p:cNvSpPr txBox="1"/>
          <p:nvPr/>
        </p:nvSpPr>
        <p:spPr>
          <a:xfrm>
            <a:off x="417136" y="6357535"/>
            <a:ext cx="6094428" cy="369332"/>
          </a:xfrm>
          <a:prstGeom prst="rect">
            <a:avLst/>
          </a:prstGeom>
          <a:noFill/>
        </p:spPr>
        <p:txBody>
          <a:bodyPr wrap="square">
            <a:spAutoFit/>
          </a:bodyPr>
          <a:lstStyle/>
          <a:p>
            <a:r>
              <a:rPr lang="en-US" i="1" dirty="0"/>
              <a:t>Department of Information Technology</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90991C46-0507-A9BF-3940-4735E78F3740}"/>
                  </a:ext>
                </a:extLst>
              </p:cNvPr>
              <p:cNvSpPr txBox="1"/>
              <p:nvPr/>
            </p:nvSpPr>
            <p:spPr>
              <a:xfrm>
                <a:off x="886120" y="4990695"/>
                <a:ext cx="10642861" cy="938719"/>
              </a:xfrm>
              <a:prstGeom prst="rect">
                <a:avLst/>
              </a:prstGeom>
              <a:noFill/>
            </p:spPr>
            <p:txBody>
              <a:bodyPr wrap="square" rtlCol="0">
                <a:spAutoFit/>
              </a:bodyPr>
              <a:lstStyle/>
              <a:p>
                <a:r>
                  <a:rPr lang="en-US" sz="1100" b="1" i="1" dirty="0"/>
                  <a:t>Execution Output and Visualization of Hybrid TSQS (Case 2)</a:t>
                </a:r>
                <a:endParaRPr lang="en-US" sz="1100" b="1" dirty="0"/>
              </a:p>
              <a:p>
                <a:r>
                  <a:rPr lang="en-US" sz="1100" dirty="0"/>
                  <a:t>This figure depicts another execution of H-TSQS with different city configuration </a:t>
                </a:r>
                <a14:m>
                  <m:oMath xmlns:m="http://schemas.openxmlformats.org/officeDocument/2006/math">
                    <m:d>
                      <m:dPr>
                        <m:sepChr m:val=","/>
                        <m:ctrlPr>
                          <a:rPr lang="ar-AE" sz="1100" i="1">
                            <a:latin typeface="Cambria Math" panose="02040503050406030204" pitchFamily="18" charset="0"/>
                          </a:rPr>
                        </m:ctrlPr>
                      </m:dPr>
                      <m:e>
                        <m:r>
                          <a:rPr lang="ar-AE" sz="1100" i="1">
                            <a:latin typeface="Cambria Math" panose="02040503050406030204" pitchFamily="18" charset="0"/>
                          </a:rPr>
                          <m:t>𝑛</m:t>
                        </m:r>
                      </m:e>
                      <m:e>
                        <m:r>
                          <a:rPr lang="ar-AE" sz="1100">
                            <a:latin typeface="Cambria Math" panose="02040503050406030204" pitchFamily="18" charset="0"/>
                          </a:rPr>
                          <m:t>=</m:t>
                        </m:r>
                        <m:r>
                          <a:rPr lang="ar-AE" sz="1100">
                            <a:latin typeface="Cambria Math" panose="02040503050406030204" pitchFamily="18" charset="0"/>
                          </a:rPr>
                          <m:t>3</m:t>
                        </m:r>
                        <m:r>
                          <a:rPr lang="ar-AE" sz="1100" i="1">
                            <a:latin typeface="Cambria Math" panose="02040503050406030204" pitchFamily="18" charset="0"/>
                          </a:rPr>
                          <m:t>𝑘</m:t>
                        </m:r>
                        <m:r>
                          <a:rPr lang="ar-AE" sz="1100">
                            <a:latin typeface="Cambria Math" panose="02040503050406030204" pitchFamily="18" charset="0"/>
                          </a:rPr>
                          <m:t>=</m:t>
                        </m:r>
                        <m:r>
                          <a:rPr lang="ar-AE" sz="1100">
                            <a:latin typeface="Cambria Math" panose="02040503050406030204" pitchFamily="18" charset="0"/>
                          </a:rPr>
                          <m:t>2</m:t>
                        </m:r>
                      </m:e>
                    </m:d>
                  </m:oMath>
                </a14:m>
                <a:r>
                  <a:rPr lang="ar-AE" sz="1100" dirty="0"/>
                  <a:t>. </a:t>
                </a:r>
                <a:r>
                  <a:rPr lang="en-US" sz="1100" dirty="0"/>
                  <a:t>The optimal parameters were found as </a:t>
                </a:r>
                <a14:m>
                  <m:oMath xmlns:m="http://schemas.openxmlformats.org/officeDocument/2006/math">
                    <m:d>
                      <m:dPr>
                        <m:sepChr m:val=","/>
                        <m:ctrlPr>
                          <a:rPr lang="ar-AE" sz="1100" i="1">
                            <a:latin typeface="Cambria Math" panose="02040503050406030204" pitchFamily="18" charset="0"/>
                          </a:rPr>
                        </m:ctrlPr>
                      </m:dPr>
                      <m:e>
                        <m:sSub>
                          <m:sSubPr>
                            <m:ctrlPr>
                              <a:rPr lang="ar-AE" sz="1100" i="1">
                                <a:latin typeface="Cambria Math" panose="02040503050406030204" pitchFamily="18" charset="0"/>
                              </a:rPr>
                            </m:ctrlPr>
                          </m:sSubPr>
                          <m:e>
                            <m:r>
                              <a:rPr lang="ar-AE" sz="1100" i="1">
                                <a:latin typeface="Cambria Math" panose="02040503050406030204" pitchFamily="18" charset="0"/>
                              </a:rPr>
                              <m:t>𝑡</m:t>
                            </m:r>
                          </m:e>
                          <m:sub>
                            <m:r>
                              <a:rPr lang="ar-AE" sz="1100">
                                <a:latin typeface="Cambria Math" panose="02040503050406030204" pitchFamily="18" charset="0"/>
                              </a:rPr>
                              <m:t>1</m:t>
                            </m:r>
                          </m:sub>
                        </m:sSub>
                      </m:e>
                      <m:e>
                        <m:sSub>
                          <m:sSubPr>
                            <m:ctrlPr>
                              <a:rPr lang="ar-AE" sz="1100" i="1">
                                <a:latin typeface="Cambria Math" panose="02040503050406030204" pitchFamily="18" charset="0"/>
                              </a:rPr>
                            </m:ctrlPr>
                          </m:sSubPr>
                          <m:e>
                            <m:r>
                              <a:rPr lang="ar-AE" sz="1100" i="1">
                                <a:latin typeface="Cambria Math" panose="02040503050406030204" pitchFamily="18" charset="0"/>
                              </a:rPr>
                              <m:t>𝑡</m:t>
                            </m:r>
                          </m:e>
                          <m:sub>
                            <m:r>
                              <a:rPr lang="ar-AE" sz="1100">
                                <a:latin typeface="Cambria Math" panose="02040503050406030204" pitchFamily="18" charset="0"/>
                              </a:rPr>
                              <m:t>2</m:t>
                            </m:r>
                          </m:sub>
                        </m:sSub>
                      </m:e>
                    </m:d>
                    <m:r>
                      <a:rPr lang="ar-AE" sz="1100">
                        <a:latin typeface="Cambria Math" panose="02040503050406030204" pitchFamily="18" charset="0"/>
                      </a:rPr>
                      <m:t>=</m:t>
                    </m:r>
                    <m:d>
                      <m:dPr>
                        <m:sepChr m:val=","/>
                        <m:ctrlPr>
                          <a:rPr lang="ar-AE" sz="1100" i="1">
                            <a:latin typeface="Cambria Math" panose="02040503050406030204" pitchFamily="18" charset="0"/>
                          </a:rPr>
                        </m:ctrlPr>
                      </m:dPr>
                      <m:e>
                        <m:r>
                          <a:rPr lang="ar-AE" sz="1100">
                            <a:latin typeface="Cambria Math" panose="02040503050406030204" pitchFamily="18" charset="0"/>
                          </a:rPr>
                          <m:t>2</m:t>
                        </m:r>
                      </m:e>
                      <m:e>
                        <m:r>
                          <a:rPr lang="ar-AE" sz="1100">
                            <a:latin typeface="Cambria Math" panose="02040503050406030204" pitchFamily="18" charset="0"/>
                          </a:rPr>
                          <m:t>3</m:t>
                        </m:r>
                      </m:e>
                    </m:d>
                  </m:oMath>
                </a14:m>
                <a:r>
                  <a:rPr lang="en-US" sz="1100" dirty="0"/>
                  <a:t>with a success probability of </a:t>
                </a:r>
                <a:r>
                  <a:rPr lang="en-US" sz="1100" b="1" dirty="0"/>
                  <a:t>0.438</a:t>
                </a:r>
                <a:r>
                  <a:rPr lang="en-US" sz="1100" dirty="0"/>
                  <a:t>. The plots confirm the dominance of the optimal tour “1-3-2” in both frequency and probability distributions. The </a:t>
                </a:r>
                <a:r>
                  <a:rPr lang="en-US" sz="1100" b="1" dirty="0"/>
                  <a:t>circuit width</a:t>
                </a:r>
                <a:r>
                  <a:rPr lang="en-US" sz="1100" dirty="0"/>
                  <a:t> was 11 qubits, with a logical depth of 150 and a physical depth of 4091, demonstrating reduced resource requirements compared to the previous run.</a:t>
                </a:r>
              </a:p>
              <a:p>
                <a:endParaRPr lang="en-US" sz="1100" dirty="0"/>
              </a:p>
            </p:txBody>
          </p:sp>
        </mc:Choice>
        <mc:Fallback xmlns="">
          <p:sp>
            <p:nvSpPr>
              <p:cNvPr id="8" name="TextBox 7">
                <a:extLst>
                  <a:ext uri="{FF2B5EF4-FFF2-40B4-BE49-F238E27FC236}">
                    <a16:creationId xmlns:a16="http://schemas.microsoft.com/office/drawing/2014/main" id="{90991C46-0507-A9BF-3940-4735E78F3740}"/>
                  </a:ext>
                </a:extLst>
              </p:cNvPr>
              <p:cNvSpPr txBox="1">
                <a:spLocks noRot="1" noChangeAspect="1" noMove="1" noResize="1" noEditPoints="1" noAdjustHandles="1" noChangeArrowheads="1" noChangeShapeType="1" noTextEdit="1"/>
              </p:cNvSpPr>
              <p:nvPr/>
            </p:nvSpPr>
            <p:spPr>
              <a:xfrm>
                <a:off x="886120" y="4990695"/>
                <a:ext cx="10642861" cy="938719"/>
              </a:xfrm>
              <a:prstGeom prst="rect">
                <a:avLst/>
              </a:prstGeom>
              <a:blipFill>
                <a:blip r:embed="rId4"/>
                <a:stretch>
                  <a:fillRect t="-649"/>
                </a:stretch>
              </a:blipFill>
            </p:spPr>
            <p:txBody>
              <a:bodyPr/>
              <a:lstStyle/>
              <a:p>
                <a:r>
                  <a:rPr lang="en-US">
                    <a:noFill/>
                  </a:rPr>
                  <a:t> </a:t>
                </a:r>
              </a:p>
            </p:txBody>
          </p:sp>
        </mc:Fallback>
      </mc:AlternateContent>
    </p:spTree>
    <p:extLst>
      <p:ext uri="{BB962C8B-B14F-4D97-AF65-F5344CB8AC3E}">
        <p14:creationId xmlns:p14="http://schemas.microsoft.com/office/powerpoint/2010/main" val="9622218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C3AFC8-390D-2A60-93A4-7AB1375A8E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080DF8-6E5B-8520-52B5-13FC0904CD84}"/>
              </a:ext>
            </a:extLst>
          </p:cNvPr>
          <p:cNvSpPr>
            <a:spLocks noGrp="1"/>
          </p:cNvSpPr>
          <p:nvPr>
            <p:ph type="title"/>
          </p:nvPr>
        </p:nvSpPr>
        <p:spPr/>
        <p:txBody>
          <a:bodyPr>
            <a:normAutofit/>
          </a:bodyPr>
          <a:lstStyle/>
          <a:p>
            <a:r>
              <a:rPr lang="en-US" sz="4000" b="1" dirty="0">
                <a:solidFill>
                  <a:srgbClr val="C00000"/>
                </a:solidFill>
                <a:latin typeface="Times New Roman" panose="02020603050405020304" pitchFamily="18" charset="0"/>
                <a:cs typeface="Times New Roman" panose="02020603050405020304" pitchFamily="18" charset="0"/>
              </a:rPr>
              <a:t>UPGRADED RESULTS</a:t>
            </a:r>
          </a:p>
        </p:txBody>
      </p:sp>
      <p:pic>
        <p:nvPicPr>
          <p:cNvPr id="4" name="Picture 3">
            <a:extLst>
              <a:ext uri="{FF2B5EF4-FFF2-40B4-BE49-F238E27FC236}">
                <a16:creationId xmlns:a16="http://schemas.microsoft.com/office/drawing/2014/main" id="{90CF633A-308A-81B6-462E-33D546D60497}"/>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376749" y="1972559"/>
            <a:ext cx="3726485" cy="3107709"/>
          </a:xfrm>
          <a:prstGeom prst="rect">
            <a:avLst/>
          </a:prstGeom>
        </p:spPr>
      </p:pic>
      <p:pic>
        <p:nvPicPr>
          <p:cNvPr id="6" name="Picture 5">
            <a:extLst>
              <a:ext uri="{FF2B5EF4-FFF2-40B4-BE49-F238E27FC236}">
                <a16:creationId xmlns:a16="http://schemas.microsoft.com/office/drawing/2014/main" id="{DA7EBE39-F22E-C528-E975-4463004A494D}"/>
              </a:ext>
            </a:extLst>
          </p:cNvPr>
          <p:cNvPicPr>
            <a:picLocks noChangeAspect="1"/>
          </p:cNvPicPr>
          <p:nvPr/>
        </p:nvPicPr>
        <p:blipFill>
          <a:blip r:embed="rId3">
            <a:extLst>
              <a:ext uri="{28A0092B-C50C-407E-A947-70E740481C1C}">
                <a14:useLocalDpi xmlns:a14="http://schemas.microsoft.com/office/drawing/2010/main" val="0"/>
              </a:ext>
            </a:extLst>
          </a:blip>
          <a:srcRect l="10735" r="10735"/>
          <a:stretch/>
        </p:blipFill>
        <p:spPr>
          <a:xfrm>
            <a:off x="5609492" y="1894788"/>
            <a:ext cx="5636685" cy="3185480"/>
          </a:xfrm>
          <a:prstGeom prst="rect">
            <a:avLst/>
          </a:prstGeom>
        </p:spPr>
      </p:pic>
      <p:sp>
        <p:nvSpPr>
          <p:cNvPr id="8" name="TextBox 7">
            <a:extLst>
              <a:ext uri="{FF2B5EF4-FFF2-40B4-BE49-F238E27FC236}">
                <a16:creationId xmlns:a16="http://schemas.microsoft.com/office/drawing/2014/main" id="{2E95C9B3-F5E8-6E62-8A9A-FA086DDA48C9}"/>
              </a:ext>
            </a:extLst>
          </p:cNvPr>
          <p:cNvSpPr txBox="1"/>
          <p:nvPr/>
        </p:nvSpPr>
        <p:spPr>
          <a:xfrm>
            <a:off x="370003" y="6386731"/>
            <a:ext cx="6094428" cy="369332"/>
          </a:xfrm>
          <a:prstGeom prst="rect">
            <a:avLst/>
          </a:prstGeom>
          <a:noFill/>
        </p:spPr>
        <p:txBody>
          <a:bodyPr wrap="square">
            <a:spAutoFit/>
          </a:bodyPr>
          <a:lstStyle/>
          <a:p>
            <a:r>
              <a:rPr lang="en-US" i="1" dirty="0"/>
              <a:t>Department of Information Technology</a:t>
            </a:r>
          </a:p>
        </p:txBody>
      </p:sp>
      <p:sp>
        <p:nvSpPr>
          <p:cNvPr id="9" name="TextBox 8">
            <a:extLst>
              <a:ext uri="{FF2B5EF4-FFF2-40B4-BE49-F238E27FC236}">
                <a16:creationId xmlns:a16="http://schemas.microsoft.com/office/drawing/2014/main" id="{A1B707D8-F410-75E8-4FC0-4F39A4AA9A85}"/>
              </a:ext>
            </a:extLst>
          </p:cNvPr>
          <p:cNvSpPr txBox="1"/>
          <p:nvPr/>
        </p:nvSpPr>
        <p:spPr>
          <a:xfrm>
            <a:off x="1248107" y="5385909"/>
            <a:ext cx="10393996" cy="430887"/>
          </a:xfrm>
          <a:prstGeom prst="rect">
            <a:avLst/>
          </a:prstGeom>
          <a:noFill/>
        </p:spPr>
        <p:txBody>
          <a:bodyPr wrap="square" rtlCol="0">
            <a:spAutoFit/>
          </a:bodyPr>
          <a:lstStyle/>
          <a:p>
            <a:r>
              <a:rPr lang="en-US" sz="1100" dirty="0"/>
              <a:t>This figure shows the terminal output and plots for the QAOA-based method on a 3-city TSP. The adaptive tuning found optimal parameters (γ, β) = (0.112, 0.828), and the optimal tour (2,1,3) achieved the highest probability of 0.438 (cost = 17).</a:t>
            </a:r>
          </a:p>
        </p:txBody>
      </p:sp>
    </p:spTree>
    <p:extLst>
      <p:ext uri="{BB962C8B-B14F-4D97-AF65-F5344CB8AC3E}">
        <p14:creationId xmlns:p14="http://schemas.microsoft.com/office/powerpoint/2010/main" val="13055691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FDDFA4-50A6-8714-F3B0-690CA717A713}"/>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EB4E76A4-2AC4-44BB-450C-52562520E63A}"/>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86120" y="1498292"/>
            <a:ext cx="5137609" cy="3231969"/>
          </a:xfrm>
          <a:prstGeom prst="rect">
            <a:avLst/>
          </a:prstGeom>
        </p:spPr>
      </p:pic>
      <p:pic>
        <p:nvPicPr>
          <p:cNvPr id="5" name="Picture 4">
            <a:extLst>
              <a:ext uri="{FF2B5EF4-FFF2-40B4-BE49-F238E27FC236}">
                <a16:creationId xmlns:a16="http://schemas.microsoft.com/office/drawing/2014/main" id="{B95CFF21-5658-8317-3A95-80DCF70816EB}"/>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353666" y="1498293"/>
            <a:ext cx="5137610" cy="3231968"/>
          </a:xfrm>
          <a:prstGeom prst="rect">
            <a:avLst/>
          </a:prstGeom>
        </p:spPr>
      </p:pic>
      <p:sp>
        <p:nvSpPr>
          <p:cNvPr id="7" name="TextBox 6">
            <a:extLst>
              <a:ext uri="{FF2B5EF4-FFF2-40B4-BE49-F238E27FC236}">
                <a16:creationId xmlns:a16="http://schemas.microsoft.com/office/drawing/2014/main" id="{8301BEE1-F16C-1EDA-CB5D-A4F8F22F2076}"/>
              </a:ext>
            </a:extLst>
          </p:cNvPr>
          <p:cNvSpPr txBox="1"/>
          <p:nvPr/>
        </p:nvSpPr>
        <p:spPr>
          <a:xfrm>
            <a:off x="417136" y="6357535"/>
            <a:ext cx="6094428" cy="369332"/>
          </a:xfrm>
          <a:prstGeom prst="rect">
            <a:avLst/>
          </a:prstGeom>
          <a:noFill/>
        </p:spPr>
        <p:txBody>
          <a:bodyPr wrap="square">
            <a:spAutoFit/>
          </a:bodyPr>
          <a:lstStyle/>
          <a:p>
            <a:r>
              <a:rPr lang="en-US" i="1" dirty="0"/>
              <a:t>Department of Information Technology</a:t>
            </a:r>
          </a:p>
        </p:txBody>
      </p:sp>
      <p:sp>
        <p:nvSpPr>
          <p:cNvPr id="8" name="TextBox 7">
            <a:extLst>
              <a:ext uri="{FF2B5EF4-FFF2-40B4-BE49-F238E27FC236}">
                <a16:creationId xmlns:a16="http://schemas.microsoft.com/office/drawing/2014/main" id="{339D5E77-7E7B-86E1-A462-D9E14F8F7414}"/>
              </a:ext>
            </a:extLst>
          </p:cNvPr>
          <p:cNvSpPr txBox="1"/>
          <p:nvPr/>
        </p:nvSpPr>
        <p:spPr>
          <a:xfrm>
            <a:off x="886120" y="4990695"/>
            <a:ext cx="10642861" cy="938719"/>
          </a:xfrm>
          <a:prstGeom prst="rect">
            <a:avLst/>
          </a:prstGeom>
          <a:noFill/>
        </p:spPr>
        <p:txBody>
          <a:bodyPr wrap="square" rtlCol="0">
            <a:spAutoFit/>
          </a:bodyPr>
          <a:lstStyle/>
          <a:p>
            <a:r>
              <a:rPr lang="en-US" sz="1100" b="1" i="1" dirty="0">
                <a:latin typeface="Times New Roman" panose="02020603050405020304" pitchFamily="18" charset="0"/>
                <a:cs typeface="Times New Roman" panose="02020603050405020304" pitchFamily="18" charset="0"/>
              </a:rPr>
              <a:t>Execution Output and Visualization of Hybrid TSQS (Case 2) Using QAOA</a:t>
            </a:r>
            <a:endParaRPr lang="en-US" sz="1100" b="1" dirty="0">
              <a:latin typeface="Times New Roman" panose="02020603050405020304" pitchFamily="18" charset="0"/>
              <a:cs typeface="Times New Roman" panose="02020603050405020304" pitchFamily="18" charset="0"/>
            </a:endParaRPr>
          </a:p>
          <a:p>
            <a:r>
              <a:rPr lang="en-US" sz="1100" dirty="0">
                <a:latin typeface="Times New Roman" panose="02020603050405020304" pitchFamily="18" charset="0"/>
                <a:cs typeface="Times New Roman" panose="02020603050405020304" pitchFamily="18" charset="0"/>
              </a:rPr>
              <a:t>This figure shows the terminal output and plots for the QAOA-based method on a 4-city TSP. The adaptive tuning found optimal parameters (γ, β) = (1.500, 0.499), and the minimum-cost tours (cost = 80) achieved the highest probability of 0.135.</a:t>
            </a:r>
          </a:p>
          <a:p>
            <a:r>
              <a:rPr lang="en-US" sz="1100" dirty="0">
                <a:latin typeface="Times New Roman" panose="02020603050405020304" pitchFamily="18" charset="0"/>
                <a:cs typeface="Times New Roman" panose="02020603050405020304" pitchFamily="18" charset="0"/>
              </a:rPr>
              <a:t>The histograms show that lower-cost tours receive higher probability. The circuit uses 5 qubits with a logical depth of 69, demonstrating scalability to larger problems.</a:t>
            </a:r>
          </a:p>
          <a:p>
            <a:endParaRPr lang="en-US" sz="11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722728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EF434F7-CCA0-928A-8479-6C8548DB4297}"/>
              </a:ext>
            </a:extLst>
          </p:cNvPr>
          <p:cNvSpPr txBox="1"/>
          <p:nvPr/>
        </p:nvSpPr>
        <p:spPr>
          <a:xfrm>
            <a:off x="3063712" y="2801771"/>
            <a:ext cx="5348580" cy="1107996"/>
          </a:xfrm>
          <a:prstGeom prst="rect">
            <a:avLst/>
          </a:prstGeom>
          <a:noFill/>
        </p:spPr>
        <p:txBody>
          <a:bodyPr wrap="none" rtlCol="0">
            <a:spAutoFit/>
          </a:bodyPr>
          <a:lstStyle/>
          <a:p>
            <a:r>
              <a:rPr lang="en-US" sz="6600" b="1" dirty="0">
                <a:latin typeface="Times New Roman" panose="02020603050405020304" pitchFamily="18" charset="0"/>
                <a:cs typeface="Times New Roman" panose="02020603050405020304" pitchFamily="18" charset="0"/>
              </a:rPr>
              <a:t>THANK YOU</a:t>
            </a:r>
          </a:p>
        </p:txBody>
      </p:sp>
      <p:sp>
        <p:nvSpPr>
          <p:cNvPr id="4" name="TextBox 3">
            <a:extLst>
              <a:ext uri="{FF2B5EF4-FFF2-40B4-BE49-F238E27FC236}">
                <a16:creationId xmlns:a16="http://schemas.microsoft.com/office/drawing/2014/main" id="{AFD46930-91D7-F3E3-AE8B-425AADCB08DF}"/>
              </a:ext>
            </a:extLst>
          </p:cNvPr>
          <p:cNvSpPr txBox="1"/>
          <p:nvPr/>
        </p:nvSpPr>
        <p:spPr>
          <a:xfrm>
            <a:off x="501977" y="6395243"/>
            <a:ext cx="6094428" cy="369332"/>
          </a:xfrm>
          <a:prstGeom prst="rect">
            <a:avLst/>
          </a:prstGeom>
          <a:noFill/>
        </p:spPr>
        <p:txBody>
          <a:bodyPr wrap="square">
            <a:spAutoFit/>
          </a:bodyPr>
          <a:lstStyle/>
          <a:p>
            <a:r>
              <a:rPr lang="en-US" i="1" dirty="0"/>
              <a:t>Department of Information Technology</a:t>
            </a:r>
          </a:p>
        </p:txBody>
      </p:sp>
    </p:spTree>
    <p:extLst>
      <p:ext uri="{BB962C8B-B14F-4D97-AF65-F5344CB8AC3E}">
        <p14:creationId xmlns:p14="http://schemas.microsoft.com/office/powerpoint/2010/main" val="1107510180"/>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507</TotalTime>
  <Words>1384</Words>
  <Application>Microsoft Office PowerPoint</Application>
  <PresentationFormat>Widescreen</PresentationFormat>
  <Paragraphs>94</Paragraphs>
  <Slides>17</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Arial</vt:lpstr>
      <vt:lpstr>Calibri</vt:lpstr>
      <vt:lpstr>Calibri Light</vt:lpstr>
      <vt:lpstr>Cambria Math</vt:lpstr>
      <vt:lpstr>Times New Roman</vt:lpstr>
      <vt:lpstr>Retrospect</vt:lpstr>
      <vt:lpstr>Hybrid-Enhanced Quantum Evolution Search (H-HQES)</vt:lpstr>
      <vt:lpstr>AGENDA</vt:lpstr>
      <vt:lpstr>PROBLEM  STATEMENT</vt:lpstr>
      <vt:lpstr>ABSTRACT</vt:lpstr>
      <vt:lpstr>PROJECT OBJECTIVES</vt:lpstr>
      <vt:lpstr>BASE PAPER</vt:lpstr>
      <vt:lpstr>EXISTING METHODOLOGY</vt:lpstr>
      <vt:lpstr>PROPOSED METHODOLOGY</vt:lpstr>
      <vt:lpstr>SYSTEM ARCHITECTURE</vt:lpstr>
      <vt:lpstr>IMPROVEMENTS</vt:lpstr>
      <vt:lpstr>Why QAOA?</vt:lpstr>
      <vt:lpstr>Major Changes</vt:lpstr>
      <vt:lpstr>PREVIOUS RESULTS</vt:lpstr>
      <vt:lpstr>PowerPoint Presentation</vt:lpstr>
      <vt:lpstr>UPGRADED RESULTS</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Vyshnavi Gangadhari</dc:creator>
  <cp:lastModifiedBy>Vyshnavi Gangadhari</cp:lastModifiedBy>
  <cp:revision>6</cp:revision>
  <dcterms:created xsi:type="dcterms:W3CDTF">2025-10-27T16:59:54Z</dcterms:created>
  <dcterms:modified xsi:type="dcterms:W3CDTF">2026-02-28T06:32:47Z</dcterms:modified>
</cp:coreProperties>
</file>