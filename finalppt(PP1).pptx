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9" r:id="rId4"/>
    <p:sldId id="258" r:id="rId5"/>
    <p:sldId id="260" r:id="rId6"/>
    <p:sldId id="261" r:id="rId7"/>
    <p:sldId id="262" r:id="rId8"/>
    <p:sldId id="263" r:id="rId9"/>
    <p:sldId id="264" r:id="rId10"/>
    <p:sldId id="272"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p:scale>
          <a:sx n="75" d="100"/>
          <a:sy n="75" d="100"/>
        </p:scale>
        <p:origin x="965"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152DE7-F159-4A03-93EA-FD2E46ED09A1}" type="doc">
      <dgm:prSet loTypeId="urn:microsoft.com/office/officeart/2005/8/layout/list1" loCatId="list" qsTypeId="urn:microsoft.com/office/officeart/2005/8/quickstyle/simple1" qsCatId="simple" csTypeId="urn:microsoft.com/office/officeart/2005/8/colors/accent2_2" csCatId="accent2" phldr="1"/>
      <dgm:spPr/>
      <dgm:t>
        <a:bodyPr/>
        <a:lstStyle/>
        <a:p>
          <a:endParaRPr lang="en-US"/>
        </a:p>
      </dgm:t>
    </dgm:pt>
    <dgm:pt modelId="{D600B016-5DF8-467E-9075-42A049134471}">
      <dgm:prSet phldrT="[Text]" custT="1"/>
      <dgm:spPr/>
      <dgm:t>
        <a:bodyPr/>
        <a:lstStyle/>
        <a:p>
          <a:r>
            <a:rPr lang="en-US" sz="1600" b="1" dirty="0">
              <a:latin typeface="Times New Roman" panose="02020603050405020304" pitchFamily="18" charset="0"/>
              <a:cs typeface="Times New Roman" panose="02020603050405020304" pitchFamily="18" charset="0"/>
            </a:rPr>
            <a:t>Abstract</a:t>
          </a:r>
          <a:endParaRPr lang="en-US" sz="1600" dirty="0"/>
        </a:p>
      </dgm:t>
    </dgm:pt>
    <dgm:pt modelId="{971178DC-3B5C-43BC-952F-8EB39DB61806}" type="parTrans" cxnId="{D6581319-1230-4E51-A8FA-ECF542F0A431}">
      <dgm:prSet/>
      <dgm:spPr/>
      <dgm:t>
        <a:bodyPr/>
        <a:lstStyle/>
        <a:p>
          <a:endParaRPr lang="en-US"/>
        </a:p>
      </dgm:t>
    </dgm:pt>
    <dgm:pt modelId="{ED71A749-D2C7-4B59-BD42-84A4E585361A}" type="sibTrans" cxnId="{D6581319-1230-4E51-A8FA-ECF542F0A431}">
      <dgm:prSet/>
      <dgm:spPr/>
      <dgm:t>
        <a:bodyPr/>
        <a:lstStyle/>
        <a:p>
          <a:endParaRPr lang="en-US"/>
        </a:p>
      </dgm:t>
    </dgm:pt>
    <dgm:pt modelId="{18C05601-8659-40F4-BE1E-0DE715164F34}">
      <dgm:prSet phldrT="[Text]" custT="1"/>
      <dgm:spPr/>
      <dgm:t>
        <a:bodyPr/>
        <a:lstStyle/>
        <a:p>
          <a:r>
            <a:rPr lang="en-US" sz="1600" b="1" dirty="0">
              <a:latin typeface="Times New Roman" panose="02020603050405020304" pitchFamily="18" charset="0"/>
              <a:cs typeface="Times New Roman" panose="02020603050405020304" pitchFamily="18" charset="0"/>
            </a:rPr>
            <a:t>Problem Statement </a:t>
          </a:r>
          <a:endParaRPr lang="en-US" sz="1600" dirty="0"/>
        </a:p>
      </dgm:t>
    </dgm:pt>
    <dgm:pt modelId="{41478EC1-0EAF-4F90-97FD-CBE1817CA7F7}" type="parTrans" cxnId="{882FD699-5F4D-47F2-87A5-3D26DB55AE75}">
      <dgm:prSet/>
      <dgm:spPr/>
      <dgm:t>
        <a:bodyPr/>
        <a:lstStyle/>
        <a:p>
          <a:endParaRPr lang="en-US"/>
        </a:p>
      </dgm:t>
    </dgm:pt>
    <dgm:pt modelId="{022B4AF3-894F-4884-8255-C039E4B8EB54}" type="sibTrans" cxnId="{882FD699-5F4D-47F2-87A5-3D26DB55AE75}">
      <dgm:prSet/>
      <dgm:spPr/>
      <dgm:t>
        <a:bodyPr/>
        <a:lstStyle/>
        <a:p>
          <a:endParaRPr lang="en-US"/>
        </a:p>
      </dgm:t>
    </dgm:pt>
    <dgm:pt modelId="{E85842D6-AEFD-4FF4-8DF0-F4DA1C935EAB}">
      <dgm:prSet phldrT="[Text]" custT="1"/>
      <dgm:spPr/>
      <dgm:t>
        <a:bodyPr/>
        <a:lstStyle/>
        <a:p>
          <a:r>
            <a:rPr lang="en-US" sz="1600" b="1" dirty="0">
              <a:latin typeface="Times New Roman" panose="02020603050405020304" pitchFamily="18" charset="0"/>
              <a:cs typeface="Times New Roman" panose="02020603050405020304" pitchFamily="18" charset="0"/>
            </a:rPr>
            <a:t>Objectives </a:t>
          </a:r>
          <a:endParaRPr lang="en-US" sz="1600" dirty="0"/>
        </a:p>
      </dgm:t>
    </dgm:pt>
    <dgm:pt modelId="{6836CA4A-54F2-4C50-9332-970385EDBC4B}" type="parTrans" cxnId="{A8E7F5E7-6114-49C0-8063-6B54A1F42A6D}">
      <dgm:prSet/>
      <dgm:spPr/>
      <dgm:t>
        <a:bodyPr/>
        <a:lstStyle/>
        <a:p>
          <a:endParaRPr lang="en-US"/>
        </a:p>
      </dgm:t>
    </dgm:pt>
    <dgm:pt modelId="{CA5511E0-8638-4428-81D9-3D5A46130351}" type="sibTrans" cxnId="{A8E7F5E7-6114-49C0-8063-6B54A1F42A6D}">
      <dgm:prSet/>
      <dgm:spPr/>
      <dgm:t>
        <a:bodyPr/>
        <a:lstStyle/>
        <a:p>
          <a:endParaRPr lang="en-US"/>
        </a:p>
      </dgm:t>
    </dgm:pt>
    <dgm:pt modelId="{E12D6394-5B59-4ED2-B0E9-FB471F8FFD64}">
      <dgm:prSet phldrT="[Text]" custT="1"/>
      <dgm:spPr/>
      <dgm:t>
        <a:bodyPr/>
        <a:lstStyle/>
        <a:p>
          <a:r>
            <a:rPr lang="en-US" sz="1600" b="1" dirty="0">
              <a:latin typeface="Times New Roman" panose="02020603050405020304" pitchFamily="18" charset="0"/>
              <a:cs typeface="Times New Roman" panose="02020603050405020304" pitchFamily="18" charset="0"/>
            </a:rPr>
            <a:t>Literature Review </a:t>
          </a:r>
          <a:endParaRPr lang="en-US" sz="1600" dirty="0"/>
        </a:p>
      </dgm:t>
    </dgm:pt>
    <dgm:pt modelId="{BF94BBDB-E466-496D-8E01-61379AFCA934}" type="parTrans" cxnId="{CD0EEAF2-6042-4ED2-8AAF-BBB0C418B3FB}">
      <dgm:prSet/>
      <dgm:spPr/>
      <dgm:t>
        <a:bodyPr/>
        <a:lstStyle/>
        <a:p>
          <a:endParaRPr lang="en-US"/>
        </a:p>
      </dgm:t>
    </dgm:pt>
    <dgm:pt modelId="{D99EE236-721E-41C9-A2B6-82A6C5C28D10}" type="sibTrans" cxnId="{CD0EEAF2-6042-4ED2-8AAF-BBB0C418B3FB}">
      <dgm:prSet/>
      <dgm:spPr/>
      <dgm:t>
        <a:bodyPr/>
        <a:lstStyle/>
        <a:p>
          <a:endParaRPr lang="en-US"/>
        </a:p>
      </dgm:t>
    </dgm:pt>
    <dgm:pt modelId="{291F09F0-1ABC-489B-8EA1-643B67D27884}">
      <dgm:prSet phldrT="[Text]" custT="1"/>
      <dgm:spPr/>
      <dgm:t>
        <a:bodyPr/>
        <a:lstStyle/>
        <a:p>
          <a:r>
            <a:rPr lang="en-US" sz="1600" b="1" dirty="0">
              <a:latin typeface="Times New Roman" panose="02020603050405020304" pitchFamily="18" charset="0"/>
              <a:cs typeface="Times New Roman" panose="02020603050405020304" pitchFamily="18" charset="0"/>
            </a:rPr>
            <a:t>Existing Idea </a:t>
          </a:r>
          <a:endParaRPr lang="en-US" sz="1600" dirty="0"/>
        </a:p>
      </dgm:t>
    </dgm:pt>
    <dgm:pt modelId="{BBA78A90-07B2-44CE-8238-69B7C3CFC8AB}" type="parTrans" cxnId="{A2595AA4-0D32-4536-B4B5-0D0612D089F6}">
      <dgm:prSet/>
      <dgm:spPr/>
      <dgm:t>
        <a:bodyPr/>
        <a:lstStyle/>
        <a:p>
          <a:endParaRPr lang="en-US"/>
        </a:p>
      </dgm:t>
    </dgm:pt>
    <dgm:pt modelId="{269280DF-1791-4476-997B-2A61627FDE13}" type="sibTrans" cxnId="{A2595AA4-0D32-4536-B4B5-0D0612D089F6}">
      <dgm:prSet/>
      <dgm:spPr/>
      <dgm:t>
        <a:bodyPr/>
        <a:lstStyle/>
        <a:p>
          <a:endParaRPr lang="en-US"/>
        </a:p>
      </dgm:t>
    </dgm:pt>
    <dgm:pt modelId="{5A75AD5F-0EBA-4EAD-92B9-03436690DBEB}">
      <dgm:prSet phldrT="[Text]" custT="1"/>
      <dgm:spPr/>
      <dgm:t>
        <a:bodyPr/>
        <a:lstStyle/>
        <a:p>
          <a:r>
            <a:rPr lang="en-US" sz="1600" b="1" dirty="0">
              <a:latin typeface="Times New Roman" panose="02020603050405020304" pitchFamily="18" charset="0"/>
              <a:cs typeface="Times New Roman" panose="02020603050405020304" pitchFamily="18" charset="0"/>
            </a:rPr>
            <a:t>Proposed Methodology </a:t>
          </a:r>
          <a:endParaRPr lang="en-US" sz="1600" dirty="0"/>
        </a:p>
      </dgm:t>
    </dgm:pt>
    <dgm:pt modelId="{5E3EEC73-20B7-42DB-8501-735C19460321}" type="parTrans" cxnId="{345B14E1-9AA1-4639-A845-5DFB82669254}">
      <dgm:prSet/>
      <dgm:spPr/>
      <dgm:t>
        <a:bodyPr/>
        <a:lstStyle/>
        <a:p>
          <a:endParaRPr lang="en-US"/>
        </a:p>
      </dgm:t>
    </dgm:pt>
    <dgm:pt modelId="{6202E9FB-A142-441B-83AE-319297FD4DF5}" type="sibTrans" cxnId="{345B14E1-9AA1-4639-A845-5DFB82669254}">
      <dgm:prSet/>
      <dgm:spPr/>
      <dgm:t>
        <a:bodyPr/>
        <a:lstStyle/>
        <a:p>
          <a:endParaRPr lang="en-US"/>
        </a:p>
      </dgm:t>
    </dgm:pt>
    <dgm:pt modelId="{954F0B27-1DD3-4267-A4C8-10FA33984561}">
      <dgm:prSet phldrT="[Text]" custT="1"/>
      <dgm:spPr/>
      <dgm:t>
        <a:bodyPr/>
        <a:lstStyle/>
        <a:p>
          <a:r>
            <a:rPr lang="en-US" sz="1600" b="1" dirty="0">
              <a:latin typeface="Times New Roman" panose="02020603050405020304" pitchFamily="18" charset="0"/>
              <a:cs typeface="Times New Roman" panose="02020603050405020304" pitchFamily="18" charset="0"/>
            </a:rPr>
            <a:t>Results</a:t>
          </a:r>
          <a:endParaRPr lang="en-US" sz="1600" dirty="0"/>
        </a:p>
      </dgm:t>
    </dgm:pt>
    <dgm:pt modelId="{2AB7E8E9-1E49-4DCF-B6C3-F30B019C24CF}" type="parTrans" cxnId="{909C0066-F372-42A6-8971-193560581AF4}">
      <dgm:prSet/>
      <dgm:spPr/>
      <dgm:t>
        <a:bodyPr/>
        <a:lstStyle/>
        <a:p>
          <a:endParaRPr lang="en-US"/>
        </a:p>
      </dgm:t>
    </dgm:pt>
    <dgm:pt modelId="{0675AC1B-A90F-4B61-A04A-73707904A09E}" type="sibTrans" cxnId="{909C0066-F372-42A6-8971-193560581AF4}">
      <dgm:prSet/>
      <dgm:spPr/>
      <dgm:t>
        <a:bodyPr/>
        <a:lstStyle/>
        <a:p>
          <a:endParaRPr lang="en-US"/>
        </a:p>
      </dgm:t>
    </dgm:pt>
    <dgm:pt modelId="{C42D5886-AB05-495B-B921-C156C331E801}">
      <dgm:prSet phldrT="[Text]" custT="1"/>
      <dgm:spPr/>
      <dgm:t>
        <a:bodyPr/>
        <a:lstStyle/>
        <a:p>
          <a:r>
            <a:rPr lang="en-US" sz="1600" b="1" dirty="0">
              <a:latin typeface="Times New Roman" panose="02020603050405020304" pitchFamily="18" charset="0"/>
              <a:cs typeface="Times New Roman" panose="02020603050405020304" pitchFamily="18" charset="0"/>
            </a:rPr>
            <a:t>References</a:t>
          </a:r>
          <a:endParaRPr lang="en-US" sz="1600" dirty="0"/>
        </a:p>
      </dgm:t>
    </dgm:pt>
    <dgm:pt modelId="{51CEF428-1257-4D9A-981F-E8D9954F627E}" type="parTrans" cxnId="{2ABA39D6-0538-48B4-A8CE-AEB24CB3E767}">
      <dgm:prSet/>
      <dgm:spPr/>
      <dgm:t>
        <a:bodyPr/>
        <a:lstStyle/>
        <a:p>
          <a:endParaRPr lang="en-US"/>
        </a:p>
      </dgm:t>
    </dgm:pt>
    <dgm:pt modelId="{2DEC1B8F-0F8B-4EA4-9DEC-BB19183F2587}" type="sibTrans" cxnId="{2ABA39D6-0538-48B4-A8CE-AEB24CB3E767}">
      <dgm:prSet/>
      <dgm:spPr/>
      <dgm:t>
        <a:bodyPr/>
        <a:lstStyle/>
        <a:p>
          <a:endParaRPr lang="en-US"/>
        </a:p>
      </dgm:t>
    </dgm:pt>
    <dgm:pt modelId="{1C2E5246-6C30-4941-BC2A-597CCEA8E914}" type="pres">
      <dgm:prSet presAssocID="{37152DE7-F159-4A03-93EA-FD2E46ED09A1}" presName="linear" presStyleCnt="0">
        <dgm:presLayoutVars>
          <dgm:dir/>
          <dgm:animLvl val="lvl"/>
          <dgm:resizeHandles val="exact"/>
        </dgm:presLayoutVars>
      </dgm:prSet>
      <dgm:spPr/>
    </dgm:pt>
    <dgm:pt modelId="{CAF560F5-334E-4694-A6B9-220E5D628AE0}" type="pres">
      <dgm:prSet presAssocID="{D600B016-5DF8-467E-9075-42A049134471}" presName="parentLin" presStyleCnt="0"/>
      <dgm:spPr/>
    </dgm:pt>
    <dgm:pt modelId="{AB97C760-6400-472E-96F0-8DA87E657FC3}" type="pres">
      <dgm:prSet presAssocID="{D600B016-5DF8-467E-9075-42A049134471}" presName="parentLeftMargin" presStyleLbl="node1" presStyleIdx="0" presStyleCnt="8"/>
      <dgm:spPr/>
    </dgm:pt>
    <dgm:pt modelId="{2A66CEB2-7766-40B1-AE2F-721C7C93C650}" type="pres">
      <dgm:prSet presAssocID="{D600B016-5DF8-467E-9075-42A049134471}" presName="parentText" presStyleLbl="node1" presStyleIdx="0" presStyleCnt="8">
        <dgm:presLayoutVars>
          <dgm:chMax val="0"/>
          <dgm:bulletEnabled val="1"/>
        </dgm:presLayoutVars>
      </dgm:prSet>
      <dgm:spPr/>
    </dgm:pt>
    <dgm:pt modelId="{9946AD1D-361E-459F-8DE4-E5A81CE53355}" type="pres">
      <dgm:prSet presAssocID="{D600B016-5DF8-467E-9075-42A049134471}" presName="negativeSpace" presStyleCnt="0"/>
      <dgm:spPr/>
    </dgm:pt>
    <dgm:pt modelId="{F696A73F-DA69-4D54-A611-A29800F2EA6E}" type="pres">
      <dgm:prSet presAssocID="{D600B016-5DF8-467E-9075-42A049134471}" presName="childText" presStyleLbl="conFgAcc1" presStyleIdx="0" presStyleCnt="8">
        <dgm:presLayoutVars>
          <dgm:bulletEnabled val="1"/>
        </dgm:presLayoutVars>
      </dgm:prSet>
      <dgm:spPr/>
    </dgm:pt>
    <dgm:pt modelId="{9E8393C4-EB4B-4716-975D-CF40398888B0}" type="pres">
      <dgm:prSet presAssocID="{ED71A749-D2C7-4B59-BD42-84A4E585361A}" presName="spaceBetweenRectangles" presStyleCnt="0"/>
      <dgm:spPr/>
    </dgm:pt>
    <dgm:pt modelId="{548715B2-4C5B-4D07-8E97-55E045A81F3B}" type="pres">
      <dgm:prSet presAssocID="{18C05601-8659-40F4-BE1E-0DE715164F34}" presName="parentLin" presStyleCnt="0"/>
      <dgm:spPr/>
    </dgm:pt>
    <dgm:pt modelId="{65E43230-C9E8-4D58-A61B-36D001F47111}" type="pres">
      <dgm:prSet presAssocID="{18C05601-8659-40F4-BE1E-0DE715164F34}" presName="parentLeftMargin" presStyleLbl="node1" presStyleIdx="0" presStyleCnt="8"/>
      <dgm:spPr/>
    </dgm:pt>
    <dgm:pt modelId="{8B8FE4D3-7892-4707-B8B6-B5DEF06702EB}" type="pres">
      <dgm:prSet presAssocID="{18C05601-8659-40F4-BE1E-0DE715164F34}" presName="parentText" presStyleLbl="node1" presStyleIdx="1" presStyleCnt="8">
        <dgm:presLayoutVars>
          <dgm:chMax val="0"/>
          <dgm:bulletEnabled val="1"/>
        </dgm:presLayoutVars>
      </dgm:prSet>
      <dgm:spPr/>
    </dgm:pt>
    <dgm:pt modelId="{264112FF-834D-41CE-9337-B975C39E2F07}" type="pres">
      <dgm:prSet presAssocID="{18C05601-8659-40F4-BE1E-0DE715164F34}" presName="negativeSpace" presStyleCnt="0"/>
      <dgm:spPr/>
    </dgm:pt>
    <dgm:pt modelId="{413E28A5-66DB-411D-9CB0-07DE32680199}" type="pres">
      <dgm:prSet presAssocID="{18C05601-8659-40F4-BE1E-0DE715164F34}" presName="childText" presStyleLbl="conFgAcc1" presStyleIdx="1" presStyleCnt="8">
        <dgm:presLayoutVars>
          <dgm:bulletEnabled val="1"/>
        </dgm:presLayoutVars>
      </dgm:prSet>
      <dgm:spPr/>
    </dgm:pt>
    <dgm:pt modelId="{DF757DF6-0C61-4BEE-A12D-D826D5814ED9}" type="pres">
      <dgm:prSet presAssocID="{022B4AF3-894F-4884-8255-C039E4B8EB54}" presName="spaceBetweenRectangles" presStyleCnt="0"/>
      <dgm:spPr/>
    </dgm:pt>
    <dgm:pt modelId="{5EDEEC62-2069-4B21-9193-4CC4776FC414}" type="pres">
      <dgm:prSet presAssocID="{E85842D6-AEFD-4FF4-8DF0-F4DA1C935EAB}" presName="parentLin" presStyleCnt="0"/>
      <dgm:spPr/>
    </dgm:pt>
    <dgm:pt modelId="{2307BAFC-0AB1-401D-BF4F-FCF56B3CACD2}" type="pres">
      <dgm:prSet presAssocID="{E85842D6-AEFD-4FF4-8DF0-F4DA1C935EAB}" presName="parentLeftMargin" presStyleLbl="node1" presStyleIdx="1" presStyleCnt="8"/>
      <dgm:spPr/>
    </dgm:pt>
    <dgm:pt modelId="{203AEAF5-A99D-4FBA-8F5B-8929A0B17185}" type="pres">
      <dgm:prSet presAssocID="{E85842D6-AEFD-4FF4-8DF0-F4DA1C935EAB}" presName="parentText" presStyleLbl="node1" presStyleIdx="2" presStyleCnt="8">
        <dgm:presLayoutVars>
          <dgm:chMax val="0"/>
          <dgm:bulletEnabled val="1"/>
        </dgm:presLayoutVars>
      </dgm:prSet>
      <dgm:spPr/>
    </dgm:pt>
    <dgm:pt modelId="{23ABDA22-F86E-435F-8D6B-F3074CD8A3C5}" type="pres">
      <dgm:prSet presAssocID="{E85842D6-AEFD-4FF4-8DF0-F4DA1C935EAB}" presName="negativeSpace" presStyleCnt="0"/>
      <dgm:spPr/>
    </dgm:pt>
    <dgm:pt modelId="{B6830D4F-B22D-41E4-B06A-0544E07A5D4A}" type="pres">
      <dgm:prSet presAssocID="{E85842D6-AEFD-4FF4-8DF0-F4DA1C935EAB}" presName="childText" presStyleLbl="conFgAcc1" presStyleIdx="2" presStyleCnt="8">
        <dgm:presLayoutVars>
          <dgm:bulletEnabled val="1"/>
        </dgm:presLayoutVars>
      </dgm:prSet>
      <dgm:spPr/>
    </dgm:pt>
    <dgm:pt modelId="{ABCF42A6-3EB2-4A56-A74F-F4877AC31195}" type="pres">
      <dgm:prSet presAssocID="{CA5511E0-8638-4428-81D9-3D5A46130351}" presName="spaceBetweenRectangles" presStyleCnt="0"/>
      <dgm:spPr/>
    </dgm:pt>
    <dgm:pt modelId="{1F97B743-0668-41CD-90EB-9820E28BCAF5}" type="pres">
      <dgm:prSet presAssocID="{E12D6394-5B59-4ED2-B0E9-FB471F8FFD64}" presName="parentLin" presStyleCnt="0"/>
      <dgm:spPr/>
    </dgm:pt>
    <dgm:pt modelId="{8D9D871A-00C6-4BAF-B2EC-370345A6E3B6}" type="pres">
      <dgm:prSet presAssocID="{E12D6394-5B59-4ED2-B0E9-FB471F8FFD64}" presName="parentLeftMargin" presStyleLbl="node1" presStyleIdx="2" presStyleCnt="8"/>
      <dgm:spPr/>
    </dgm:pt>
    <dgm:pt modelId="{70967E9D-BDC0-4469-969B-07275929CBD2}" type="pres">
      <dgm:prSet presAssocID="{E12D6394-5B59-4ED2-B0E9-FB471F8FFD64}" presName="parentText" presStyleLbl="node1" presStyleIdx="3" presStyleCnt="8">
        <dgm:presLayoutVars>
          <dgm:chMax val="0"/>
          <dgm:bulletEnabled val="1"/>
        </dgm:presLayoutVars>
      </dgm:prSet>
      <dgm:spPr/>
    </dgm:pt>
    <dgm:pt modelId="{08FA1A76-2CE8-477E-867C-F31D39123B81}" type="pres">
      <dgm:prSet presAssocID="{E12D6394-5B59-4ED2-B0E9-FB471F8FFD64}" presName="negativeSpace" presStyleCnt="0"/>
      <dgm:spPr/>
    </dgm:pt>
    <dgm:pt modelId="{6FB3A4FB-C1B7-48D0-9C27-065F57DB53A1}" type="pres">
      <dgm:prSet presAssocID="{E12D6394-5B59-4ED2-B0E9-FB471F8FFD64}" presName="childText" presStyleLbl="conFgAcc1" presStyleIdx="3" presStyleCnt="8">
        <dgm:presLayoutVars>
          <dgm:bulletEnabled val="1"/>
        </dgm:presLayoutVars>
      </dgm:prSet>
      <dgm:spPr/>
    </dgm:pt>
    <dgm:pt modelId="{0C6ED458-FF3E-4C02-8114-C7631CFC898F}" type="pres">
      <dgm:prSet presAssocID="{D99EE236-721E-41C9-A2B6-82A6C5C28D10}" presName="spaceBetweenRectangles" presStyleCnt="0"/>
      <dgm:spPr/>
    </dgm:pt>
    <dgm:pt modelId="{945D7095-797D-4FDD-8D70-DB558636582E}" type="pres">
      <dgm:prSet presAssocID="{291F09F0-1ABC-489B-8EA1-643B67D27884}" presName="parentLin" presStyleCnt="0"/>
      <dgm:spPr/>
    </dgm:pt>
    <dgm:pt modelId="{54446AFF-5B3D-4829-A9CB-EDC07595F3E9}" type="pres">
      <dgm:prSet presAssocID="{291F09F0-1ABC-489B-8EA1-643B67D27884}" presName="parentLeftMargin" presStyleLbl="node1" presStyleIdx="3" presStyleCnt="8"/>
      <dgm:spPr/>
    </dgm:pt>
    <dgm:pt modelId="{847BBC85-0549-456B-ACD8-70199FB7CD1D}" type="pres">
      <dgm:prSet presAssocID="{291F09F0-1ABC-489B-8EA1-643B67D27884}" presName="parentText" presStyleLbl="node1" presStyleIdx="4" presStyleCnt="8">
        <dgm:presLayoutVars>
          <dgm:chMax val="0"/>
          <dgm:bulletEnabled val="1"/>
        </dgm:presLayoutVars>
      </dgm:prSet>
      <dgm:spPr/>
    </dgm:pt>
    <dgm:pt modelId="{E22B577A-76BA-4967-AAC9-CE480F68FA3B}" type="pres">
      <dgm:prSet presAssocID="{291F09F0-1ABC-489B-8EA1-643B67D27884}" presName="negativeSpace" presStyleCnt="0"/>
      <dgm:spPr/>
    </dgm:pt>
    <dgm:pt modelId="{52D3ACA3-0E6F-4561-B209-02FECFCFD43A}" type="pres">
      <dgm:prSet presAssocID="{291F09F0-1ABC-489B-8EA1-643B67D27884}" presName="childText" presStyleLbl="conFgAcc1" presStyleIdx="4" presStyleCnt="8">
        <dgm:presLayoutVars>
          <dgm:bulletEnabled val="1"/>
        </dgm:presLayoutVars>
      </dgm:prSet>
      <dgm:spPr/>
    </dgm:pt>
    <dgm:pt modelId="{2533AEFE-55E6-4105-9FA1-DED97F55B4B5}" type="pres">
      <dgm:prSet presAssocID="{269280DF-1791-4476-997B-2A61627FDE13}" presName="spaceBetweenRectangles" presStyleCnt="0"/>
      <dgm:spPr/>
    </dgm:pt>
    <dgm:pt modelId="{60E94BD6-3912-47D3-993A-2FCC570C8708}" type="pres">
      <dgm:prSet presAssocID="{5A75AD5F-0EBA-4EAD-92B9-03436690DBEB}" presName="parentLin" presStyleCnt="0"/>
      <dgm:spPr/>
    </dgm:pt>
    <dgm:pt modelId="{FB2510B5-159B-4F03-954E-847F05DE3F44}" type="pres">
      <dgm:prSet presAssocID="{5A75AD5F-0EBA-4EAD-92B9-03436690DBEB}" presName="parentLeftMargin" presStyleLbl="node1" presStyleIdx="4" presStyleCnt="8"/>
      <dgm:spPr/>
    </dgm:pt>
    <dgm:pt modelId="{DDC55A40-D09E-4472-BB34-B0516A397ECF}" type="pres">
      <dgm:prSet presAssocID="{5A75AD5F-0EBA-4EAD-92B9-03436690DBEB}" presName="parentText" presStyleLbl="node1" presStyleIdx="5" presStyleCnt="8">
        <dgm:presLayoutVars>
          <dgm:chMax val="0"/>
          <dgm:bulletEnabled val="1"/>
        </dgm:presLayoutVars>
      </dgm:prSet>
      <dgm:spPr/>
    </dgm:pt>
    <dgm:pt modelId="{0486E170-DFD0-42A2-81C2-1EE510AA2811}" type="pres">
      <dgm:prSet presAssocID="{5A75AD5F-0EBA-4EAD-92B9-03436690DBEB}" presName="negativeSpace" presStyleCnt="0"/>
      <dgm:spPr/>
    </dgm:pt>
    <dgm:pt modelId="{BE35B5A8-3323-45E7-920B-3DD872E0940C}" type="pres">
      <dgm:prSet presAssocID="{5A75AD5F-0EBA-4EAD-92B9-03436690DBEB}" presName="childText" presStyleLbl="conFgAcc1" presStyleIdx="5" presStyleCnt="8">
        <dgm:presLayoutVars>
          <dgm:bulletEnabled val="1"/>
        </dgm:presLayoutVars>
      </dgm:prSet>
      <dgm:spPr/>
    </dgm:pt>
    <dgm:pt modelId="{B746942B-244E-4B8F-A799-BD56110B020A}" type="pres">
      <dgm:prSet presAssocID="{6202E9FB-A142-441B-83AE-319297FD4DF5}" presName="spaceBetweenRectangles" presStyleCnt="0"/>
      <dgm:spPr/>
    </dgm:pt>
    <dgm:pt modelId="{E15C35CE-9521-4CC6-B729-006CE12AC378}" type="pres">
      <dgm:prSet presAssocID="{954F0B27-1DD3-4267-A4C8-10FA33984561}" presName="parentLin" presStyleCnt="0"/>
      <dgm:spPr/>
    </dgm:pt>
    <dgm:pt modelId="{C1820A55-14E3-4444-9AA0-B094FEA32F64}" type="pres">
      <dgm:prSet presAssocID="{954F0B27-1DD3-4267-A4C8-10FA33984561}" presName="parentLeftMargin" presStyleLbl="node1" presStyleIdx="5" presStyleCnt="8"/>
      <dgm:spPr/>
    </dgm:pt>
    <dgm:pt modelId="{F5C44245-0D92-4A0F-A744-9CB4B869FBF2}" type="pres">
      <dgm:prSet presAssocID="{954F0B27-1DD3-4267-A4C8-10FA33984561}" presName="parentText" presStyleLbl="node1" presStyleIdx="6" presStyleCnt="8">
        <dgm:presLayoutVars>
          <dgm:chMax val="0"/>
          <dgm:bulletEnabled val="1"/>
        </dgm:presLayoutVars>
      </dgm:prSet>
      <dgm:spPr/>
    </dgm:pt>
    <dgm:pt modelId="{FAFD2C68-8B14-4FAA-8A3F-F55795F656D4}" type="pres">
      <dgm:prSet presAssocID="{954F0B27-1DD3-4267-A4C8-10FA33984561}" presName="negativeSpace" presStyleCnt="0"/>
      <dgm:spPr/>
    </dgm:pt>
    <dgm:pt modelId="{C771D96D-286A-4AA4-A430-3ABAD58B0624}" type="pres">
      <dgm:prSet presAssocID="{954F0B27-1DD3-4267-A4C8-10FA33984561}" presName="childText" presStyleLbl="conFgAcc1" presStyleIdx="6" presStyleCnt="8">
        <dgm:presLayoutVars>
          <dgm:bulletEnabled val="1"/>
        </dgm:presLayoutVars>
      </dgm:prSet>
      <dgm:spPr/>
    </dgm:pt>
    <dgm:pt modelId="{C54BCF3F-E988-47E7-B87F-4CB73212E26C}" type="pres">
      <dgm:prSet presAssocID="{0675AC1B-A90F-4B61-A04A-73707904A09E}" presName="spaceBetweenRectangles" presStyleCnt="0"/>
      <dgm:spPr/>
    </dgm:pt>
    <dgm:pt modelId="{ECCA44C1-E76B-433D-8250-02D3F739D393}" type="pres">
      <dgm:prSet presAssocID="{C42D5886-AB05-495B-B921-C156C331E801}" presName="parentLin" presStyleCnt="0"/>
      <dgm:spPr/>
    </dgm:pt>
    <dgm:pt modelId="{35923146-8993-4258-AB82-8C75F1B1E526}" type="pres">
      <dgm:prSet presAssocID="{C42D5886-AB05-495B-B921-C156C331E801}" presName="parentLeftMargin" presStyleLbl="node1" presStyleIdx="6" presStyleCnt="8"/>
      <dgm:spPr/>
    </dgm:pt>
    <dgm:pt modelId="{308DF78D-1128-41CD-AA78-4E56D27D4086}" type="pres">
      <dgm:prSet presAssocID="{C42D5886-AB05-495B-B921-C156C331E801}" presName="parentText" presStyleLbl="node1" presStyleIdx="7" presStyleCnt="8">
        <dgm:presLayoutVars>
          <dgm:chMax val="0"/>
          <dgm:bulletEnabled val="1"/>
        </dgm:presLayoutVars>
      </dgm:prSet>
      <dgm:spPr/>
    </dgm:pt>
    <dgm:pt modelId="{E4BA84AD-4B39-4AFF-AC83-7936CAB41354}" type="pres">
      <dgm:prSet presAssocID="{C42D5886-AB05-495B-B921-C156C331E801}" presName="negativeSpace" presStyleCnt="0"/>
      <dgm:spPr/>
    </dgm:pt>
    <dgm:pt modelId="{54E7E739-D689-4114-A482-F6FCADB217C9}" type="pres">
      <dgm:prSet presAssocID="{C42D5886-AB05-495B-B921-C156C331E801}" presName="childText" presStyleLbl="conFgAcc1" presStyleIdx="7" presStyleCnt="8">
        <dgm:presLayoutVars>
          <dgm:bulletEnabled val="1"/>
        </dgm:presLayoutVars>
      </dgm:prSet>
      <dgm:spPr/>
    </dgm:pt>
  </dgm:ptLst>
  <dgm:cxnLst>
    <dgm:cxn modelId="{D981800C-1391-4ADA-B74A-9A4BD9C3E22C}" type="presOf" srcId="{C42D5886-AB05-495B-B921-C156C331E801}" destId="{308DF78D-1128-41CD-AA78-4E56D27D4086}" srcOrd="1" destOrd="0" presId="urn:microsoft.com/office/officeart/2005/8/layout/list1"/>
    <dgm:cxn modelId="{D6581319-1230-4E51-A8FA-ECF542F0A431}" srcId="{37152DE7-F159-4A03-93EA-FD2E46ED09A1}" destId="{D600B016-5DF8-467E-9075-42A049134471}" srcOrd="0" destOrd="0" parTransId="{971178DC-3B5C-43BC-952F-8EB39DB61806}" sibTransId="{ED71A749-D2C7-4B59-BD42-84A4E585361A}"/>
    <dgm:cxn modelId="{27C8F51B-DBF7-49F5-82BF-04782DDBD8F4}" type="presOf" srcId="{291F09F0-1ABC-489B-8EA1-643B67D27884}" destId="{847BBC85-0549-456B-ACD8-70199FB7CD1D}" srcOrd="1" destOrd="0" presId="urn:microsoft.com/office/officeart/2005/8/layout/list1"/>
    <dgm:cxn modelId="{65100D1E-F9B1-4F23-8F4E-649600D4E98F}" type="presOf" srcId="{18C05601-8659-40F4-BE1E-0DE715164F34}" destId="{8B8FE4D3-7892-4707-B8B6-B5DEF06702EB}" srcOrd="1" destOrd="0" presId="urn:microsoft.com/office/officeart/2005/8/layout/list1"/>
    <dgm:cxn modelId="{C30ED321-3D73-4793-AC0A-AD7FD6C09259}" type="presOf" srcId="{D600B016-5DF8-467E-9075-42A049134471}" destId="{2A66CEB2-7766-40B1-AE2F-721C7C93C650}" srcOrd="1" destOrd="0" presId="urn:microsoft.com/office/officeart/2005/8/layout/list1"/>
    <dgm:cxn modelId="{04655431-27DA-4452-848A-C901478CC8A0}" type="presOf" srcId="{D600B016-5DF8-467E-9075-42A049134471}" destId="{AB97C760-6400-472E-96F0-8DA87E657FC3}" srcOrd="0" destOrd="0" presId="urn:microsoft.com/office/officeart/2005/8/layout/list1"/>
    <dgm:cxn modelId="{60151D3C-8808-4E5B-97CD-A7213BC9B529}" type="presOf" srcId="{37152DE7-F159-4A03-93EA-FD2E46ED09A1}" destId="{1C2E5246-6C30-4941-BC2A-597CCEA8E914}" srcOrd="0" destOrd="0" presId="urn:microsoft.com/office/officeart/2005/8/layout/list1"/>
    <dgm:cxn modelId="{0024EC5B-2B21-4E00-B11C-A43928FE83DD}" type="presOf" srcId="{18C05601-8659-40F4-BE1E-0DE715164F34}" destId="{65E43230-C9E8-4D58-A61B-36D001F47111}" srcOrd="0" destOrd="0" presId="urn:microsoft.com/office/officeart/2005/8/layout/list1"/>
    <dgm:cxn modelId="{909C0066-F372-42A6-8971-193560581AF4}" srcId="{37152DE7-F159-4A03-93EA-FD2E46ED09A1}" destId="{954F0B27-1DD3-4267-A4C8-10FA33984561}" srcOrd="6" destOrd="0" parTransId="{2AB7E8E9-1E49-4DCF-B6C3-F30B019C24CF}" sibTransId="{0675AC1B-A90F-4B61-A04A-73707904A09E}"/>
    <dgm:cxn modelId="{CC51604F-E783-4732-B03C-9B08745C6086}" type="presOf" srcId="{E85842D6-AEFD-4FF4-8DF0-F4DA1C935EAB}" destId="{2307BAFC-0AB1-401D-BF4F-FCF56B3CACD2}" srcOrd="0" destOrd="0" presId="urn:microsoft.com/office/officeart/2005/8/layout/list1"/>
    <dgm:cxn modelId="{AC6A2272-24D8-47CE-A604-924CF819DA6F}" type="presOf" srcId="{5A75AD5F-0EBA-4EAD-92B9-03436690DBEB}" destId="{FB2510B5-159B-4F03-954E-847F05DE3F44}" srcOrd="0" destOrd="0" presId="urn:microsoft.com/office/officeart/2005/8/layout/list1"/>
    <dgm:cxn modelId="{F4C0F555-FD2E-42DD-9536-B0AAF9F8A075}" type="presOf" srcId="{E85842D6-AEFD-4FF4-8DF0-F4DA1C935EAB}" destId="{203AEAF5-A99D-4FBA-8F5B-8929A0B17185}" srcOrd="1" destOrd="0" presId="urn:microsoft.com/office/officeart/2005/8/layout/list1"/>
    <dgm:cxn modelId="{8919B17F-5DD2-438C-A077-8B4434E0AFE3}" type="presOf" srcId="{954F0B27-1DD3-4267-A4C8-10FA33984561}" destId="{F5C44245-0D92-4A0F-A744-9CB4B869FBF2}" srcOrd="1" destOrd="0" presId="urn:microsoft.com/office/officeart/2005/8/layout/list1"/>
    <dgm:cxn modelId="{882FD699-5F4D-47F2-87A5-3D26DB55AE75}" srcId="{37152DE7-F159-4A03-93EA-FD2E46ED09A1}" destId="{18C05601-8659-40F4-BE1E-0DE715164F34}" srcOrd="1" destOrd="0" parTransId="{41478EC1-0EAF-4F90-97FD-CBE1817CA7F7}" sibTransId="{022B4AF3-894F-4884-8255-C039E4B8EB54}"/>
    <dgm:cxn modelId="{6DDC02A4-F099-4118-8DF7-38ABDCF1588D}" type="presOf" srcId="{E12D6394-5B59-4ED2-B0E9-FB471F8FFD64}" destId="{70967E9D-BDC0-4469-969B-07275929CBD2}" srcOrd="1" destOrd="0" presId="urn:microsoft.com/office/officeart/2005/8/layout/list1"/>
    <dgm:cxn modelId="{486003A4-DCD0-4CAB-B6C6-34C47E0A866A}" type="presOf" srcId="{E12D6394-5B59-4ED2-B0E9-FB471F8FFD64}" destId="{8D9D871A-00C6-4BAF-B2EC-370345A6E3B6}" srcOrd="0" destOrd="0" presId="urn:microsoft.com/office/officeart/2005/8/layout/list1"/>
    <dgm:cxn modelId="{A2595AA4-0D32-4536-B4B5-0D0612D089F6}" srcId="{37152DE7-F159-4A03-93EA-FD2E46ED09A1}" destId="{291F09F0-1ABC-489B-8EA1-643B67D27884}" srcOrd="4" destOrd="0" parTransId="{BBA78A90-07B2-44CE-8238-69B7C3CFC8AB}" sibTransId="{269280DF-1791-4476-997B-2A61627FDE13}"/>
    <dgm:cxn modelId="{FA7D2DA7-4D50-4459-962B-9386F462FB97}" type="presOf" srcId="{5A75AD5F-0EBA-4EAD-92B9-03436690DBEB}" destId="{DDC55A40-D09E-4472-BB34-B0516A397ECF}" srcOrd="1" destOrd="0" presId="urn:microsoft.com/office/officeart/2005/8/layout/list1"/>
    <dgm:cxn modelId="{70CF3FA9-B79F-48CD-B4AA-7321D630D7D0}" type="presOf" srcId="{C42D5886-AB05-495B-B921-C156C331E801}" destId="{35923146-8993-4258-AB82-8C75F1B1E526}" srcOrd="0" destOrd="0" presId="urn:microsoft.com/office/officeart/2005/8/layout/list1"/>
    <dgm:cxn modelId="{CEC718CD-220E-4361-A581-CE05A29193F7}" type="presOf" srcId="{954F0B27-1DD3-4267-A4C8-10FA33984561}" destId="{C1820A55-14E3-4444-9AA0-B094FEA32F64}" srcOrd="0" destOrd="0" presId="urn:microsoft.com/office/officeart/2005/8/layout/list1"/>
    <dgm:cxn modelId="{2ABA39D6-0538-48B4-A8CE-AEB24CB3E767}" srcId="{37152DE7-F159-4A03-93EA-FD2E46ED09A1}" destId="{C42D5886-AB05-495B-B921-C156C331E801}" srcOrd="7" destOrd="0" parTransId="{51CEF428-1257-4D9A-981F-E8D9954F627E}" sibTransId="{2DEC1B8F-0F8B-4EA4-9DEC-BB19183F2587}"/>
    <dgm:cxn modelId="{345B14E1-9AA1-4639-A845-5DFB82669254}" srcId="{37152DE7-F159-4A03-93EA-FD2E46ED09A1}" destId="{5A75AD5F-0EBA-4EAD-92B9-03436690DBEB}" srcOrd="5" destOrd="0" parTransId="{5E3EEC73-20B7-42DB-8501-735C19460321}" sibTransId="{6202E9FB-A142-441B-83AE-319297FD4DF5}"/>
    <dgm:cxn modelId="{A8E7F5E7-6114-49C0-8063-6B54A1F42A6D}" srcId="{37152DE7-F159-4A03-93EA-FD2E46ED09A1}" destId="{E85842D6-AEFD-4FF4-8DF0-F4DA1C935EAB}" srcOrd="2" destOrd="0" parTransId="{6836CA4A-54F2-4C50-9332-970385EDBC4B}" sibTransId="{CA5511E0-8638-4428-81D9-3D5A46130351}"/>
    <dgm:cxn modelId="{CD0EEAF2-6042-4ED2-8AAF-BBB0C418B3FB}" srcId="{37152DE7-F159-4A03-93EA-FD2E46ED09A1}" destId="{E12D6394-5B59-4ED2-B0E9-FB471F8FFD64}" srcOrd="3" destOrd="0" parTransId="{BF94BBDB-E466-496D-8E01-61379AFCA934}" sibTransId="{D99EE236-721E-41C9-A2B6-82A6C5C28D10}"/>
    <dgm:cxn modelId="{7D39CAFB-EBB7-496E-91FB-FE7FA0A4C838}" type="presOf" srcId="{291F09F0-1ABC-489B-8EA1-643B67D27884}" destId="{54446AFF-5B3D-4829-A9CB-EDC07595F3E9}" srcOrd="0" destOrd="0" presId="urn:microsoft.com/office/officeart/2005/8/layout/list1"/>
    <dgm:cxn modelId="{9C48562F-3052-4C15-8632-2DBAC6DCA214}" type="presParOf" srcId="{1C2E5246-6C30-4941-BC2A-597CCEA8E914}" destId="{CAF560F5-334E-4694-A6B9-220E5D628AE0}" srcOrd="0" destOrd="0" presId="urn:microsoft.com/office/officeart/2005/8/layout/list1"/>
    <dgm:cxn modelId="{97467408-8C33-46AE-BF0F-C50A31E69B46}" type="presParOf" srcId="{CAF560F5-334E-4694-A6B9-220E5D628AE0}" destId="{AB97C760-6400-472E-96F0-8DA87E657FC3}" srcOrd="0" destOrd="0" presId="urn:microsoft.com/office/officeart/2005/8/layout/list1"/>
    <dgm:cxn modelId="{CA093E9E-9B9F-4A1A-A326-300125CCE59B}" type="presParOf" srcId="{CAF560F5-334E-4694-A6B9-220E5D628AE0}" destId="{2A66CEB2-7766-40B1-AE2F-721C7C93C650}" srcOrd="1" destOrd="0" presId="urn:microsoft.com/office/officeart/2005/8/layout/list1"/>
    <dgm:cxn modelId="{6228F4C2-0115-4535-A952-C3C87C21D0C7}" type="presParOf" srcId="{1C2E5246-6C30-4941-BC2A-597CCEA8E914}" destId="{9946AD1D-361E-459F-8DE4-E5A81CE53355}" srcOrd="1" destOrd="0" presId="urn:microsoft.com/office/officeart/2005/8/layout/list1"/>
    <dgm:cxn modelId="{F6E5C332-8AFB-402C-BF4A-41AE907475BF}" type="presParOf" srcId="{1C2E5246-6C30-4941-BC2A-597CCEA8E914}" destId="{F696A73F-DA69-4D54-A611-A29800F2EA6E}" srcOrd="2" destOrd="0" presId="urn:microsoft.com/office/officeart/2005/8/layout/list1"/>
    <dgm:cxn modelId="{3B6146C4-F8D4-4F1C-8AA0-03424E12A0B1}" type="presParOf" srcId="{1C2E5246-6C30-4941-BC2A-597CCEA8E914}" destId="{9E8393C4-EB4B-4716-975D-CF40398888B0}" srcOrd="3" destOrd="0" presId="urn:microsoft.com/office/officeart/2005/8/layout/list1"/>
    <dgm:cxn modelId="{837F5FA5-9336-4D88-81A5-746773816D3E}" type="presParOf" srcId="{1C2E5246-6C30-4941-BC2A-597CCEA8E914}" destId="{548715B2-4C5B-4D07-8E97-55E045A81F3B}" srcOrd="4" destOrd="0" presId="urn:microsoft.com/office/officeart/2005/8/layout/list1"/>
    <dgm:cxn modelId="{8DE8D184-F9F3-4880-BF37-F7C796680380}" type="presParOf" srcId="{548715B2-4C5B-4D07-8E97-55E045A81F3B}" destId="{65E43230-C9E8-4D58-A61B-36D001F47111}" srcOrd="0" destOrd="0" presId="urn:microsoft.com/office/officeart/2005/8/layout/list1"/>
    <dgm:cxn modelId="{1687D7A7-8310-4B23-9A9B-469C468392A3}" type="presParOf" srcId="{548715B2-4C5B-4D07-8E97-55E045A81F3B}" destId="{8B8FE4D3-7892-4707-B8B6-B5DEF06702EB}" srcOrd="1" destOrd="0" presId="urn:microsoft.com/office/officeart/2005/8/layout/list1"/>
    <dgm:cxn modelId="{07D7391E-32FD-400B-8B30-FD94BE03CD6D}" type="presParOf" srcId="{1C2E5246-6C30-4941-BC2A-597CCEA8E914}" destId="{264112FF-834D-41CE-9337-B975C39E2F07}" srcOrd="5" destOrd="0" presId="urn:microsoft.com/office/officeart/2005/8/layout/list1"/>
    <dgm:cxn modelId="{AAE5792C-9714-4147-8494-3F12CA0AC443}" type="presParOf" srcId="{1C2E5246-6C30-4941-BC2A-597CCEA8E914}" destId="{413E28A5-66DB-411D-9CB0-07DE32680199}" srcOrd="6" destOrd="0" presId="urn:microsoft.com/office/officeart/2005/8/layout/list1"/>
    <dgm:cxn modelId="{3CA4ABA0-9CB6-45DC-9782-1A8879FEAD10}" type="presParOf" srcId="{1C2E5246-6C30-4941-BC2A-597CCEA8E914}" destId="{DF757DF6-0C61-4BEE-A12D-D826D5814ED9}" srcOrd="7" destOrd="0" presId="urn:microsoft.com/office/officeart/2005/8/layout/list1"/>
    <dgm:cxn modelId="{6804E3E9-B196-4D9F-8FBF-D8AE45A345A0}" type="presParOf" srcId="{1C2E5246-6C30-4941-BC2A-597CCEA8E914}" destId="{5EDEEC62-2069-4B21-9193-4CC4776FC414}" srcOrd="8" destOrd="0" presId="urn:microsoft.com/office/officeart/2005/8/layout/list1"/>
    <dgm:cxn modelId="{306F6D7B-4329-4A38-A6E8-89AB730D8C01}" type="presParOf" srcId="{5EDEEC62-2069-4B21-9193-4CC4776FC414}" destId="{2307BAFC-0AB1-401D-BF4F-FCF56B3CACD2}" srcOrd="0" destOrd="0" presId="urn:microsoft.com/office/officeart/2005/8/layout/list1"/>
    <dgm:cxn modelId="{C612838E-1DC4-4323-B9CA-F64E884B0D91}" type="presParOf" srcId="{5EDEEC62-2069-4B21-9193-4CC4776FC414}" destId="{203AEAF5-A99D-4FBA-8F5B-8929A0B17185}" srcOrd="1" destOrd="0" presId="urn:microsoft.com/office/officeart/2005/8/layout/list1"/>
    <dgm:cxn modelId="{0FF01CA5-0411-4945-A690-E9FCE7BEE026}" type="presParOf" srcId="{1C2E5246-6C30-4941-BC2A-597CCEA8E914}" destId="{23ABDA22-F86E-435F-8D6B-F3074CD8A3C5}" srcOrd="9" destOrd="0" presId="urn:microsoft.com/office/officeart/2005/8/layout/list1"/>
    <dgm:cxn modelId="{451A19DF-DE4A-4A55-93D8-33849B5B22E1}" type="presParOf" srcId="{1C2E5246-6C30-4941-BC2A-597CCEA8E914}" destId="{B6830D4F-B22D-41E4-B06A-0544E07A5D4A}" srcOrd="10" destOrd="0" presId="urn:microsoft.com/office/officeart/2005/8/layout/list1"/>
    <dgm:cxn modelId="{DB671B7B-085F-4373-A911-3DDAC232F466}" type="presParOf" srcId="{1C2E5246-6C30-4941-BC2A-597CCEA8E914}" destId="{ABCF42A6-3EB2-4A56-A74F-F4877AC31195}" srcOrd="11" destOrd="0" presId="urn:microsoft.com/office/officeart/2005/8/layout/list1"/>
    <dgm:cxn modelId="{1FA4E9E2-3C85-402B-8F48-DA89A3AD9699}" type="presParOf" srcId="{1C2E5246-6C30-4941-BC2A-597CCEA8E914}" destId="{1F97B743-0668-41CD-90EB-9820E28BCAF5}" srcOrd="12" destOrd="0" presId="urn:microsoft.com/office/officeart/2005/8/layout/list1"/>
    <dgm:cxn modelId="{086F8179-682E-4041-A851-2A7D15667876}" type="presParOf" srcId="{1F97B743-0668-41CD-90EB-9820E28BCAF5}" destId="{8D9D871A-00C6-4BAF-B2EC-370345A6E3B6}" srcOrd="0" destOrd="0" presId="urn:microsoft.com/office/officeart/2005/8/layout/list1"/>
    <dgm:cxn modelId="{4732F92A-5DDF-498E-BA3A-4AFDA3D3C419}" type="presParOf" srcId="{1F97B743-0668-41CD-90EB-9820E28BCAF5}" destId="{70967E9D-BDC0-4469-969B-07275929CBD2}" srcOrd="1" destOrd="0" presId="urn:microsoft.com/office/officeart/2005/8/layout/list1"/>
    <dgm:cxn modelId="{523A2EA3-7682-4F7A-B37F-75F7CF349F11}" type="presParOf" srcId="{1C2E5246-6C30-4941-BC2A-597CCEA8E914}" destId="{08FA1A76-2CE8-477E-867C-F31D39123B81}" srcOrd="13" destOrd="0" presId="urn:microsoft.com/office/officeart/2005/8/layout/list1"/>
    <dgm:cxn modelId="{4B7CBCDC-D90C-433A-95F6-2EA0FF23E296}" type="presParOf" srcId="{1C2E5246-6C30-4941-BC2A-597CCEA8E914}" destId="{6FB3A4FB-C1B7-48D0-9C27-065F57DB53A1}" srcOrd="14" destOrd="0" presId="urn:microsoft.com/office/officeart/2005/8/layout/list1"/>
    <dgm:cxn modelId="{192F1DF4-6241-4042-BD8E-DA96C6D29126}" type="presParOf" srcId="{1C2E5246-6C30-4941-BC2A-597CCEA8E914}" destId="{0C6ED458-FF3E-4C02-8114-C7631CFC898F}" srcOrd="15" destOrd="0" presId="urn:microsoft.com/office/officeart/2005/8/layout/list1"/>
    <dgm:cxn modelId="{0E6B6920-0DFA-4057-87A0-BF076CF9D1AB}" type="presParOf" srcId="{1C2E5246-6C30-4941-BC2A-597CCEA8E914}" destId="{945D7095-797D-4FDD-8D70-DB558636582E}" srcOrd="16" destOrd="0" presId="urn:microsoft.com/office/officeart/2005/8/layout/list1"/>
    <dgm:cxn modelId="{765FBC90-BAAD-409A-A9EF-8D649585A6FB}" type="presParOf" srcId="{945D7095-797D-4FDD-8D70-DB558636582E}" destId="{54446AFF-5B3D-4829-A9CB-EDC07595F3E9}" srcOrd="0" destOrd="0" presId="urn:microsoft.com/office/officeart/2005/8/layout/list1"/>
    <dgm:cxn modelId="{34342287-81D1-4041-8F98-1B86D1CBBA69}" type="presParOf" srcId="{945D7095-797D-4FDD-8D70-DB558636582E}" destId="{847BBC85-0549-456B-ACD8-70199FB7CD1D}" srcOrd="1" destOrd="0" presId="urn:microsoft.com/office/officeart/2005/8/layout/list1"/>
    <dgm:cxn modelId="{E190A827-3DE2-41B7-B15C-D9919C2DBF22}" type="presParOf" srcId="{1C2E5246-6C30-4941-BC2A-597CCEA8E914}" destId="{E22B577A-76BA-4967-AAC9-CE480F68FA3B}" srcOrd="17" destOrd="0" presId="urn:microsoft.com/office/officeart/2005/8/layout/list1"/>
    <dgm:cxn modelId="{4B13FE34-982F-43AF-B50F-FE340223638E}" type="presParOf" srcId="{1C2E5246-6C30-4941-BC2A-597CCEA8E914}" destId="{52D3ACA3-0E6F-4561-B209-02FECFCFD43A}" srcOrd="18" destOrd="0" presId="urn:microsoft.com/office/officeart/2005/8/layout/list1"/>
    <dgm:cxn modelId="{3279119E-5257-4877-84E5-3C8DFBDFFDC1}" type="presParOf" srcId="{1C2E5246-6C30-4941-BC2A-597CCEA8E914}" destId="{2533AEFE-55E6-4105-9FA1-DED97F55B4B5}" srcOrd="19" destOrd="0" presId="urn:microsoft.com/office/officeart/2005/8/layout/list1"/>
    <dgm:cxn modelId="{24BBBB0F-6AAD-46DC-83EA-17520A2555C4}" type="presParOf" srcId="{1C2E5246-6C30-4941-BC2A-597CCEA8E914}" destId="{60E94BD6-3912-47D3-993A-2FCC570C8708}" srcOrd="20" destOrd="0" presId="urn:microsoft.com/office/officeart/2005/8/layout/list1"/>
    <dgm:cxn modelId="{C4FBA001-B071-485A-B72E-69224D1D8ABB}" type="presParOf" srcId="{60E94BD6-3912-47D3-993A-2FCC570C8708}" destId="{FB2510B5-159B-4F03-954E-847F05DE3F44}" srcOrd="0" destOrd="0" presId="urn:microsoft.com/office/officeart/2005/8/layout/list1"/>
    <dgm:cxn modelId="{3D197347-C3B1-456B-BD0C-71E5927AAF20}" type="presParOf" srcId="{60E94BD6-3912-47D3-993A-2FCC570C8708}" destId="{DDC55A40-D09E-4472-BB34-B0516A397ECF}" srcOrd="1" destOrd="0" presId="urn:microsoft.com/office/officeart/2005/8/layout/list1"/>
    <dgm:cxn modelId="{01A2E8DA-8A8B-48B5-B6D7-A7F429AE714F}" type="presParOf" srcId="{1C2E5246-6C30-4941-BC2A-597CCEA8E914}" destId="{0486E170-DFD0-42A2-81C2-1EE510AA2811}" srcOrd="21" destOrd="0" presId="urn:microsoft.com/office/officeart/2005/8/layout/list1"/>
    <dgm:cxn modelId="{42E43BBE-F5CF-4C7A-BD8E-F5C4E6939449}" type="presParOf" srcId="{1C2E5246-6C30-4941-BC2A-597CCEA8E914}" destId="{BE35B5A8-3323-45E7-920B-3DD872E0940C}" srcOrd="22" destOrd="0" presId="urn:microsoft.com/office/officeart/2005/8/layout/list1"/>
    <dgm:cxn modelId="{C615E5C0-A2CA-41C4-80EF-F06FDE75D547}" type="presParOf" srcId="{1C2E5246-6C30-4941-BC2A-597CCEA8E914}" destId="{B746942B-244E-4B8F-A799-BD56110B020A}" srcOrd="23" destOrd="0" presId="urn:microsoft.com/office/officeart/2005/8/layout/list1"/>
    <dgm:cxn modelId="{F9B0F097-36FE-490E-AE00-ECFD6B232BE0}" type="presParOf" srcId="{1C2E5246-6C30-4941-BC2A-597CCEA8E914}" destId="{E15C35CE-9521-4CC6-B729-006CE12AC378}" srcOrd="24" destOrd="0" presId="urn:microsoft.com/office/officeart/2005/8/layout/list1"/>
    <dgm:cxn modelId="{AFCE2518-AD30-4854-A904-1BCB9666415B}" type="presParOf" srcId="{E15C35CE-9521-4CC6-B729-006CE12AC378}" destId="{C1820A55-14E3-4444-9AA0-B094FEA32F64}" srcOrd="0" destOrd="0" presId="urn:microsoft.com/office/officeart/2005/8/layout/list1"/>
    <dgm:cxn modelId="{4F84C5BF-F518-4F80-991D-F87C19692B9C}" type="presParOf" srcId="{E15C35CE-9521-4CC6-B729-006CE12AC378}" destId="{F5C44245-0D92-4A0F-A744-9CB4B869FBF2}" srcOrd="1" destOrd="0" presId="urn:microsoft.com/office/officeart/2005/8/layout/list1"/>
    <dgm:cxn modelId="{3FEE56B9-0581-43AD-B702-C95E32136D4E}" type="presParOf" srcId="{1C2E5246-6C30-4941-BC2A-597CCEA8E914}" destId="{FAFD2C68-8B14-4FAA-8A3F-F55795F656D4}" srcOrd="25" destOrd="0" presId="urn:microsoft.com/office/officeart/2005/8/layout/list1"/>
    <dgm:cxn modelId="{7C40D7F9-BD8D-4E4D-9675-9C8C111E47F4}" type="presParOf" srcId="{1C2E5246-6C30-4941-BC2A-597CCEA8E914}" destId="{C771D96D-286A-4AA4-A430-3ABAD58B0624}" srcOrd="26" destOrd="0" presId="urn:microsoft.com/office/officeart/2005/8/layout/list1"/>
    <dgm:cxn modelId="{B05792E3-6CBD-49D7-B0E4-840C9A1DB262}" type="presParOf" srcId="{1C2E5246-6C30-4941-BC2A-597CCEA8E914}" destId="{C54BCF3F-E988-47E7-B87F-4CB73212E26C}" srcOrd="27" destOrd="0" presId="urn:microsoft.com/office/officeart/2005/8/layout/list1"/>
    <dgm:cxn modelId="{7B08E2B5-40AE-4696-9960-0FFAA3DCDAF8}" type="presParOf" srcId="{1C2E5246-6C30-4941-BC2A-597CCEA8E914}" destId="{ECCA44C1-E76B-433D-8250-02D3F739D393}" srcOrd="28" destOrd="0" presId="urn:microsoft.com/office/officeart/2005/8/layout/list1"/>
    <dgm:cxn modelId="{7972B4A5-D376-45A1-BB5D-E02893AD9ED2}" type="presParOf" srcId="{ECCA44C1-E76B-433D-8250-02D3F739D393}" destId="{35923146-8993-4258-AB82-8C75F1B1E526}" srcOrd="0" destOrd="0" presId="urn:microsoft.com/office/officeart/2005/8/layout/list1"/>
    <dgm:cxn modelId="{BBA8C6EE-9EF9-46B5-A8CB-9F051697FC58}" type="presParOf" srcId="{ECCA44C1-E76B-433D-8250-02D3F739D393}" destId="{308DF78D-1128-41CD-AA78-4E56D27D4086}" srcOrd="1" destOrd="0" presId="urn:microsoft.com/office/officeart/2005/8/layout/list1"/>
    <dgm:cxn modelId="{FD4D50B1-DA3D-4B43-AC30-F6EF9E48B26A}" type="presParOf" srcId="{1C2E5246-6C30-4941-BC2A-597CCEA8E914}" destId="{E4BA84AD-4B39-4AFF-AC83-7936CAB41354}" srcOrd="29" destOrd="0" presId="urn:microsoft.com/office/officeart/2005/8/layout/list1"/>
    <dgm:cxn modelId="{5333829E-B453-4D7F-A9DE-80AA8D97AF11}" type="presParOf" srcId="{1C2E5246-6C30-4941-BC2A-597CCEA8E914}" destId="{54E7E739-D689-4114-A482-F6FCADB217C9}" srcOrd="3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96A73F-DA69-4D54-A611-A29800F2EA6E}">
      <dsp:nvSpPr>
        <dsp:cNvPr id="0" name=""/>
        <dsp:cNvSpPr/>
      </dsp:nvSpPr>
      <dsp:spPr>
        <a:xfrm>
          <a:off x="0" y="343320"/>
          <a:ext cx="7351520" cy="302400"/>
        </a:xfrm>
        <a:prstGeom prst="rect">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A66CEB2-7766-40B1-AE2F-721C7C93C650}">
      <dsp:nvSpPr>
        <dsp:cNvPr id="0" name=""/>
        <dsp:cNvSpPr/>
      </dsp:nvSpPr>
      <dsp:spPr>
        <a:xfrm>
          <a:off x="367576" y="166200"/>
          <a:ext cx="5146064" cy="35424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509" tIns="0" rIns="194509" bIns="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Abstract</a:t>
          </a:r>
          <a:endParaRPr lang="en-US" sz="1600" kern="1200" dirty="0"/>
        </a:p>
      </dsp:txBody>
      <dsp:txXfrm>
        <a:off x="384869" y="183493"/>
        <a:ext cx="5111478" cy="319654"/>
      </dsp:txXfrm>
    </dsp:sp>
    <dsp:sp modelId="{413E28A5-66DB-411D-9CB0-07DE32680199}">
      <dsp:nvSpPr>
        <dsp:cNvPr id="0" name=""/>
        <dsp:cNvSpPr/>
      </dsp:nvSpPr>
      <dsp:spPr>
        <a:xfrm>
          <a:off x="0" y="887640"/>
          <a:ext cx="7351520" cy="302400"/>
        </a:xfrm>
        <a:prstGeom prst="rect">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8FE4D3-7892-4707-B8B6-B5DEF06702EB}">
      <dsp:nvSpPr>
        <dsp:cNvPr id="0" name=""/>
        <dsp:cNvSpPr/>
      </dsp:nvSpPr>
      <dsp:spPr>
        <a:xfrm>
          <a:off x="367576" y="710520"/>
          <a:ext cx="5146064" cy="35424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509" tIns="0" rIns="194509" bIns="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Problem Statement </a:t>
          </a:r>
          <a:endParaRPr lang="en-US" sz="1600" kern="1200" dirty="0"/>
        </a:p>
      </dsp:txBody>
      <dsp:txXfrm>
        <a:off x="384869" y="727813"/>
        <a:ext cx="5111478" cy="319654"/>
      </dsp:txXfrm>
    </dsp:sp>
    <dsp:sp modelId="{B6830D4F-B22D-41E4-B06A-0544E07A5D4A}">
      <dsp:nvSpPr>
        <dsp:cNvPr id="0" name=""/>
        <dsp:cNvSpPr/>
      </dsp:nvSpPr>
      <dsp:spPr>
        <a:xfrm>
          <a:off x="0" y="1431960"/>
          <a:ext cx="7351520" cy="302400"/>
        </a:xfrm>
        <a:prstGeom prst="rect">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3AEAF5-A99D-4FBA-8F5B-8929A0B17185}">
      <dsp:nvSpPr>
        <dsp:cNvPr id="0" name=""/>
        <dsp:cNvSpPr/>
      </dsp:nvSpPr>
      <dsp:spPr>
        <a:xfrm>
          <a:off x="367576" y="1254840"/>
          <a:ext cx="5146064" cy="35424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509" tIns="0" rIns="194509" bIns="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Objectives </a:t>
          </a:r>
          <a:endParaRPr lang="en-US" sz="1600" kern="1200" dirty="0"/>
        </a:p>
      </dsp:txBody>
      <dsp:txXfrm>
        <a:off x="384869" y="1272133"/>
        <a:ext cx="5111478" cy="319654"/>
      </dsp:txXfrm>
    </dsp:sp>
    <dsp:sp modelId="{6FB3A4FB-C1B7-48D0-9C27-065F57DB53A1}">
      <dsp:nvSpPr>
        <dsp:cNvPr id="0" name=""/>
        <dsp:cNvSpPr/>
      </dsp:nvSpPr>
      <dsp:spPr>
        <a:xfrm>
          <a:off x="0" y="1976279"/>
          <a:ext cx="7351520" cy="302400"/>
        </a:xfrm>
        <a:prstGeom prst="rect">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0967E9D-BDC0-4469-969B-07275929CBD2}">
      <dsp:nvSpPr>
        <dsp:cNvPr id="0" name=""/>
        <dsp:cNvSpPr/>
      </dsp:nvSpPr>
      <dsp:spPr>
        <a:xfrm>
          <a:off x="367576" y="1799160"/>
          <a:ext cx="5146064" cy="35424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509" tIns="0" rIns="194509" bIns="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Literature Review </a:t>
          </a:r>
          <a:endParaRPr lang="en-US" sz="1600" kern="1200" dirty="0"/>
        </a:p>
      </dsp:txBody>
      <dsp:txXfrm>
        <a:off x="384869" y="1816453"/>
        <a:ext cx="5111478" cy="319654"/>
      </dsp:txXfrm>
    </dsp:sp>
    <dsp:sp modelId="{52D3ACA3-0E6F-4561-B209-02FECFCFD43A}">
      <dsp:nvSpPr>
        <dsp:cNvPr id="0" name=""/>
        <dsp:cNvSpPr/>
      </dsp:nvSpPr>
      <dsp:spPr>
        <a:xfrm>
          <a:off x="0" y="2520599"/>
          <a:ext cx="7351520" cy="302400"/>
        </a:xfrm>
        <a:prstGeom prst="rect">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47BBC85-0549-456B-ACD8-70199FB7CD1D}">
      <dsp:nvSpPr>
        <dsp:cNvPr id="0" name=""/>
        <dsp:cNvSpPr/>
      </dsp:nvSpPr>
      <dsp:spPr>
        <a:xfrm>
          <a:off x="367576" y="2343479"/>
          <a:ext cx="5146064" cy="35424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509" tIns="0" rIns="194509" bIns="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Existing Idea </a:t>
          </a:r>
          <a:endParaRPr lang="en-US" sz="1600" kern="1200" dirty="0"/>
        </a:p>
      </dsp:txBody>
      <dsp:txXfrm>
        <a:off x="384869" y="2360772"/>
        <a:ext cx="5111478" cy="319654"/>
      </dsp:txXfrm>
    </dsp:sp>
    <dsp:sp modelId="{BE35B5A8-3323-45E7-920B-3DD872E0940C}">
      <dsp:nvSpPr>
        <dsp:cNvPr id="0" name=""/>
        <dsp:cNvSpPr/>
      </dsp:nvSpPr>
      <dsp:spPr>
        <a:xfrm>
          <a:off x="0" y="3064919"/>
          <a:ext cx="7351520" cy="302400"/>
        </a:xfrm>
        <a:prstGeom prst="rect">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DC55A40-D09E-4472-BB34-B0516A397ECF}">
      <dsp:nvSpPr>
        <dsp:cNvPr id="0" name=""/>
        <dsp:cNvSpPr/>
      </dsp:nvSpPr>
      <dsp:spPr>
        <a:xfrm>
          <a:off x="367576" y="2887799"/>
          <a:ext cx="5146064" cy="35424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509" tIns="0" rIns="194509" bIns="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Proposed Methodology </a:t>
          </a:r>
          <a:endParaRPr lang="en-US" sz="1600" kern="1200" dirty="0"/>
        </a:p>
      </dsp:txBody>
      <dsp:txXfrm>
        <a:off x="384869" y="2905092"/>
        <a:ext cx="5111478" cy="319654"/>
      </dsp:txXfrm>
    </dsp:sp>
    <dsp:sp modelId="{C771D96D-286A-4AA4-A430-3ABAD58B0624}">
      <dsp:nvSpPr>
        <dsp:cNvPr id="0" name=""/>
        <dsp:cNvSpPr/>
      </dsp:nvSpPr>
      <dsp:spPr>
        <a:xfrm>
          <a:off x="0" y="3609240"/>
          <a:ext cx="7351520" cy="302400"/>
        </a:xfrm>
        <a:prstGeom prst="rect">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5C44245-0D92-4A0F-A744-9CB4B869FBF2}">
      <dsp:nvSpPr>
        <dsp:cNvPr id="0" name=""/>
        <dsp:cNvSpPr/>
      </dsp:nvSpPr>
      <dsp:spPr>
        <a:xfrm>
          <a:off x="367576" y="3432120"/>
          <a:ext cx="5146064" cy="35424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509" tIns="0" rIns="194509" bIns="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Results</a:t>
          </a:r>
          <a:endParaRPr lang="en-US" sz="1600" kern="1200" dirty="0"/>
        </a:p>
      </dsp:txBody>
      <dsp:txXfrm>
        <a:off x="384869" y="3449413"/>
        <a:ext cx="5111478" cy="319654"/>
      </dsp:txXfrm>
    </dsp:sp>
    <dsp:sp modelId="{54E7E739-D689-4114-A482-F6FCADB217C9}">
      <dsp:nvSpPr>
        <dsp:cNvPr id="0" name=""/>
        <dsp:cNvSpPr/>
      </dsp:nvSpPr>
      <dsp:spPr>
        <a:xfrm>
          <a:off x="0" y="4153560"/>
          <a:ext cx="7351520" cy="302400"/>
        </a:xfrm>
        <a:prstGeom prst="rect">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08DF78D-1128-41CD-AA78-4E56D27D4086}">
      <dsp:nvSpPr>
        <dsp:cNvPr id="0" name=""/>
        <dsp:cNvSpPr/>
      </dsp:nvSpPr>
      <dsp:spPr>
        <a:xfrm>
          <a:off x="367576" y="3976440"/>
          <a:ext cx="5146064" cy="35424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509" tIns="0" rIns="194509" bIns="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References</a:t>
          </a:r>
          <a:endParaRPr lang="en-US" sz="1600" kern="1200" dirty="0"/>
        </a:p>
      </dsp:txBody>
      <dsp:txXfrm>
        <a:off x="384869" y="3993733"/>
        <a:ext cx="5111478" cy="31965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4AC62-EEAE-4561-9ACF-3AF7EA06F6DC}"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7EC2C8-DC01-4A1A-A98C-8C3739FE367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4230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4AC62-EEAE-4561-9ACF-3AF7EA06F6DC}"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7EC2C8-DC01-4A1A-A98C-8C3739FE3672}" type="slidenum">
              <a:rPr lang="en-US" smtClean="0"/>
              <a:t>‹#›</a:t>
            </a:fld>
            <a:endParaRPr lang="en-US"/>
          </a:p>
        </p:txBody>
      </p:sp>
    </p:spTree>
    <p:extLst>
      <p:ext uri="{BB962C8B-B14F-4D97-AF65-F5344CB8AC3E}">
        <p14:creationId xmlns:p14="http://schemas.microsoft.com/office/powerpoint/2010/main" val="4178563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4AC62-EEAE-4561-9ACF-3AF7EA06F6DC}"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7EC2C8-DC01-4A1A-A98C-8C3739FE367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3773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4AC62-EEAE-4561-9ACF-3AF7EA06F6DC}" type="datetimeFigureOut">
              <a:rPr lang="en-US" smtClean="0"/>
              <a:t>10/28/2025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7EC2C8-DC01-4A1A-A98C-8C3739FE3672}" type="slidenum">
              <a:rPr lang="en-US" smtClean="0"/>
              <a:t>‹#›</a:t>
            </a:fld>
            <a:endParaRPr lang="en-US"/>
          </a:p>
        </p:txBody>
      </p:sp>
    </p:spTree>
    <p:extLst>
      <p:ext uri="{BB962C8B-B14F-4D97-AF65-F5344CB8AC3E}">
        <p14:creationId xmlns:p14="http://schemas.microsoft.com/office/powerpoint/2010/main" val="1104325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4AC62-EEAE-4561-9ACF-3AF7EA06F6DC}" type="datetimeFigureOut">
              <a:rPr lang="en-US" smtClean="0"/>
              <a:t>10/28/2025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7EC2C8-DC01-4A1A-A98C-8C3739FE3672}" type="slidenum">
              <a:rPr lang="en-US" smtClean="0"/>
              <a:t>‹#›</a:t>
            </a:fld>
            <a:endParaRPr lang="en-US"/>
          </a:p>
        </p:txBody>
      </p:sp>
    </p:spTree>
    <p:extLst>
      <p:ext uri="{BB962C8B-B14F-4D97-AF65-F5344CB8AC3E}">
        <p14:creationId xmlns:p14="http://schemas.microsoft.com/office/powerpoint/2010/main" val="101907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4AC62-EEAE-4561-9ACF-3AF7EA06F6DC}" type="datetimeFigureOut">
              <a:rPr lang="en-US" smtClean="0"/>
              <a:t>10/28/2025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7EC2C8-DC01-4A1A-A98C-8C3739FE3672}" type="slidenum">
              <a:rPr lang="en-US" smtClean="0"/>
              <a:t>‹#›</a:t>
            </a:fld>
            <a:endParaRPr lang="en-US"/>
          </a:p>
        </p:txBody>
      </p:sp>
    </p:spTree>
    <p:extLst>
      <p:ext uri="{BB962C8B-B14F-4D97-AF65-F5344CB8AC3E}">
        <p14:creationId xmlns:p14="http://schemas.microsoft.com/office/powerpoint/2010/main" val="12237334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8A4AC62-EEAE-4561-9ACF-3AF7EA06F6DC}" type="datetimeFigureOut">
              <a:rPr lang="en-US" smtClean="0"/>
              <a:t>10/28/2025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247EC2C8-DC01-4A1A-A98C-8C3739FE3672}" type="slidenum">
              <a:rPr lang="en-US" smtClean="0"/>
              <a:t>‹#›</a:t>
            </a:fld>
            <a:endParaRPr lang="en-US"/>
          </a:p>
        </p:txBody>
      </p:sp>
    </p:spTree>
    <p:extLst>
      <p:ext uri="{BB962C8B-B14F-4D97-AF65-F5344CB8AC3E}">
        <p14:creationId xmlns:p14="http://schemas.microsoft.com/office/powerpoint/2010/main" val="248727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8A4AC62-EEAE-4561-9ACF-3AF7EA06F6DC}" type="datetimeFigureOut">
              <a:rPr lang="en-US" smtClean="0"/>
              <a:t>10/28/2025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47EC2C8-DC01-4A1A-A98C-8C3739FE3672}" type="slidenum">
              <a:rPr lang="en-US" smtClean="0"/>
              <a:t>‹#›</a:t>
            </a:fld>
            <a:endParaRPr lang="en-US"/>
          </a:p>
        </p:txBody>
      </p:sp>
    </p:spTree>
    <p:extLst>
      <p:ext uri="{BB962C8B-B14F-4D97-AF65-F5344CB8AC3E}">
        <p14:creationId xmlns:p14="http://schemas.microsoft.com/office/powerpoint/2010/main" val="2276571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4AC62-EEAE-4561-9ACF-3AF7EA06F6DC}" type="datetimeFigureOut">
              <a:rPr lang="en-US" smtClean="0"/>
              <a:t>10/28/2025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7EC2C8-DC01-4A1A-A98C-8C3739FE3672}" type="slidenum">
              <a:rPr lang="en-US" smtClean="0"/>
              <a:t>‹#›</a:t>
            </a:fld>
            <a:endParaRPr lang="en-US"/>
          </a:p>
        </p:txBody>
      </p:sp>
    </p:spTree>
    <p:extLst>
      <p:ext uri="{BB962C8B-B14F-4D97-AF65-F5344CB8AC3E}">
        <p14:creationId xmlns:p14="http://schemas.microsoft.com/office/powerpoint/2010/main" val="1825233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4AC62-EEAE-4561-9ACF-3AF7EA06F6DC}"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7EC2C8-DC01-4A1A-A98C-8C3739FE3672}" type="slidenum">
              <a:rPr lang="en-US" smtClean="0"/>
              <a:t>‹#›</a:t>
            </a:fld>
            <a:endParaRPr lang="en-US"/>
          </a:p>
        </p:txBody>
      </p:sp>
    </p:spTree>
    <p:extLst>
      <p:ext uri="{BB962C8B-B14F-4D97-AF65-F5344CB8AC3E}">
        <p14:creationId xmlns:p14="http://schemas.microsoft.com/office/powerpoint/2010/main" val="2143888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4AC62-EEAE-4561-9ACF-3AF7EA06F6DC}"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7EC2C8-DC01-4A1A-A98C-8C3739FE3672}" type="slidenum">
              <a:rPr lang="en-US" smtClean="0"/>
              <a:t>‹#›</a:t>
            </a:fld>
            <a:endParaRPr lang="en-US"/>
          </a:p>
        </p:txBody>
      </p:sp>
    </p:spTree>
    <p:extLst>
      <p:ext uri="{BB962C8B-B14F-4D97-AF65-F5344CB8AC3E}">
        <p14:creationId xmlns:p14="http://schemas.microsoft.com/office/powerpoint/2010/main" val="2653376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8A4AC62-EEAE-4561-9ACF-3AF7EA06F6DC}" type="datetimeFigureOut">
              <a:rPr lang="en-US" smtClean="0"/>
              <a:t>10/28/2025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47EC2C8-DC01-4A1A-A98C-8C3739FE3672}"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240811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63760-AE40-5403-1B55-2DF0A99F53E4}"/>
              </a:ext>
            </a:extLst>
          </p:cNvPr>
          <p:cNvSpPr>
            <a:spLocks noGrp="1"/>
          </p:cNvSpPr>
          <p:nvPr>
            <p:ph type="ctrTitle"/>
          </p:nvPr>
        </p:nvSpPr>
        <p:spPr>
          <a:xfrm>
            <a:off x="782425" y="1600201"/>
            <a:ext cx="11081374" cy="1510644"/>
          </a:xfrm>
        </p:spPr>
        <p:txBody>
          <a:bodyPr>
            <a:noAutofit/>
          </a:bodyPr>
          <a:lstStyle/>
          <a:p>
            <a:r>
              <a:rPr lang="en-US" sz="3200" b="1" dirty="0">
                <a:latin typeface="Times New Roman" panose="02020603050405020304" pitchFamily="18" charset="0"/>
                <a:cs typeface="Times New Roman" panose="02020603050405020304" pitchFamily="18" charset="0"/>
              </a:rPr>
              <a:t>Hybrid-Enhanced Two-Step Quantum Search (H-TSQS)</a:t>
            </a:r>
          </a:p>
        </p:txBody>
      </p:sp>
      <p:sp>
        <p:nvSpPr>
          <p:cNvPr id="3" name="Subtitle 2">
            <a:extLst>
              <a:ext uri="{FF2B5EF4-FFF2-40B4-BE49-F238E27FC236}">
                <a16:creationId xmlns:a16="http://schemas.microsoft.com/office/drawing/2014/main" id="{187CD7D3-E802-47EE-D379-E2A50D39406B}"/>
              </a:ext>
            </a:extLst>
          </p:cNvPr>
          <p:cNvSpPr>
            <a:spLocks noGrp="1"/>
          </p:cNvSpPr>
          <p:nvPr>
            <p:ph type="subTitle" idx="1"/>
          </p:nvPr>
        </p:nvSpPr>
        <p:spPr>
          <a:xfrm>
            <a:off x="3181546" y="3198542"/>
            <a:ext cx="5828907" cy="460915"/>
          </a:xfrm>
        </p:spPr>
        <p:txBody>
          <a:bodyPr>
            <a:normAutofit/>
          </a:bodyPr>
          <a:lstStyle/>
          <a:p>
            <a:r>
              <a:rPr lang="en-US" sz="2000" dirty="0">
                <a:latin typeface="Times New Roman" panose="02020603050405020304" pitchFamily="18" charset="0"/>
                <a:cs typeface="Times New Roman" panose="02020603050405020304" pitchFamily="18" charset="0"/>
              </a:rPr>
              <a:t>(Batch No: CBIT/IT/2025-26/IT1/108)</a:t>
            </a:r>
          </a:p>
        </p:txBody>
      </p:sp>
      <p:pic>
        <p:nvPicPr>
          <p:cNvPr id="5" name="Picture 4">
            <a:extLst>
              <a:ext uri="{FF2B5EF4-FFF2-40B4-BE49-F238E27FC236}">
                <a16:creationId xmlns:a16="http://schemas.microsoft.com/office/drawing/2014/main" id="{828A873D-24E8-8FF0-51C5-113F91215D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2883" y="657524"/>
            <a:ext cx="6106020" cy="1709959"/>
          </a:xfrm>
          <a:prstGeom prst="rect">
            <a:avLst/>
          </a:prstGeom>
        </p:spPr>
      </p:pic>
      <p:sp>
        <p:nvSpPr>
          <p:cNvPr id="6" name="TextBox 5">
            <a:extLst>
              <a:ext uri="{FF2B5EF4-FFF2-40B4-BE49-F238E27FC236}">
                <a16:creationId xmlns:a16="http://schemas.microsoft.com/office/drawing/2014/main" id="{9C394A8A-5EE1-516C-8D36-9A4F16BB2C41}"/>
              </a:ext>
            </a:extLst>
          </p:cNvPr>
          <p:cNvSpPr txBox="1"/>
          <p:nvPr/>
        </p:nvSpPr>
        <p:spPr>
          <a:xfrm>
            <a:off x="1319753" y="4443663"/>
            <a:ext cx="3436454" cy="984885"/>
          </a:xfrm>
          <a:prstGeom prst="rect">
            <a:avLst/>
          </a:prstGeom>
          <a:noFill/>
        </p:spPr>
        <p:txBody>
          <a:bodyPr wrap="none" rtlCol="0">
            <a:spAutoFit/>
          </a:bodyPr>
          <a:lstStyle/>
          <a:p>
            <a:r>
              <a:rPr lang="en-US" sz="2000" b="1" dirty="0">
                <a:solidFill>
                  <a:srgbClr val="C00000"/>
                </a:solidFill>
                <a:latin typeface="Times New Roman" panose="02020603050405020304" pitchFamily="18" charset="0"/>
                <a:cs typeface="Times New Roman" panose="02020603050405020304" pitchFamily="18" charset="0"/>
              </a:rPr>
              <a:t>Under the Guidance of: </a:t>
            </a:r>
          </a:p>
          <a:p>
            <a:r>
              <a:rPr lang="en-US" sz="2000" b="1" dirty="0">
                <a:solidFill>
                  <a:srgbClr val="0070C0"/>
                </a:solidFill>
                <a:latin typeface="Times New Roman" panose="02020603050405020304" pitchFamily="18" charset="0"/>
                <a:cs typeface="Times New Roman" panose="02020603050405020304" pitchFamily="18" charset="0"/>
              </a:rPr>
              <a:t>Dr. T. Satyanarayana Murthy</a:t>
            </a:r>
          </a:p>
          <a:p>
            <a:r>
              <a:rPr lang="en-US" dirty="0">
                <a:latin typeface="Times New Roman" panose="02020603050405020304" pitchFamily="18" charset="0"/>
                <a:cs typeface="Times New Roman" panose="02020603050405020304" pitchFamily="18" charset="0"/>
              </a:rPr>
              <a:t>Associate Professor, IT, CBIT</a:t>
            </a:r>
          </a:p>
        </p:txBody>
      </p:sp>
      <p:sp>
        <p:nvSpPr>
          <p:cNvPr id="7" name="TextBox 6">
            <a:extLst>
              <a:ext uri="{FF2B5EF4-FFF2-40B4-BE49-F238E27FC236}">
                <a16:creationId xmlns:a16="http://schemas.microsoft.com/office/drawing/2014/main" id="{66AF21B5-87E8-F76F-EB4E-04E9190B7833}"/>
              </a:ext>
            </a:extLst>
          </p:cNvPr>
          <p:cNvSpPr txBox="1"/>
          <p:nvPr/>
        </p:nvSpPr>
        <p:spPr>
          <a:xfrm>
            <a:off x="5973118" y="6488668"/>
            <a:ext cx="6218882" cy="369332"/>
          </a:xfrm>
          <a:prstGeom prst="rect">
            <a:avLst/>
          </a:prstGeom>
          <a:noFill/>
        </p:spPr>
        <p:txBody>
          <a:bodyPr wrap="none" rtlCol="0">
            <a:spAutoFit/>
          </a:bodyPr>
          <a:lstStyle/>
          <a:p>
            <a:r>
              <a:rPr lang="en-US" i="1" dirty="0"/>
              <a:t>Review-1: Project Part-1, Department of Information Technology</a:t>
            </a:r>
          </a:p>
        </p:txBody>
      </p:sp>
      <p:sp>
        <p:nvSpPr>
          <p:cNvPr id="9" name="TextBox 8">
            <a:extLst>
              <a:ext uri="{FF2B5EF4-FFF2-40B4-BE49-F238E27FC236}">
                <a16:creationId xmlns:a16="http://schemas.microsoft.com/office/drawing/2014/main" id="{610F487C-B59B-8067-6F33-D8B300CF1B28}"/>
              </a:ext>
            </a:extLst>
          </p:cNvPr>
          <p:cNvSpPr txBox="1"/>
          <p:nvPr/>
        </p:nvSpPr>
        <p:spPr>
          <a:xfrm>
            <a:off x="7260830" y="4443663"/>
            <a:ext cx="6094428" cy="1200329"/>
          </a:xfrm>
          <a:prstGeom prst="rect">
            <a:avLst/>
          </a:prstGeom>
          <a:noFill/>
        </p:spPr>
        <p:txBody>
          <a:bodyPr wrap="square">
            <a:spAutoFit/>
          </a:bodyPr>
          <a:lstStyle/>
          <a:p>
            <a:r>
              <a:rPr lang="en-US" sz="1800" b="1" dirty="0">
                <a:solidFill>
                  <a:srgbClr val="0070C0"/>
                </a:solidFill>
                <a:latin typeface="Times New Roman" panose="02020603050405020304" pitchFamily="18" charset="0"/>
                <a:cs typeface="Times New Roman" panose="02020603050405020304" pitchFamily="18" charset="0"/>
              </a:rPr>
              <a:t>Presented By</a:t>
            </a:r>
          </a:p>
          <a:p>
            <a:r>
              <a:rPr lang="en-US" dirty="0">
                <a:latin typeface="Times New Roman" panose="02020603050405020304" pitchFamily="18" charset="0"/>
                <a:cs typeface="Times New Roman" panose="02020603050405020304" pitchFamily="18" charset="0"/>
              </a:rPr>
              <a:t>G.Vyshnavi, 160122737005</a:t>
            </a:r>
          </a:p>
          <a:p>
            <a:r>
              <a:rPr lang="en-US" dirty="0">
                <a:latin typeface="Times New Roman" panose="02020603050405020304" pitchFamily="18" charset="0"/>
                <a:cs typeface="Times New Roman" panose="02020603050405020304" pitchFamily="18" charset="0"/>
              </a:rPr>
              <a:t>J. Sai Teja, 160122737044</a:t>
            </a:r>
          </a:p>
          <a:p>
            <a:r>
              <a:rPr lang="en-US" dirty="0">
                <a:latin typeface="Times New Roman" panose="02020603050405020304" pitchFamily="18" charset="0"/>
                <a:cs typeface="Times New Roman" panose="02020603050405020304" pitchFamily="18" charset="0"/>
              </a:rPr>
              <a:t>N. Shresta, 160122737307</a:t>
            </a:r>
          </a:p>
        </p:txBody>
      </p:sp>
    </p:spTree>
    <p:extLst>
      <p:ext uri="{BB962C8B-B14F-4D97-AF65-F5344CB8AC3E}">
        <p14:creationId xmlns:p14="http://schemas.microsoft.com/office/powerpoint/2010/main" val="3687388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0B596-5A2E-79A3-0ECE-9315E7ED7613}"/>
              </a:ext>
            </a:extLst>
          </p:cNvPr>
          <p:cNvSpPr>
            <a:spLocks noGrp="1"/>
          </p:cNvSpPr>
          <p:nvPr>
            <p:ph type="title"/>
          </p:nvPr>
        </p:nvSpPr>
        <p:spPr>
          <a:xfrm>
            <a:off x="4227293" y="355145"/>
            <a:ext cx="3290740" cy="1325563"/>
          </a:xfrm>
        </p:spPr>
        <p:txBody>
          <a:bodyPr>
            <a:normAutofit/>
          </a:bodyPr>
          <a:lstStyle/>
          <a:p>
            <a:r>
              <a:rPr lang="en-US" sz="4000" b="1" dirty="0">
                <a:solidFill>
                  <a:srgbClr val="C00000"/>
                </a:solidFill>
                <a:latin typeface="Times New Roman" panose="02020603050405020304" pitchFamily="18" charset="0"/>
                <a:cs typeface="Times New Roman" panose="02020603050405020304" pitchFamily="18" charset="0"/>
              </a:rPr>
              <a:t>AGENDA</a:t>
            </a:r>
          </a:p>
        </p:txBody>
      </p:sp>
      <p:sp>
        <p:nvSpPr>
          <p:cNvPr id="6" name="TextBox 5">
            <a:extLst>
              <a:ext uri="{FF2B5EF4-FFF2-40B4-BE49-F238E27FC236}">
                <a16:creationId xmlns:a16="http://schemas.microsoft.com/office/drawing/2014/main" id="{49607DDF-0A29-2154-C982-57349D7D01F4}"/>
              </a:ext>
            </a:extLst>
          </p:cNvPr>
          <p:cNvSpPr txBox="1"/>
          <p:nvPr/>
        </p:nvSpPr>
        <p:spPr>
          <a:xfrm>
            <a:off x="377072" y="6413253"/>
            <a:ext cx="3850221" cy="369332"/>
          </a:xfrm>
          <a:prstGeom prst="rect">
            <a:avLst/>
          </a:prstGeom>
          <a:noFill/>
        </p:spPr>
        <p:txBody>
          <a:bodyPr wrap="none" rtlCol="0">
            <a:spAutoFit/>
          </a:bodyPr>
          <a:lstStyle/>
          <a:p>
            <a:r>
              <a:rPr lang="en-US" i="1" dirty="0"/>
              <a:t>Department of Information Technology</a:t>
            </a:r>
          </a:p>
        </p:txBody>
      </p:sp>
      <p:graphicFrame>
        <p:nvGraphicFramePr>
          <p:cNvPr id="7" name="Diagram 6">
            <a:extLst>
              <a:ext uri="{FF2B5EF4-FFF2-40B4-BE49-F238E27FC236}">
                <a16:creationId xmlns:a16="http://schemas.microsoft.com/office/drawing/2014/main" id="{23558245-D3D0-BB02-669E-B699AA6858D3}"/>
              </a:ext>
            </a:extLst>
          </p:cNvPr>
          <p:cNvGraphicFramePr/>
          <p:nvPr>
            <p:extLst>
              <p:ext uri="{D42A27DB-BD31-4B8C-83A1-F6EECF244321}">
                <p14:modId xmlns:p14="http://schemas.microsoft.com/office/powerpoint/2010/main" val="2130602559"/>
              </p:ext>
            </p:extLst>
          </p:nvPr>
        </p:nvGraphicFramePr>
        <p:xfrm>
          <a:off x="2603186" y="1735900"/>
          <a:ext cx="7351520" cy="462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3137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A5953-7797-961F-C4E0-417AAECA9D58}"/>
              </a:ext>
            </a:extLst>
          </p:cNvPr>
          <p:cNvSpPr>
            <a:spLocks noGrp="1"/>
          </p:cNvSpPr>
          <p:nvPr>
            <p:ph type="title"/>
          </p:nvPr>
        </p:nvSpPr>
        <p:spPr/>
        <p:txBody>
          <a:bodyPr>
            <a:normAutofit/>
          </a:bodyPr>
          <a:lstStyle/>
          <a:p>
            <a:r>
              <a:rPr lang="en-US" sz="4000" b="1" dirty="0">
                <a:solidFill>
                  <a:srgbClr val="C00000"/>
                </a:solidFill>
                <a:latin typeface="Times New Roman" panose="02020603050405020304" pitchFamily="18" charset="0"/>
                <a:cs typeface="Times New Roman" panose="02020603050405020304" pitchFamily="18" charset="0"/>
              </a:rPr>
              <a:t>PROBLEM  STATEMENT</a:t>
            </a:r>
          </a:p>
        </p:txBody>
      </p:sp>
      <p:sp>
        <p:nvSpPr>
          <p:cNvPr id="3" name="TextBox 2">
            <a:extLst>
              <a:ext uri="{FF2B5EF4-FFF2-40B4-BE49-F238E27FC236}">
                <a16:creationId xmlns:a16="http://schemas.microsoft.com/office/drawing/2014/main" id="{0E3DF091-C116-0681-92C1-015B2BE8880D}"/>
              </a:ext>
            </a:extLst>
          </p:cNvPr>
          <p:cNvSpPr txBox="1"/>
          <p:nvPr/>
        </p:nvSpPr>
        <p:spPr>
          <a:xfrm>
            <a:off x="1097280" y="2215299"/>
            <a:ext cx="9779367" cy="2031325"/>
          </a:xfrm>
          <a:prstGeom prst="rect">
            <a:avLst/>
          </a:prstGeom>
          <a:noFill/>
        </p:spPr>
        <p:txBody>
          <a:bodyPr wrap="square" rtlCol="0">
            <a:spAutoFit/>
          </a:bodyPr>
          <a:lstStyle/>
          <a:p>
            <a:pPr algn="just"/>
            <a:r>
              <a:rPr lang="en-US" dirty="0"/>
              <a:t>The Traveling Salesman Problem (TSP) is an NP-hard optimization challenge that becomes computationally expensive as the number of cities increases. Classical algorithms lack scalability, while the original Two-Step Quantum Search (TSQS), though offering quadratic speed-up, remains theoretical—limited by fixed parameters, high circuit depth, and lack of adaptability to noise.</a:t>
            </a:r>
          </a:p>
          <a:p>
            <a:pPr algn="just"/>
            <a:r>
              <a:rPr lang="en-US" dirty="0"/>
              <a:t>To overcome these limitations, the Hybrid-Enhanced TSQS (H-TSQS) framework integrates classical heuristics, adaptive iteration tuning, and noise-aware simulation to achieve a practical, scalable, and executable hybrid quantum solution for real-world optimization problems.</a:t>
            </a:r>
          </a:p>
        </p:txBody>
      </p:sp>
      <p:sp>
        <p:nvSpPr>
          <p:cNvPr id="4" name="TextBox 3">
            <a:extLst>
              <a:ext uri="{FF2B5EF4-FFF2-40B4-BE49-F238E27FC236}">
                <a16:creationId xmlns:a16="http://schemas.microsoft.com/office/drawing/2014/main" id="{A3DED56A-DC04-C403-DCFB-9C480C5C78C4}"/>
              </a:ext>
            </a:extLst>
          </p:cNvPr>
          <p:cNvSpPr txBox="1"/>
          <p:nvPr/>
        </p:nvSpPr>
        <p:spPr>
          <a:xfrm>
            <a:off x="452487" y="6400800"/>
            <a:ext cx="4157220" cy="646331"/>
          </a:xfrm>
          <a:prstGeom prst="rect">
            <a:avLst/>
          </a:prstGeom>
          <a:noFill/>
        </p:spPr>
        <p:txBody>
          <a:bodyPr wrap="square" rtlCol="0">
            <a:spAutoFit/>
          </a:bodyPr>
          <a:lstStyle/>
          <a:p>
            <a:r>
              <a:rPr lang="en-US" i="1" dirty="0"/>
              <a:t>Department of Information Technology</a:t>
            </a:r>
          </a:p>
          <a:p>
            <a:endParaRPr lang="en-US" dirty="0"/>
          </a:p>
        </p:txBody>
      </p:sp>
    </p:spTree>
    <p:extLst>
      <p:ext uri="{BB962C8B-B14F-4D97-AF65-F5344CB8AC3E}">
        <p14:creationId xmlns:p14="http://schemas.microsoft.com/office/powerpoint/2010/main" val="3164651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BE079-521F-1149-B17D-342AA632E0B2}"/>
              </a:ext>
            </a:extLst>
          </p:cNvPr>
          <p:cNvSpPr>
            <a:spLocks noGrp="1"/>
          </p:cNvSpPr>
          <p:nvPr>
            <p:ph type="title"/>
          </p:nvPr>
        </p:nvSpPr>
        <p:spPr/>
        <p:txBody>
          <a:bodyPr>
            <a:normAutofit/>
          </a:bodyPr>
          <a:lstStyle/>
          <a:p>
            <a:r>
              <a:rPr lang="en-US" sz="4000" b="1" dirty="0">
                <a:solidFill>
                  <a:srgbClr val="C00000"/>
                </a:solidFill>
                <a:latin typeface="Times New Roman" panose="02020603050405020304" pitchFamily="18" charset="0"/>
                <a:cs typeface="Times New Roman" panose="02020603050405020304" pitchFamily="18" charset="0"/>
              </a:rPr>
              <a:t>ABSTRACT</a:t>
            </a:r>
          </a:p>
        </p:txBody>
      </p:sp>
      <p:sp>
        <p:nvSpPr>
          <p:cNvPr id="3" name="TextBox 2">
            <a:extLst>
              <a:ext uri="{FF2B5EF4-FFF2-40B4-BE49-F238E27FC236}">
                <a16:creationId xmlns:a16="http://schemas.microsoft.com/office/drawing/2014/main" id="{AB8C7B9D-86A7-13C3-0C20-DA866AB723F4}"/>
              </a:ext>
            </a:extLst>
          </p:cNvPr>
          <p:cNvSpPr txBox="1"/>
          <p:nvPr/>
        </p:nvSpPr>
        <p:spPr>
          <a:xfrm>
            <a:off x="1097280" y="1991080"/>
            <a:ext cx="9763586" cy="3416320"/>
          </a:xfrm>
          <a:prstGeom prst="rect">
            <a:avLst/>
          </a:prstGeom>
          <a:noFill/>
        </p:spPr>
        <p:txBody>
          <a:bodyPr wrap="square" rtlCol="0">
            <a:spAutoFit/>
          </a:bodyPr>
          <a:lstStyle/>
          <a:p>
            <a:pPr algn="just"/>
            <a:r>
              <a:rPr lang="en-US" dirty="0"/>
              <a:t>The Traveling Salesman Problem (TSP) is a classical NP-hard optimization problem with applications in logistics and network design. Quantum computing offers a potential quadratic speedup using Grover’s algorithm; however, existing quantum approaches like the Two-Step Quantum Search (TSQS) face challenges such as large circuit depth and scalability issues. In this project, we implement an enhanced TSQS algorithm for solving TSP using a hybrid classical–quantum approach. Our improvements include classical preprocessing with nearest neighbor and local optimization to reduce the search space, symmetry reduction to eliminate redundant tours, and a simplified threshold-based oracle to improve solution accuracy. Additionally, we apply iteration tuning and error mitigation techniques to improve performance. Experiments using </a:t>
            </a:r>
            <a:r>
              <a:rPr lang="en-US" dirty="0" err="1"/>
              <a:t>Qiskit</a:t>
            </a:r>
            <a:r>
              <a:rPr lang="en-US" dirty="0"/>
              <a:t> on small-scale TSP instances (n=3 and n=4) demonstrate reduced circuit complexity and higher success probabilities compared to the original TSQS, providing a more practical pathway toward scalable quantum optimization for combinatorial problems.</a:t>
            </a:r>
          </a:p>
          <a:p>
            <a:endParaRPr lang="en-US" dirty="0"/>
          </a:p>
        </p:txBody>
      </p:sp>
      <p:sp>
        <p:nvSpPr>
          <p:cNvPr id="4" name="TextBox 3">
            <a:extLst>
              <a:ext uri="{FF2B5EF4-FFF2-40B4-BE49-F238E27FC236}">
                <a16:creationId xmlns:a16="http://schemas.microsoft.com/office/drawing/2014/main" id="{1959650B-106D-EB1E-B8F1-60EF3567F6BE}"/>
              </a:ext>
            </a:extLst>
          </p:cNvPr>
          <p:cNvSpPr txBox="1"/>
          <p:nvPr/>
        </p:nvSpPr>
        <p:spPr>
          <a:xfrm>
            <a:off x="471340" y="6386731"/>
            <a:ext cx="3850221" cy="369332"/>
          </a:xfrm>
          <a:prstGeom prst="rect">
            <a:avLst/>
          </a:prstGeom>
          <a:noFill/>
        </p:spPr>
        <p:txBody>
          <a:bodyPr wrap="none" rtlCol="0">
            <a:spAutoFit/>
          </a:bodyPr>
          <a:lstStyle/>
          <a:p>
            <a:r>
              <a:rPr lang="en-US" i="1" dirty="0"/>
              <a:t>Department of Information Technology</a:t>
            </a:r>
          </a:p>
        </p:txBody>
      </p:sp>
    </p:spTree>
    <p:extLst>
      <p:ext uri="{BB962C8B-B14F-4D97-AF65-F5344CB8AC3E}">
        <p14:creationId xmlns:p14="http://schemas.microsoft.com/office/powerpoint/2010/main" val="1432642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3BE9C-9978-53E8-91A5-78B1E14C3DAF}"/>
              </a:ext>
            </a:extLst>
          </p:cNvPr>
          <p:cNvSpPr>
            <a:spLocks noGrp="1"/>
          </p:cNvSpPr>
          <p:nvPr>
            <p:ph type="title"/>
          </p:nvPr>
        </p:nvSpPr>
        <p:spPr/>
        <p:txBody>
          <a:bodyPr>
            <a:normAutofit/>
          </a:bodyPr>
          <a:lstStyle/>
          <a:p>
            <a:r>
              <a:rPr lang="en-US" sz="4000" b="1" dirty="0">
                <a:solidFill>
                  <a:srgbClr val="C00000"/>
                </a:solidFill>
                <a:latin typeface="Times New Roman" panose="02020603050405020304" pitchFamily="18" charset="0"/>
                <a:cs typeface="Times New Roman" panose="02020603050405020304" pitchFamily="18" charset="0"/>
              </a:rPr>
              <a:t>PROJECT OBJECTIVES</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E538F5EF-7864-29A4-FDC5-B025A1BA6982}"/>
                  </a:ext>
                </a:extLst>
              </p:cNvPr>
              <p:cNvSpPr txBox="1"/>
              <p:nvPr/>
            </p:nvSpPr>
            <p:spPr>
              <a:xfrm>
                <a:off x="622169" y="1737360"/>
                <a:ext cx="10680570" cy="4204356"/>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b="1" dirty="0">
                    <a:cs typeface="Times New Roman" panose="02020603050405020304" pitchFamily="18" charset="0"/>
                  </a:rPr>
                  <a:t>Develop a Hybrid-Enhanced Two-Step Quantum Search (H-TSQS) framework</a:t>
                </a:r>
                <a:r>
                  <a:rPr lang="en-US" dirty="0">
                    <a:cs typeface="Times New Roman" panose="02020603050405020304" pitchFamily="18" charset="0"/>
                  </a:rPr>
                  <a:t> to solve combinatorial optimization problems efficiently on near-term quantum simulators.</a:t>
                </a:r>
              </a:p>
              <a:p>
                <a:pPr marL="285750" indent="-285750" algn="just">
                  <a:lnSpc>
                    <a:spcPct val="150000"/>
                  </a:lnSpc>
                  <a:buFont typeface="Arial" panose="020B0604020202020204" pitchFamily="34" charset="0"/>
                  <a:buChar char="•"/>
                </a:pPr>
                <a:r>
                  <a:rPr lang="en-US" b="1" dirty="0">
                    <a:cs typeface="Times New Roman" panose="02020603050405020304" pitchFamily="18" charset="0"/>
                  </a:rPr>
                  <a:t>Bridge the gap</a:t>
                </a:r>
                <a:r>
                  <a:rPr lang="en-US" dirty="0">
                    <a:cs typeface="Times New Roman" panose="02020603050405020304" pitchFamily="18" charset="0"/>
                  </a:rPr>
                  <a:t> between theoretical TSQS design and practical, executable hybrid implementations using </a:t>
                </a:r>
                <a:r>
                  <a:rPr lang="en-US" b="1" dirty="0" err="1">
                    <a:cs typeface="Times New Roman" panose="02020603050405020304" pitchFamily="18" charset="0"/>
                  </a:rPr>
                  <a:t>Qiskit</a:t>
                </a:r>
                <a:r>
                  <a:rPr lang="en-US" dirty="0">
                    <a:cs typeface="Times New Roman" panose="02020603050405020304" pitchFamily="18" charset="0"/>
                  </a:rPr>
                  <a:t>.</a:t>
                </a:r>
              </a:p>
              <a:p>
                <a:pPr marL="285750" indent="-285750" algn="just">
                  <a:lnSpc>
                    <a:spcPct val="150000"/>
                  </a:lnSpc>
                  <a:buFont typeface="Arial" panose="020B0604020202020204" pitchFamily="34" charset="0"/>
                  <a:buChar char="•"/>
                </a:pPr>
                <a:r>
                  <a:rPr lang="en-US" b="1" dirty="0">
                    <a:cs typeface="Times New Roman" panose="02020603050405020304" pitchFamily="18" charset="0"/>
                  </a:rPr>
                  <a:t>Incorporate classical preprocessing</a:t>
                </a:r>
                <a:r>
                  <a:rPr lang="en-US" dirty="0">
                    <a:cs typeface="Times New Roman" panose="02020603050405020304" pitchFamily="18" charset="0"/>
                  </a:rPr>
                  <a:t> (nearest-neighbor heuristic and 2-opt optimization) to reduce the quantum search space.</a:t>
                </a:r>
              </a:p>
              <a:p>
                <a:pPr marL="285750" indent="-285750" algn="just">
                  <a:lnSpc>
                    <a:spcPct val="150000"/>
                  </a:lnSpc>
                  <a:buFont typeface="Arial" panose="020B0604020202020204" pitchFamily="34" charset="0"/>
                  <a:buChar char="•"/>
                </a:pPr>
                <a:r>
                  <a:rPr lang="en-US" b="1" dirty="0">
                    <a:cs typeface="Times New Roman" panose="02020603050405020304" pitchFamily="18" charset="0"/>
                  </a:rPr>
                  <a:t>Implement adaptive iteration tuning</a:t>
                </a:r>
                <a:r>
                  <a:rPr lang="en-US" dirty="0">
                    <a:cs typeface="Times New Roman" panose="02020603050405020304" pitchFamily="18" charset="0"/>
                  </a:rPr>
                  <a:t> for automatically selecting optimal quantum parameters </a:t>
                </a:r>
                <a14:m>
                  <m:oMath xmlns:m="http://schemas.openxmlformats.org/officeDocument/2006/math">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a:latin typeface="Cambria Math" panose="02040503050406030204" pitchFamily="18" charset="0"/>
                              </a:rPr>
                              <m:t>1</m:t>
                            </m:r>
                          </m:sub>
                        </m:sSub>
                      </m:e>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a:latin typeface="Cambria Math" panose="02040503050406030204" pitchFamily="18" charset="0"/>
                              </a:rPr>
                              <m:t>2</m:t>
                            </m:r>
                          </m:sub>
                        </m:sSub>
                      </m:e>
                    </m:d>
                  </m:oMath>
                </a14:m>
                <a:r>
                  <a:rPr lang="en-US" dirty="0">
                    <a:cs typeface="Times New Roman" panose="02020603050405020304" pitchFamily="18" charset="0"/>
                  </a:rPr>
                  <a:t>to maximize success probability.</a:t>
                </a:r>
              </a:p>
              <a:p>
                <a:pPr marL="285750" indent="-285750" algn="just">
                  <a:lnSpc>
                    <a:spcPct val="150000"/>
                  </a:lnSpc>
                  <a:buFont typeface="Arial" panose="020B0604020202020204" pitchFamily="34" charset="0"/>
                  <a:buChar char="•"/>
                </a:pPr>
                <a:r>
                  <a:rPr lang="en-US" b="1" dirty="0">
                    <a:cs typeface="Times New Roman" panose="02020603050405020304" pitchFamily="18" charset="0"/>
                  </a:rPr>
                  <a:t>Conclude</a:t>
                </a:r>
                <a:r>
                  <a:rPr lang="en-US" dirty="0">
                    <a:cs typeface="Times New Roman" panose="02020603050405020304" pitchFamily="18" charset="0"/>
                  </a:rPr>
                  <a:t> with insights and recommendations for extending H-TSQS to other NP-hard optimization problems.</a:t>
                </a:r>
              </a:p>
              <a:p>
                <a:pPr marL="285750" indent="-285750" algn="just">
                  <a:lnSpc>
                    <a:spcPct val="150000"/>
                  </a:lnSpc>
                  <a:buFont typeface="Arial" panose="020B0604020202020204" pitchFamily="34" charset="0"/>
                  <a:buChar char="•"/>
                </a:pPr>
                <a:endParaRPr lang="en-US" dirty="0">
                  <a:cs typeface="Times New Roman" panose="02020603050405020304" pitchFamily="18" charset="0"/>
                </a:endParaRPr>
              </a:p>
            </p:txBody>
          </p:sp>
        </mc:Choice>
        <mc:Fallback>
          <p:sp>
            <p:nvSpPr>
              <p:cNvPr id="3" name="TextBox 2">
                <a:extLst>
                  <a:ext uri="{FF2B5EF4-FFF2-40B4-BE49-F238E27FC236}">
                    <a16:creationId xmlns:a16="http://schemas.microsoft.com/office/drawing/2014/main" id="{E538F5EF-7864-29A4-FDC5-B025A1BA6982}"/>
                  </a:ext>
                </a:extLst>
              </p:cNvPr>
              <p:cNvSpPr txBox="1">
                <a:spLocks noRot="1" noChangeAspect="1" noMove="1" noResize="1" noEditPoints="1" noAdjustHandles="1" noChangeArrowheads="1" noChangeShapeType="1" noTextEdit="1"/>
              </p:cNvSpPr>
              <p:nvPr/>
            </p:nvSpPr>
            <p:spPr>
              <a:xfrm>
                <a:off x="622169" y="1737360"/>
                <a:ext cx="10680570" cy="4204356"/>
              </a:xfrm>
              <a:prstGeom prst="rect">
                <a:avLst/>
              </a:prstGeom>
              <a:blipFill>
                <a:blip r:embed="rId2"/>
                <a:stretch>
                  <a:fillRect l="-342" r="-514"/>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73FE3B3A-C615-9A23-4180-3B460DE004E2}"/>
              </a:ext>
            </a:extLst>
          </p:cNvPr>
          <p:cNvSpPr txBox="1"/>
          <p:nvPr/>
        </p:nvSpPr>
        <p:spPr>
          <a:xfrm>
            <a:off x="622169" y="6386731"/>
            <a:ext cx="3822970" cy="369332"/>
          </a:xfrm>
          <a:prstGeom prst="rect">
            <a:avLst/>
          </a:prstGeom>
          <a:noFill/>
        </p:spPr>
        <p:txBody>
          <a:bodyPr wrap="none" rtlCol="0">
            <a:spAutoFit/>
          </a:bodyPr>
          <a:lstStyle/>
          <a:p>
            <a:r>
              <a:rPr lang="en-US" i="1" dirty="0"/>
              <a:t>Department of Information Technology</a:t>
            </a:r>
          </a:p>
        </p:txBody>
      </p:sp>
    </p:spTree>
    <p:extLst>
      <p:ext uri="{BB962C8B-B14F-4D97-AF65-F5344CB8AC3E}">
        <p14:creationId xmlns:p14="http://schemas.microsoft.com/office/powerpoint/2010/main" val="921066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90B80-4144-CA6F-A90B-5D91F158A7FE}"/>
              </a:ext>
            </a:extLst>
          </p:cNvPr>
          <p:cNvSpPr>
            <a:spLocks noGrp="1"/>
          </p:cNvSpPr>
          <p:nvPr>
            <p:ph type="title"/>
          </p:nvPr>
        </p:nvSpPr>
        <p:spPr/>
        <p:txBody>
          <a:bodyPr>
            <a:normAutofit/>
          </a:bodyPr>
          <a:lstStyle/>
          <a:p>
            <a:r>
              <a:rPr lang="en-US" sz="4000" b="1" dirty="0">
                <a:solidFill>
                  <a:srgbClr val="C00000"/>
                </a:solidFill>
                <a:latin typeface="Times New Roman" panose="02020603050405020304" pitchFamily="18" charset="0"/>
                <a:cs typeface="Times New Roman" panose="02020603050405020304" pitchFamily="18" charset="0"/>
              </a:rPr>
              <a:t>PROJECT  PLAN</a:t>
            </a:r>
          </a:p>
        </p:txBody>
      </p:sp>
      <p:graphicFrame>
        <p:nvGraphicFramePr>
          <p:cNvPr id="4" name="Table 3">
            <a:extLst>
              <a:ext uri="{FF2B5EF4-FFF2-40B4-BE49-F238E27FC236}">
                <a16:creationId xmlns:a16="http://schemas.microsoft.com/office/drawing/2014/main" id="{688C8055-5771-DFAF-7F85-186ACE0AA36B}"/>
              </a:ext>
            </a:extLst>
          </p:cNvPr>
          <p:cNvGraphicFramePr>
            <a:graphicFrameLocks noGrp="1"/>
          </p:cNvGraphicFramePr>
          <p:nvPr>
            <p:extLst>
              <p:ext uri="{D42A27DB-BD31-4B8C-83A1-F6EECF244321}">
                <p14:modId xmlns:p14="http://schemas.microsoft.com/office/powerpoint/2010/main" val="650505472"/>
              </p:ext>
            </p:extLst>
          </p:nvPr>
        </p:nvGraphicFramePr>
        <p:xfrm>
          <a:off x="1225485" y="1819373"/>
          <a:ext cx="9407952" cy="4075012"/>
        </p:xfrm>
        <a:graphic>
          <a:graphicData uri="http://schemas.openxmlformats.org/drawingml/2006/table">
            <a:tbl>
              <a:tblPr/>
              <a:tblGrid>
                <a:gridCol w="2351988">
                  <a:extLst>
                    <a:ext uri="{9D8B030D-6E8A-4147-A177-3AD203B41FA5}">
                      <a16:colId xmlns:a16="http://schemas.microsoft.com/office/drawing/2014/main" val="3374399760"/>
                    </a:ext>
                  </a:extLst>
                </a:gridCol>
                <a:gridCol w="2351988">
                  <a:extLst>
                    <a:ext uri="{9D8B030D-6E8A-4147-A177-3AD203B41FA5}">
                      <a16:colId xmlns:a16="http://schemas.microsoft.com/office/drawing/2014/main" val="1110455630"/>
                    </a:ext>
                  </a:extLst>
                </a:gridCol>
                <a:gridCol w="2351988">
                  <a:extLst>
                    <a:ext uri="{9D8B030D-6E8A-4147-A177-3AD203B41FA5}">
                      <a16:colId xmlns:a16="http://schemas.microsoft.com/office/drawing/2014/main" val="3758130094"/>
                    </a:ext>
                  </a:extLst>
                </a:gridCol>
                <a:gridCol w="2351988">
                  <a:extLst>
                    <a:ext uri="{9D8B030D-6E8A-4147-A177-3AD203B41FA5}">
                      <a16:colId xmlns:a16="http://schemas.microsoft.com/office/drawing/2014/main" val="913462750"/>
                    </a:ext>
                  </a:extLst>
                </a:gridCol>
              </a:tblGrid>
              <a:tr h="213128">
                <a:tc>
                  <a:txBody>
                    <a:bodyPr/>
                    <a:lstStyle/>
                    <a:p>
                      <a:pPr>
                        <a:buNone/>
                      </a:pPr>
                      <a:r>
                        <a:rPr lang="en-US" sz="1000" b="1" dirty="0"/>
                        <a:t>Task</a:t>
                      </a:r>
                      <a:endParaRPr lang="en-US" sz="1000" dirty="0"/>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buNone/>
                      </a:pPr>
                      <a:r>
                        <a:rPr lang="en-US" sz="1000" b="1"/>
                        <a:t>Description</a:t>
                      </a:r>
                      <a:endParaRPr lang="en-US" sz="1000"/>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buNone/>
                      </a:pPr>
                      <a:r>
                        <a:rPr lang="en-US" sz="1000" b="1"/>
                        <a:t>Duration</a:t>
                      </a:r>
                      <a:endParaRPr lang="en-US" sz="1000"/>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buNone/>
                      </a:pPr>
                      <a:r>
                        <a:rPr lang="en-US" sz="1000" b="1" dirty="0"/>
                        <a:t>Remarks</a:t>
                      </a:r>
                      <a:endParaRPr lang="en-US" sz="1000" dirty="0"/>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662894897"/>
                  </a:ext>
                </a:extLst>
              </a:tr>
              <a:tr h="718234">
                <a:tc>
                  <a:txBody>
                    <a:bodyPr/>
                    <a:lstStyle/>
                    <a:p>
                      <a:pPr>
                        <a:buNone/>
                      </a:pPr>
                      <a:r>
                        <a:rPr lang="en-US" sz="1000" b="1" dirty="0"/>
                        <a:t>Literature Review</a:t>
                      </a:r>
                      <a:endParaRPr lang="en-US" sz="1000" dirty="0"/>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dirty="0"/>
                        <a:t>Study existing TSQS, Grover-based, and hybrid quantum algorithms.</a:t>
                      </a:r>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Week 1–2</a:t>
                      </a:r>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Identify research gaps and hybrid opportunities.</a:t>
                      </a:r>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2934942"/>
                  </a:ext>
                </a:extLst>
              </a:tr>
              <a:tr h="852515">
                <a:tc>
                  <a:txBody>
                    <a:bodyPr/>
                    <a:lstStyle/>
                    <a:p>
                      <a:pPr>
                        <a:buNone/>
                      </a:pPr>
                      <a:r>
                        <a:rPr lang="en-US" sz="1000" b="1"/>
                        <a:t>Architecture Design</a:t>
                      </a:r>
                      <a:endParaRPr lang="en-US" sz="1000"/>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Design the H-TSQS hybrid workflow integrating classical preprocessing and quantum execution.</a:t>
                      </a:r>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Week 3</a:t>
                      </a:r>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Define module structure and execution logic.</a:t>
                      </a:r>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16395751"/>
                  </a:ext>
                </a:extLst>
              </a:tr>
              <a:tr h="692669">
                <a:tc>
                  <a:txBody>
                    <a:bodyPr/>
                    <a:lstStyle/>
                    <a:p>
                      <a:pPr>
                        <a:buNone/>
                      </a:pPr>
                      <a:r>
                        <a:rPr lang="en-US" sz="1000" b="1"/>
                        <a:t>Implementation</a:t>
                      </a:r>
                      <a:endParaRPr lang="en-US" sz="1000"/>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Develop classical heuristics and quantum circuit synthesis in Qiskit.</a:t>
                      </a:r>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dirty="0"/>
                        <a:t>Week 4–5</a:t>
                      </a:r>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Build HOBO-based oracles and tour generation.</a:t>
                      </a:r>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9729335"/>
                  </a:ext>
                </a:extLst>
              </a:tr>
              <a:tr h="532822">
                <a:tc>
                  <a:txBody>
                    <a:bodyPr/>
                    <a:lstStyle/>
                    <a:p>
                      <a:pPr>
                        <a:buNone/>
                      </a:pPr>
                      <a:r>
                        <a:rPr lang="en-US" sz="1000" b="1"/>
                        <a:t>Adaptive Tuning Module</a:t>
                      </a:r>
                      <a:endParaRPr lang="en-US" sz="1000"/>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dirty="0"/>
                        <a:t>Implement a data-driven optimizer for iteration parameters (t₁, t₂).</a:t>
                      </a:r>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dirty="0"/>
                        <a:t>Week 6</a:t>
                      </a:r>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Automate success probability maximization.</a:t>
                      </a:r>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7920466"/>
                  </a:ext>
                </a:extLst>
              </a:tr>
              <a:tr h="532822">
                <a:tc>
                  <a:txBody>
                    <a:bodyPr/>
                    <a:lstStyle/>
                    <a:p>
                      <a:pPr>
                        <a:buNone/>
                      </a:pPr>
                      <a:r>
                        <a:rPr lang="en-US" sz="1000" b="1"/>
                        <a:t>Simulation &amp; Testing</a:t>
                      </a:r>
                      <a:endParaRPr lang="en-US" sz="1000"/>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Run experiments under ideal and noisy (FakeVigo) modes.</a:t>
                      </a:r>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Week 7</a:t>
                      </a:r>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Evaluate efficiency and correctness.</a:t>
                      </a:r>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9511361"/>
                  </a:ext>
                </a:extLst>
              </a:tr>
              <a:tr h="532822">
                <a:tc>
                  <a:txBody>
                    <a:bodyPr/>
                    <a:lstStyle/>
                    <a:p>
                      <a:pPr>
                        <a:buNone/>
                      </a:pPr>
                      <a:r>
                        <a:rPr lang="en-US" sz="1000" b="1"/>
                        <a:t>Analysis &amp; Documentation</a:t>
                      </a:r>
                      <a:endParaRPr lang="en-US" sz="1000"/>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dirty="0"/>
                        <a:t>Compare H-TSQS vs. base TSQS performance and prepare final report.</a:t>
                      </a:r>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Week 8</a:t>
                      </a:r>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dirty="0"/>
                        <a:t>Summarize results and propose future work.</a:t>
                      </a:r>
                    </a:p>
                  </a:txBody>
                  <a:tcPr marL="52931" marR="52931" marT="26465" marB="264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4059430"/>
                  </a:ext>
                </a:extLst>
              </a:tr>
            </a:tbl>
          </a:graphicData>
        </a:graphic>
      </p:graphicFrame>
      <p:sp>
        <p:nvSpPr>
          <p:cNvPr id="6" name="TextBox 5">
            <a:extLst>
              <a:ext uri="{FF2B5EF4-FFF2-40B4-BE49-F238E27FC236}">
                <a16:creationId xmlns:a16="http://schemas.microsoft.com/office/drawing/2014/main" id="{9CD17777-EBCF-7079-A0CF-305FDF30C5BB}"/>
              </a:ext>
            </a:extLst>
          </p:cNvPr>
          <p:cNvSpPr txBox="1"/>
          <p:nvPr/>
        </p:nvSpPr>
        <p:spPr>
          <a:xfrm>
            <a:off x="471341" y="6386731"/>
            <a:ext cx="4157220" cy="369332"/>
          </a:xfrm>
          <a:prstGeom prst="rect">
            <a:avLst/>
          </a:prstGeom>
          <a:noFill/>
        </p:spPr>
        <p:txBody>
          <a:bodyPr wrap="square" rtlCol="0">
            <a:spAutoFit/>
          </a:bodyPr>
          <a:lstStyle/>
          <a:p>
            <a:r>
              <a:rPr lang="en-US" i="1" dirty="0"/>
              <a:t>Department of Information Technology</a:t>
            </a:r>
          </a:p>
        </p:txBody>
      </p:sp>
    </p:spTree>
    <p:extLst>
      <p:ext uri="{BB962C8B-B14F-4D97-AF65-F5344CB8AC3E}">
        <p14:creationId xmlns:p14="http://schemas.microsoft.com/office/powerpoint/2010/main" val="3627692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33EEF-0D2D-10AF-CABB-CEFDC873864A}"/>
              </a:ext>
            </a:extLst>
          </p:cNvPr>
          <p:cNvSpPr>
            <a:spLocks noGrp="1"/>
          </p:cNvSpPr>
          <p:nvPr>
            <p:ph type="title"/>
          </p:nvPr>
        </p:nvSpPr>
        <p:spPr/>
        <p:txBody>
          <a:bodyPr>
            <a:normAutofit/>
          </a:bodyPr>
          <a:lstStyle/>
          <a:p>
            <a:r>
              <a:rPr lang="en-US" sz="4000" b="1" dirty="0">
                <a:solidFill>
                  <a:srgbClr val="C00000"/>
                </a:solidFill>
                <a:latin typeface="Times New Roman" panose="02020603050405020304" pitchFamily="18" charset="0"/>
                <a:cs typeface="Times New Roman" panose="02020603050405020304" pitchFamily="18" charset="0"/>
              </a:rPr>
              <a:t>LITERATURE  REVIEW</a:t>
            </a:r>
          </a:p>
        </p:txBody>
      </p:sp>
      <p:sp>
        <p:nvSpPr>
          <p:cNvPr id="3" name="TextBox 2">
            <a:extLst>
              <a:ext uri="{FF2B5EF4-FFF2-40B4-BE49-F238E27FC236}">
                <a16:creationId xmlns:a16="http://schemas.microsoft.com/office/drawing/2014/main" id="{EFB90B04-8F33-DF71-86BD-35058F7507B3}"/>
              </a:ext>
            </a:extLst>
          </p:cNvPr>
          <p:cNvSpPr txBox="1"/>
          <p:nvPr/>
        </p:nvSpPr>
        <p:spPr>
          <a:xfrm>
            <a:off x="1009581" y="1909662"/>
            <a:ext cx="9539012" cy="3416320"/>
          </a:xfrm>
          <a:prstGeom prst="rect">
            <a:avLst/>
          </a:prstGeom>
          <a:noFill/>
        </p:spPr>
        <p:txBody>
          <a:bodyPr wrap="square" rtlCol="0">
            <a:spAutoFit/>
          </a:bodyPr>
          <a:lstStyle/>
          <a:p>
            <a:r>
              <a:rPr lang="en-US" dirty="0"/>
              <a:t>Classical algorithms like dynamic programming and branch-and-bound scale poorly for large TSP instances, while heuristics such as Nearest Neighbor and 2-Opt improve speed but lose optimality. Quantum algorithms like Grover’s Search and QAOA offer theoretical speedups but face issues with circuit depth, noise, and parameter tuning on NISQ devices.</a:t>
            </a:r>
          </a:p>
          <a:p>
            <a:r>
              <a:rPr lang="en-US" dirty="0"/>
              <a:t>The </a:t>
            </a:r>
            <a:r>
              <a:rPr lang="en-US" b="1" dirty="0"/>
              <a:t>Two-Step Quantum Search (TSQS)</a:t>
            </a:r>
            <a:r>
              <a:rPr lang="en-US" dirty="0"/>
              <a:t> proposed by Sato et al. (2025) achieves quadratic speed-up using dual operators for superposition and amplification but remains theoretical due to fixed iterations and lack of noise handling. Hybrid quantum–classical models address these gaps by integrating classical preprocessing, adaptive iteration tuning, and noise-aware simulation.</a:t>
            </a:r>
          </a:p>
          <a:p>
            <a:r>
              <a:rPr lang="en-US" dirty="0"/>
              <a:t>The proposed </a:t>
            </a:r>
            <a:r>
              <a:rPr lang="en-US" b="1" dirty="0"/>
              <a:t>H-TSQS framework</a:t>
            </a:r>
            <a:r>
              <a:rPr lang="en-US" dirty="0"/>
              <a:t> builds on these advances, combining classical heuristics, adaptive tuning, and </a:t>
            </a:r>
            <a:r>
              <a:rPr lang="en-US" dirty="0" err="1"/>
              <a:t>Qiskit</a:t>
            </a:r>
            <a:r>
              <a:rPr lang="en-US" dirty="0"/>
              <a:t>-based noise modeling to create an executable, scalable, and reproducible hybrid solution for quantum optimization.</a:t>
            </a:r>
          </a:p>
          <a:p>
            <a:endParaRPr lang="en-US" dirty="0"/>
          </a:p>
        </p:txBody>
      </p:sp>
      <p:sp>
        <p:nvSpPr>
          <p:cNvPr id="4" name="TextBox 3">
            <a:extLst>
              <a:ext uri="{FF2B5EF4-FFF2-40B4-BE49-F238E27FC236}">
                <a16:creationId xmlns:a16="http://schemas.microsoft.com/office/drawing/2014/main" id="{E5DDDF6E-CDE4-2DC6-5CBC-49E03F17E543}"/>
              </a:ext>
            </a:extLst>
          </p:cNvPr>
          <p:cNvSpPr txBox="1"/>
          <p:nvPr/>
        </p:nvSpPr>
        <p:spPr>
          <a:xfrm>
            <a:off x="395926" y="6386731"/>
            <a:ext cx="3822970" cy="369332"/>
          </a:xfrm>
          <a:prstGeom prst="rect">
            <a:avLst/>
          </a:prstGeom>
          <a:noFill/>
        </p:spPr>
        <p:txBody>
          <a:bodyPr wrap="none" rtlCol="0">
            <a:spAutoFit/>
          </a:bodyPr>
          <a:lstStyle/>
          <a:p>
            <a:r>
              <a:rPr lang="en-US" i="1" dirty="0"/>
              <a:t>Department of Information Technology</a:t>
            </a:r>
          </a:p>
        </p:txBody>
      </p:sp>
    </p:spTree>
    <p:extLst>
      <p:ext uri="{BB962C8B-B14F-4D97-AF65-F5344CB8AC3E}">
        <p14:creationId xmlns:p14="http://schemas.microsoft.com/office/powerpoint/2010/main" val="805201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9B06E-D13D-B8AD-79FD-769C6DD33B04}"/>
              </a:ext>
            </a:extLst>
          </p:cNvPr>
          <p:cNvSpPr>
            <a:spLocks noGrp="1"/>
          </p:cNvSpPr>
          <p:nvPr>
            <p:ph type="title"/>
          </p:nvPr>
        </p:nvSpPr>
        <p:spPr/>
        <p:txBody>
          <a:bodyPr>
            <a:normAutofit/>
          </a:bodyPr>
          <a:lstStyle/>
          <a:p>
            <a:r>
              <a:rPr lang="en-US" sz="4000" b="1" dirty="0">
                <a:solidFill>
                  <a:srgbClr val="C00000"/>
                </a:solidFill>
                <a:latin typeface="Times New Roman" panose="02020603050405020304" pitchFamily="18" charset="0"/>
                <a:cs typeface="Times New Roman" panose="02020603050405020304" pitchFamily="18" charset="0"/>
              </a:rPr>
              <a:t>EXISTING  IDEA</a:t>
            </a:r>
          </a:p>
        </p:txBody>
      </p:sp>
      <p:sp>
        <p:nvSpPr>
          <p:cNvPr id="3" name="TextBox 2">
            <a:extLst>
              <a:ext uri="{FF2B5EF4-FFF2-40B4-BE49-F238E27FC236}">
                <a16:creationId xmlns:a16="http://schemas.microsoft.com/office/drawing/2014/main" id="{4F444800-99DE-DF0E-2FFD-721482F0F176}"/>
              </a:ext>
            </a:extLst>
          </p:cNvPr>
          <p:cNvSpPr txBox="1"/>
          <p:nvPr/>
        </p:nvSpPr>
        <p:spPr>
          <a:xfrm>
            <a:off x="1097280" y="1997839"/>
            <a:ext cx="9629733" cy="3416320"/>
          </a:xfrm>
          <a:prstGeom prst="rect">
            <a:avLst/>
          </a:prstGeom>
          <a:noFill/>
        </p:spPr>
        <p:txBody>
          <a:bodyPr wrap="square" rtlCol="0">
            <a:spAutoFit/>
          </a:bodyPr>
          <a:lstStyle/>
          <a:p>
            <a:r>
              <a:rPr lang="en-US" dirty="0"/>
              <a:t>The existing </a:t>
            </a:r>
            <a:r>
              <a:rPr lang="en-US" b="1" dirty="0"/>
              <a:t>Two-Step Quantum Search (TSQS)</a:t>
            </a:r>
            <a:r>
              <a:rPr lang="en-US" dirty="0"/>
              <a:t> algorithm, proposed by </a:t>
            </a:r>
            <a:r>
              <a:rPr lang="en-US" i="1" dirty="0"/>
              <a:t>Sato et al. (2025)</a:t>
            </a:r>
            <a:r>
              <a:rPr lang="en-US" dirty="0"/>
              <a:t>, is a quantum optimization approach designed to solve the </a:t>
            </a:r>
            <a:r>
              <a:rPr lang="en-US" b="1" dirty="0"/>
              <a:t>Traveling Salesman Problem (TSP)</a:t>
            </a:r>
            <a:r>
              <a:rPr lang="en-US" dirty="0"/>
              <a:t> more efficiently than classical methods. It operates in two key phases: the first constructs a uniform superposition of all feasible tours using HOBO-based encoding, and the second amplifies the optimal (minimum-cost) tour through Grover-style iterations. </a:t>
            </a:r>
          </a:p>
          <a:p>
            <a:endParaRPr lang="en-US" dirty="0"/>
          </a:p>
          <a:p>
            <a:r>
              <a:rPr lang="en-US" dirty="0"/>
              <a:t>This dual-operator structure achieves a </a:t>
            </a:r>
            <a:r>
              <a:rPr lang="en-US" b="1" dirty="0"/>
              <a:t>quadratic speed-up</a:t>
            </a:r>
            <a:r>
              <a:rPr lang="en-US" dirty="0"/>
              <a:t> compared to classical brute-force search and demonstrates effective path amplification in small-scale simulations. However, the original TSQS model is primarily theoretical, with </a:t>
            </a:r>
            <a:r>
              <a:rPr lang="en-US" b="1" dirty="0"/>
              <a:t>fixed iteration parameters</a:t>
            </a:r>
            <a:r>
              <a:rPr lang="en-US" dirty="0"/>
              <a:t>, </a:t>
            </a:r>
            <a:r>
              <a:rPr lang="en-US" b="1" dirty="0"/>
              <a:t>high circuit depth</a:t>
            </a:r>
            <a:r>
              <a:rPr lang="en-US" dirty="0"/>
              <a:t>, and </a:t>
            </a:r>
            <a:r>
              <a:rPr lang="en-US" b="1" dirty="0"/>
              <a:t>no noise modeling</a:t>
            </a:r>
            <a:r>
              <a:rPr lang="en-US" dirty="0"/>
              <a:t>, which limit its scalability on current NISQ hardware. These constraints highlight the need for an enhanced, hybrid, and adaptive extension to make TSQS practical and executable on real quantum systems.</a:t>
            </a:r>
          </a:p>
        </p:txBody>
      </p:sp>
      <p:sp>
        <p:nvSpPr>
          <p:cNvPr id="5" name="TextBox 4">
            <a:extLst>
              <a:ext uri="{FF2B5EF4-FFF2-40B4-BE49-F238E27FC236}">
                <a16:creationId xmlns:a16="http://schemas.microsoft.com/office/drawing/2014/main" id="{9E85EEA0-915E-58BD-97EC-3BDBC15C7797}"/>
              </a:ext>
            </a:extLst>
          </p:cNvPr>
          <p:cNvSpPr txBox="1"/>
          <p:nvPr/>
        </p:nvSpPr>
        <p:spPr>
          <a:xfrm>
            <a:off x="403123" y="6386731"/>
            <a:ext cx="6096000" cy="369332"/>
          </a:xfrm>
          <a:prstGeom prst="rect">
            <a:avLst/>
          </a:prstGeom>
          <a:noFill/>
        </p:spPr>
        <p:txBody>
          <a:bodyPr wrap="square">
            <a:spAutoFit/>
          </a:bodyPr>
          <a:lstStyle/>
          <a:p>
            <a:r>
              <a:rPr lang="en-US" i="1" dirty="0"/>
              <a:t>Department of Information Technology</a:t>
            </a:r>
          </a:p>
        </p:txBody>
      </p:sp>
    </p:spTree>
    <p:extLst>
      <p:ext uri="{BB962C8B-B14F-4D97-AF65-F5344CB8AC3E}">
        <p14:creationId xmlns:p14="http://schemas.microsoft.com/office/powerpoint/2010/main" val="585669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2F299-7DBA-3484-4A84-B4459C830044}"/>
              </a:ext>
            </a:extLst>
          </p:cNvPr>
          <p:cNvSpPr>
            <a:spLocks noGrp="1"/>
          </p:cNvSpPr>
          <p:nvPr>
            <p:ph type="title"/>
          </p:nvPr>
        </p:nvSpPr>
        <p:spPr/>
        <p:txBody>
          <a:bodyPr>
            <a:normAutofit/>
          </a:bodyPr>
          <a:lstStyle/>
          <a:p>
            <a:r>
              <a:rPr lang="en-US" sz="4000" b="1" dirty="0">
                <a:solidFill>
                  <a:srgbClr val="C00000"/>
                </a:solidFill>
                <a:latin typeface="Times New Roman" panose="02020603050405020304" pitchFamily="18" charset="0"/>
                <a:cs typeface="Times New Roman" panose="02020603050405020304" pitchFamily="18" charset="0"/>
              </a:rPr>
              <a:t>PROPOSED  METHODOLOGY</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806593F-4841-36CB-68A0-FB0E2E782782}"/>
                  </a:ext>
                </a:extLst>
              </p:cNvPr>
              <p:cNvSpPr txBox="1"/>
              <p:nvPr/>
            </p:nvSpPr>
            <p:spPr>
              <a:xfrm>
                <a:off x="1097280" y="1894788"/>
                <a:ext cx="9417376" cy="3416320"/>
              </a:xfrm>
              <a:prstGeom prst="rect">
                <a:avLst/>
              </a:prstGeom>
              <a:noFill/>
            </p:spPr>
            <p:txBody>
              <a:bodyPr wrap="square" rtlCol="0">
                <a:spAutoFit/>
              </a:bodyPr>
              <a:lstStyle/>
              <a:p>
                <a:pPr algn="just"/>
                <a:r>
                  <a:rPr lang="en-US" dirty="0"/>
                  <a:t>The proposed </a:t>
                </a:r>
                <a:r>
                  <a:rPr lang="en-US" b="1" dirty="0"/>
                  <a:t>Hybrid-Enhanced Two-Step Quantum Search (H-TSQS)</a:t>
                </a:r>
                <a:r>
                  <a:rPr lang="en-US" dirty="0"/>
                  <a:t> framework extends the original TSQS algorithm by integrating </a:t>
                </a:r>
                <a:r>
                  <a:rPr lang="en-US" b="1" dirty="0"/>
                  <a:t>classical heuristics</a:t>
                </a:r>
                <a:r>
                  <a:rPr lang="en-US" dirty="0"/>
                  <a:t>, </a:t>
                </a:r>
                <a:r>
                  <a:rPr lang="en-US" b="1" dirty="0"/>
                  <a:t>adaptive iteration tuning</a:t>
                </a:r>
                <a:r>
                  <a:rPr lang="en-US" dirty="0"/>
                  <a:t>, and </a:t>
                </a:r>
                <a:r>
                  <a:rPr lang="en-US" b="1" dirty="0"/>
                  <a:t>noise-aware simulation</a:t>
                </a:r>
                <a:r>
                  <a:rPr lang="en-US" dirty="0"/>
                  <a:t> to create an executable and scalable hybrid system. The methodology begins with </a:t>
                </a:r>
                <a:r>
                  <a:rPr lang="en-US" b="1" dirty="0"/>
                  <a:t>classical preprocessing</a:t>
                </a:r>
                <a:r>
                  <a:rPr lang="en-US" dirty="0"/>
                  <a:t>, where the nearest-neighbor and 2-Opt algorithms generate a reduced set of feasible tours, minimizing the quantum search space. Next, a </a:t>
                </a:r>
                <a:r>
                  <a:rPr lang="en-US" b="1" dirty="0"/>
                  <a:t>quantum circuit</a:t>
                </a:r>
                <a:r>
                  <a:rPr lang="en-US" dirty="0"/>
                  <a:t> is synthesized using HOBO-based oracles and multi-controlled phase (MCX) gates to encode tour validity and cost constraints. The system then employs </a:t>
                </a:r>
                <a:r>
                  <a:rPr lang="en-US" b="1" dirty="0"/>
                  <a:t>adaptive iteration tuning</a:t>
                </a:r>
                <a:r>
                  <a:rPr lang="en-US" dirty="0"/>
                  <a:t> to automatically identify optimal parameters </a:t>
                </a:r>
                <a14:m>
                  <m:oMath xmlns:m="http://schemas.openxmlformats.org/officeDocument/2006/math">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a:latin typeface="Cambria Math" panose="02040503050406030204" pitchFamily="18" charset="0"/>
                              </a:rPr>
                              <m:t>1</m:t>
                            </m:r>
                          </m:sub>
                        </m:sSub>
                      </m:e>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a:latin typeface="Cambria Math" panose="02040503050406030204" pitchFamily="18" charset="0"/>
                              </a:rPr>
                              <m:t>2</m:t>
                            </m:r>
                          </m:sub>
                        </m:sSub>
                      </m:e>
                    </m:d>
                  </m:oMath>
                </a14:m>
                <a:r>
                  <a:rPr lang="en-US" dirty="0"/>
                  <a:t>that maximize the probability of obtaining the best tour solution. Finally, the algorithm is executed on both </a:t>
                </a:r>
                <a:r>
                  <a:rPr lang="en-US" b="1" dirty="0"/>
                  <a:t>noiseless and noisy (</a:t>
                </a:r>
                <a:r>
                  <a:rPr lang="en-US" b="1" dirty="0" err="1"/>
                  <a:t>FakeVigo</a:t>
                </a:r>
                <a:r>
                  <a:rPr lang="en-US" b="1" dirty="0"/>
                  <a:t>)</a:t>
                </a:r>
                <a:r>
                  <a:rPr lang="en-US" dirty="0"/>
                  <a:t> backends using </a:t>
                </a:r>
                <a:r>
                  <a:rPr lang="en-US" b="1" dirty="0" err="1"/>
                  <a:t>Qiskit</a:t>
                </a:r>
                <a:r>
                  <a:rPr lang="en-US" b="1" dirty="0"/>
                  <a:t> </a:t>
                </a:r>
                <a:r>
                  <a:rPr lang="en-US" b="1" dirty="0" err="1"/>
                  <a:t>AerSimulator</a:t>
                </a:r>
                <a:r>
                  <a:rPr lang="en-US" dirty="0"/>
                  <a:t>, allowing performance comparison and validation under real-device conditions. This hybrid workflow ensures enhanced efficiency, noise tolerance, and reproducibility, bridging the gap between theoretical quantum design and practical NISQ-era execution.</a:t>
                </a:r>
              </a:p>
            </p:txBody>
          </p:sp>
        </mc:Choice>
        <mc:Fallback xmlns="">
          <p:sp>
            <p:nvSpPr>
              <p:cNvPr id="3" name="TextBox 2">
                <a:extLst>
                  <a:ext uri="{FF2B5EF4-FFF2-40B4-BE49-F238E27FC236}">
                    <a16:creationId xmlns:a16="http://schemas.microsoft.com/office/drawing/2014/main" id="{E806593F-4841-36CB-68A0-FB0E2E782782}"/>
                  </a:ext>
                </a:extLst>
              </p:cNvPr>
              <p:cNvSpPr txBox="1">
                <a:spLocks noRot="1" noChangeAspect="1" noMove="1" noResize="1" noEditPoints="1" noAdjustHandles="1" noChangeArrowheads="1" noChangeShapeType="1" noTextEdit="1"/>
              </p:cNvSpPr>
              <p:nvPr/>
            </p:nvSpPr>
            <p:spPr>
              <a:xfrm>
                <a:off x="1097280" y="1894788"/>
                <a:ext cx="9417376" cy="3416320"/>
              </a:xfrm>
              <a:prstGeom prst="rect">
                <a:avLst/>
              </a:prstGeom>
              <a:blipFill>
                <a:blip r:embed="rId2"/>
                <a:stretch>
                  <a:fillRect l="-518" t="-1071" r="-518" b="-1964"/>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55996E32-5CF8-816B-55AA-3692C7AFB3E5}"/>
              </a:ext>
            </a:extLst>
          </p:cNvPr>
          <p:cNvSpPr txBox="1"/>
          <p:nvPr/>
        </p:nvSpPr>
        <p:spPr>
          <a:xfrm>
            <a:off x="344129" y="6386731"/>
            <a:ext cx="6096000" cy="369332"/>
          </a:xfrm>
          <a:prstGeom prst="rect">
            <a:avLst/>
          </a:prstGeom>
          <a:noFill/>
        </p:spPr>
        <p:txBody>
          <a:bodyPr wrap="square">
            <a:spAutoFit/>
          </a:bodyPr>
          <a:lstStyle/>
          <a:p>
            <a:r>
              <a:rPr lang="en-US" i="1" dirty="0"/>
              <a:t>Department of Information Technology</a:t>
            </a:r>
          </a:p>
        </p:txBody>
      </p:sp>
    </p:spTree>
    <p:extLst>
      <p:ext uri="{BB962C8B-B14F-4D97-AF65-F5344CB8AC3E}">
        <p14:creationId xmlns:p14="http://schemas.microsoft.com/office/powerpoint/2010/main" val="1776626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09F11-F725-B9D1-AA0F-793C4BFF7043}"/>
              </a:ext>
            </a:extLst>
          </p:cNvPr>
          <p:cNvSpPr>
            <a:spLocks noGrp="1"/>
          </p:cNvSpPr>
          <p:nvPr>
            <p:ph type="title"/>
          </p:nvPr>
        </p:nvSpPr>
        <p:spPr/>
        <p:txBody>
          <a:bodyPr/>
          <a:lstStyle/>
          <a:p>
            <a:r>
              <a:rPr lang="en-US" b="1" dirty="0">
                <a:solidFill>
                  <a:srgbClr val="C00000"/>
                </a:solidFill>
                <a:latin typeface="Times New Roman" panose="02020603050405020304" pitchFamily="18" charset="0"/>
                <a:cs typeface="Times New Roman" panose="02020603050405020304" pitchFamily="18" charset="0"/>
              </a:rPr>
              <a:t>FLOW CHART</a:t>
            </a:r>
            <a:endParaRPr lang="en-IN" dirty="0"/>
          </a:p>
        </p:txBody>
      </p:sp>
      <p:pic>
        <p:nvPicPr>
          <p:cNvPr id="7" name="Picture 6">
            <a:extLst>
              <a:ext uri="{FF2B5EF4-FFF2-40B4-BE49-F238E27FC236}">
                <a16:creationId xmlns:a16="http://schemas.microsoft.com/office/drawing/2014/main" id="{7B1E8EAE-7249-B0D4-391F-33762A0153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4355" y="1853247"/>
            <a:ext cx="7181850" cy="4086225"/>
          </a:xfrm>
          <a:prstGeom prst="rect">
            <a:avLst/>
          </a:prstGeom>
        </p:spPr>
      </p:pic>
    </p:spTree>
    <p:extLst>
      <p:ext uri="{BB962C8B-B14F-4D97-AF65-F5344CB8AC3E}">
        <p14:creationId xmlns:p14="http://schemas.microsoft.com/office/powerpoint/2010/main" val="3756126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2138E-C0BC-A47E-32C7-5206374F920E}"/>
              </a:ext>
            </a:extLst>
          </p:cNvPr>
          <p:cNvSpPr>
            <a:spLocks noGrp="1"/>
          </p:cNvSpPr>
          <p:nvPr>
            <p:ph type="title"/>
          </p:nvPr>
        </p:nvSpPr>
        <p:spPr/>
        <p:txBody>
          <a:bodyPr>
            <a:normAutofit/>
          </a:bodyPr>
          <a:lstStyle/>
          <a:p>
            <a:r>
              <a:rPr lang="en-US" sz="4000" b="1" dirty="0">
                <a:solidFill>
                  <a:srgbClr val="C00000"/>
                </a:solidFill>
                <a:latin typeface="Times New Roman" panose="02020603050405020304" pitchFamily="18" charset="0"/>
                <a:cs typeface="Times New Roman" panose="02020603050405020304" pitchFamily="18" charset="0"/>
              </a:rPr>
              <a:t>IMPROVEMENTS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52E4693-836C-2562-7A36-0DE1127C8CA3}"/>
                  </a:ext>
                </a:extLst>
              </p:cNvPr>
              <p:cNvSpPr txBox="1"/>
              <p:nvPr/>
            </p:nvSpPr>
            <p:spPr>
              <a:xfrm>
                <a:off x="1097280" y="1881002"/>
                <a:ext cx="10416294" cy="4247317"/>
              </a:xfrm>
              <a:prstGeom prst="rect">
                <a:avLst/>
              </a:prstGeom>
              <a:noFill/>
            </p:spPr>
            <p:txBody>
              <a:bodyPr wrap="square" rtlCol="0">
                <a:spAutoFit/>
              </a:bodyPr>
              <a:lstStyle/>
              <a:p>
                <a:pPr algn="just"/>
                <a:r>
                  <a:rPr lang="en-US" dirty="0"/>
                  <a:t>🔹 </a:t>
                </a:r>
                <a:r>
                  <a:rPr lang="en-US" b="1" dirty="0"/>
                  <a:t>Adaptive Iteration Tuning:</a:t>
                </a:r>
                <a:r>
                  <a:rPr lang="en-US" dirty="0"/>
                  <a:t> Automatically selects optimal </a:t>
                </a:r>
                <a14:m>
                  <m:oMath xmlns:m="http://schemas.openxmlformats.org/officeDocument/2006/math">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a:latin typeface="Cambria Math" panose="02040503050406030204" pitchFamily="18" charset="0"/>
                              </a:rPr>
                              <m:t>1</m:t>
                            </m:r>
                          </m:sub>
                        </m:sSub>
                      </m:e>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a:latin typeface="Cambria Math" panose="02040503050406030204" pitchFamily="18" charset="0"/>
                              </a:rPr>
                              <m:t>2</m:t>
                            </m:r>
                          </m:sub>
                        </m:sSub>
                      </m:e>
                    </m:d>
                  </m:oMath>
                </a14:m>
                <a:r>
                  <a:rPr lang="en-US" dirty="0"/>
                  <a:t>values to maximize success probability, 	replacing fixed iteration counts in TSQS.</a:t>
                </a:r>
              </a:p>
              <a:p>
                <a:pPr algn="just"/>
                <a:r>
                  <a:rPr lang="en-US" dirty="0"/>
                  <a:t>🔹 </a:t>
                </a:r>
                <a:r>
                  <a:rPr lang="en-US" b="1" dirty="0"/>
                  <a:t>Classical Preprocessing:</a:t>
                </a:r>
                <a:r>
                  <a:rPr lang="en-US" dirty="0"/>
                  <a:t> Incorporates nearest-neighbor and 2-Opt heuristics to reduce the search space 	before quantum execution.</a:t>
                </a:r>
              </a:p>
              <a:p>
                <a:pPr algn="just"/>
                <a:r>
                  <a:rPr lang="en-US" dirty="0"/>
                  <a:t>🔹 </a:t>
                </a:r>
                <a:r>
                  <a:rPr lang="en-US" b="1" dirty="0"/>
                  <a:t>Noise-Aware Simulation:</a:t>
                </a:r>
                <a:r>
                  <a:rPr lang="en-US" dirty="0"/>
                  <a:t> Integrates </a:t>
                </a:r>
                <a:r>
                  <a:rPr lang="en-US" dirty="0" err="1"/>
                  <a:t>Qiskit’s</a:t>
                </a:r>
                <a:r>
                  <a:rPr lang="en-US" dirty="0"/>
                  <a:t> </a:t>
                </a:r>
                <a:r>
                  <a:rPr lang="en-US" dirty="0" err="1"/>
                  <a:t>FakeVigo</a:t>
                </a:r>
                <a:r>
                  <a:rPr lang="en-US" dirty="0"/>
                  <a:t> backend to evaluate algorithm performance under 	realistic noisy conditions.</a:t>
                </a:r>
              </a:p>
              <a:p>
                <a:pPr algn="just"/>
                <a:r>
                  <a:rPr lang="en-US" dirty="0"/>
                  <a:t>🔹 </a:t>
                </a:r>
                <a:r>
                  <a:rPr lang="en-US" b="1" dirty="0"/>
                  <a:t>Hybrid Framework:</a:t>
                </a:r>
                <a:r>
                  <a:rPr lang="en-US" dirty="0"/>
                  <a:t> Seamlessly combines classical optimization and quantum search, enhancing efficiency 	and practicality.</a:t>
                </a:r>
              </a:p>
              <a:p>
                <a:pPr algn="just"/>
                <a:r>
                  <a:rPr lang="en-US" dirty="0"/>
                  <a:t>🔹 </a:t>
                </a:r>
                <a:r>
                  <a:rPr lang="en-US" b="1" dirty="0"/>
                  <a:t>Scalability and Reproducibility:</a:t>
                </a:r>
                <a:r>
                  <a:rPr lang="en-US" dirty="0"/>
                  <a:t> Enables consistent execution across simulators and hardware for various 	TSP instances.</a:t>
                </a:r>
              </a:p>
              <a:p>
                <a:pPr algn="just"/>
                <a:r>
                  <a:rPr lang="en-US" dirty="0"/>
                  <a:t>🔹 </a:t>
                </a:r>
                <a:r>
                  <a:rPr lang="en-US" b="1" dirty="0"/>
                  <a:t>Execution Efficiency:</a:t>
                </a:r>
                <a:r>
                  <a:rPr lang="en-US" dirty="0"/>
                  <a:t> Reduces circuit depth and computation time while maintaining the theoretical 	foundation of TSQS.</a:t>
                </a:r>
              </a:p>
              <a:p>
                <a:pPr algn="just"/>
                <a:r>
                  <a:rPr lang="en-US" dirty="0"/>
                  <a:t>🔹 </a:t>
                </a:r>
                <a:r>
                  <a:rPr lang="en-US" b="1" dirty="0"/>
                  <a:t>Practical Realization:</a:t>
                </a:r>
                <a:r>
                  <a:rPr lang="en-US" dirty="0"/>
                  <a:t> Bridges the gap between theoretical quantum design and real-world NISQ-based 	implementations.</a:t>
                </a:r>
              </a:p>
              <a:p>
                <a:pPr algn="just"/>
                <a:endParaRPr lang="en-US" dirty="0"/>
              </a:p>
            </p:txBody>
          </p:sp>
        </mc:Choice>
        <mc:Fallback xmlns="">
          <p:sp>
            <p:nvSpPr>
              <p:cNvPr id="3" name="TextBox 2">
                <a:extLst>
                  <a:ext uri="{FF2B5EF4-FFF2-40B4-BE49-F238E27FC236}">
                    <a16:creationId xmlns:a16="http://schemas.microsoft.com/office/drawing/2014/main" id="{252E4693-836C-2562-7A36-0DE1127C8CA3}"/>
                  </a:ext>
                </a:extLst>
              </p:cNvPr>
              <p:cNvSpPr txBox="1">
                <a:spLocks noRot="1" noChangeAspect="1" noMove="1" noResize="1" noEditPoints="1" noAdjustHandles="1" noChangeArrowheads="1" noChangeShapeType="1" noTextEdit="1"/>
              </p:cNvSpPr>
              <p:nvPr/>
            </p:nvSpPr>
            <p:spPr>
              <a:xfrm>
                <a:off x="1097280" y="1881002"/>
                <a:ext cx="10416294" cy="4247317"/>
              </a:xfrm>
              <a:prstGeom prst="rect">
                <a:avLst/>
              </a:prstGeom>
              <a:blipFill>
                <a:blip r:embed="rId2"/>
                <a:stretch>
                  <a:fillRect l="-468" t="-1006" r="-468"/>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A1B55805-3E77-B069-AF36-F3F70E53F239}"/>
              </a:ext>
            </a:extLst>
          </p:cNvPr>
          <p:cNvSpPr txBox="1"/>
          <p:nvPr/>
        </p:nvSpPr>
        <p:spPr>
          <a:xfrm>
            <a:off x="491613" y="6386731"/>
            <a:ext cx="6096000" cy="369332"/>
          </a:xfrm>
          <a:prstGeom prst="rect">
            <a:avLst/>
          </a:prstGeom>
          <a:noFill/>
        </p:spPr>
        <p:txBody>
          <a:bodyPr wrap="square">
            <a:spAutoFit/>
          </a:bodyPr>
          <a:lstStyle/>
          <a:p>
            <a:r>
              <a:rPr lang="en-US" i="1" dirty="0"/>
              <a:t>Department of Information Technology</a:t>
            </a:r>
          </a:p>
        </p:txBody>
      </p:sp>
    </p:spTree>
    <p:extLst>
      <p:ext uri="{BB962C8B-B14F-4D97-AF65-F5344CB8AC3E}">
        <p14:creationId xmlns:p14="http://schemas.microsoft.com/office/powerpoint/2010/main" val="4421011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21D82-A35F-B003-9784-DED29C073311}"/>
              </a:ext>
            </a:extLst>
          </p:cNvPr>
          <p:cNvSpPr>
            <a:spLocks noGrp="1"/>
          </p:cNvSpPr>
          <p:nvPr>
            <p:ph type="title"/>
          </p:nvPr>
        </p:nvSpPr>
        <p:spPr/>
        <p:txBody>
          <a:bodyPr>
            <a:normAutofit/>
          </a:bodyPr>
          <a:lstStyle/>
          <a:p>
            <a:r>
              <a:rPr lang="en-US" sz="4000" b="1" dirty="0">
                <a:solidFill>
                  <a:srgbClr val="C00000"/>
                </a:solidFill>
                <a:latin typeface="Times New Roman" panose="02020603050405020304" pitchFamily="18" charset="0"/>
                <a:cs typeface="Times New Roman" panose="02020603050405020304" pitchFamily="18" charset="0"/>
              </a:rPr>
              <a:t>RESULTS</a:t>
            </a:r>
          </a:p>
        </p:txBody>
      </p:sp>
      <p:pic>
        <p:nvPicPr>
          <p:cNvPr id="4" name="Picture 3">
            <a:extLst>
              <a:ext uri="{FF2B5EF4-FFF2-40B4-BE49-F238E27FC236}">
                <a16:creationId xmlns:a16="http://schemas.microsoft.com/office/drawing/2014/main" id="{0FA5CB97-31A6-FB93-4F3C-58C2DCEB75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8108" y="1972559"/>
            <a:ext cx="3983767" cy="3107709"/>
          </a:xfrm>
          <a:prstGeom prst="rect">
            <a:avLst/>
          </a:prstGeom>
        </p:spPr>
      </p:pic>
      <p:pic>
        <p:nvPicPr>
          <p:cNvPr id="6" name="Picture 5">
            <a:extLst>
              <a:ext uri="{FF2B5EF4-FFF2-40B4-BE49-F238E27FC236}">
                <a16:creationId xmlns:a16="http://schemas.microsoft.com/office/drawing/2014/main" id="{C444AB40-8694-03C7-D5D6-3FB18B532F97}"/>
              </a:ext>
            </a:extLst>
          </p:cNvPr>
          <p:cNvPicPr>
            <a:picLocks noChangeAspect="1"/>
          </p:cNvPicPr>
          <p:nvPr/>
        </p:nvPicPr>
        <p:blipFill>
          <a:blip r:embed="rId3">
            <a:extLst>
              <a:ext uri="{28A0092B-C50C-407E-A947-70E740481C1C}">
                <a14:useLocalDpi xmlns:a14="http://schemas.microsoft.com/office/drawing/2010/main" val="0"/>
              </a:ext>
            </a:extLst>
          </a:blip>
          <a:srcRect l="2329" t="3118" r="19781" b="31347"/>
          <a:stretch>
            <a:fillRect/>
          </a:stretch>
        </p:blipFill>
        <p:spPr>
          <a:xfrm>
            <a:off x="5656082" y="1894788"/>
            <a:ext cx="5590095" cy="3185480"/>
          </a:xfrm>
          <a:prstGeom prst="rect">
            <a:avLst/>
          </a:prstGeom>
        </p:spPr>
      </p:pic>
      <p:sp>
        <p:nvSpPr>
          <p:cNvPr id="8" name="TextBox 7">
            <a:extLst>
              <a:ext uri="{FF2B5EF4-FFF2-40B4-BE49-F238E27FC236}">
                <a16:creationId xmlns:a16="http://schemas.microsoft.com/office/drawing/2014/main" id="{8653EE23-95A0-8C42-F003-59DE768F95FA}"/>
              </a:ext>
            </a:extLst>
          </p:cNvPr>
          <p:cNvSpPr txBox="1"/>
          <p:nvPr/>
        </p:nvSpPr>
        <p:spPr>
          <a:xfrm>
            <a:off x="370003" y="6386731"/>
            <a:ext cx="6094428" cy="369332"/>
          </a:xfrm>
          <a:prstGeom prst="rect">
            <a:avLst/>
          </a:prstGeom>
          <a:noFill/>
        </p:spPr>
        <p:txBody>
          <a:bodyPr wrap="square">
            <a:spAutoFit/>
          </a:bodyPr>
          <a:lstStyle/>
          <a:p>
            <a:r>
              <a:rPr lang="en-US" i="1" dirty="0"/>
              <a:t>Department of Information Technology</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845C539-98C5-80DD-0CC2-CEB44843E6C1}"/>
                  </a:ext>
                </a:extLst>
              </p:cNvPr>
              <p:cNvSpPr txBox="1"/>
              <p:nvPr/>
            </p:nvSpPr>
            <p:spPr>
              <a:xfrm>
                <a:off x="1248107" y="5385909"/>
                <a:ext cx="10393996" cy="769441"/>
              </a:xfrm>
              <a:prstGeom prst="rect">
                <a:avLst/>
              </a:prstGeom>
              <a:noFill/>
            </p:spPr>
            <p:txBody>
              <a:bodyPr wrap="square" rtlCol="0">
                <a:spAutoFit/>
              </a:bodyPr>
              <a:lstStyle/>
              <a:p>
                <a:r>
                  <a:rPr lang="en-US" sz="1100" b="1" i="1" dirty="0"/>
                  <a:t>Execution Output and Visualization of Hybrid TSQS (Case 1)</a:t>
                </a:r>
                <a:endParaRPr lang="en-US" sz="1100" b="1" dirty="0"/>
              </a:p>
              <a:p>
                <a:r>
                  <a:rPr lang="en-US" sz="1100" dirty="0"/>
                  <a:t>This figure shows the </a:t>
                </a:r>
                <a:r>
                  <a:rPr lang="en-US" sz="1100" b="1" dirty="0"/>
                  <a:t>terminal output</a:t>
                </a:r>
                <a:r>
                  <a:rPr lang="en-US" sz="1100" dirty="0"/>
                  <a:t> and </a:t>
                </a:r>
                <a:r>
                  <a:rPr lang="en-US" sz="1100" b="1" dirty="0"/>
                  <a:t>simulation plots</a:t>
                </a:r>
                <a:r>
                  <a:rPr lang="en-US" sz="1100" dirty="0"/>
                  <a:t> for the </a:t>
                </a:r>
                <a:r>
                  <a:rPr lang="en-US" sz="1100" b="1" dirty="0"/>
                  <a:t>Hybrid Two-Step Quantum Search (H-TSQS)</a:t>
                </a:r>
                <a:r>
                  <a:rPr lang="en-US" sz="1100" dirty="0"/>
                  <a:t> applied to a 4-city TSP instance. The adaptive tuning module identified the optimal parameters </a:t>
                </a:r>
                <a14:m>
                  <m:oMath xmlns:m="http://schemas.openxmlformats.org/officeDocument/2006/math">
                    <m:d>
                      <m:dPr>
                        <m:sepChr m:val=","/>
                        <m:ctrlPr>
                          <a:rPr lang="ar-AE" sz="1100" i="1">
                            <a:latin typeface="Cambria Math" panose="02040503050406030204" pitchFamily="18" charset="0"/>
                          </a:rPr>
                        </m:ctrlPr>
                      </m:dPr>
                      <m:e>
                        <m:sSub>
                          <m:sSubPr>
                            <m:ctrlPr>
                              <a:rPr lang="ar-AE" sz="1100" i="1">
                                <a:latin typeface="Cambria Math" panose="02040503050406030204" pitchFamily="18" charset="0"/>
                              </a:rPr>
                            </m:ctrlPr>
                          </m:sSubPr>
                          <m:e>
                            <m:r>
                              <a:rPr lang="ar-AE" sz="1100" i="1">
                                <a:latin typeface="Cambria Math" panose="02040503050406030204" pitchFamily="18" charset="0"/>
                              </a:rPr>
                              <m:t>𝑡</m:t>
                            </m:r>
                          </m:e>
                          <m:sub>
                            <m:r>
                              <a:rPr lang="ar-AE" sz="1100">
                                <a:latin typeface="Cambria Math" panose="02040503050406030204" pitchFamily="18" charset="0"/>
                              </a:rPr>
                              <m:t>1</m:t>
                            </m:r>
                          </m:sub>
                        </m:sSub>
                      </m:e>
                      <m:e>
                        <m:sSub>
                          <m:sSubPr>
                            <m:ctrlPr>
                              <a:rPr lang="ar-AE" sz="1100" i="1">
                                <a:latin typeface="Cambria Math" panose="02040503050406030204" pitchFamily="18" charset="0"/>
                              </a:rPr>
                            </m:ctrlPr>
                          </m:sSubPr>
                          <m:e>
                            <m:r>
                              <a:rPr lang="ar-AE" sz="1100" i="1">
                                <a:latin typeface="Cambria Math" panose="02040503050406030204" pitchFamily="18" charset="0"/>
                              </a:rPr>
                              <m:t>𝑡</m:t>
                            </m:r>
                          </m:e>
                          <m:sub>
                            <m:r>
                              <a:rPr lang="ar-AE" sz="1100">
                                <a:latin typeface="Cambria Math" panose="02040503050406030204" pitchFamily="18" charset="0"/>
                              </a:rPr>
                              <m:t>2</m:t>
                            </m:r>
                          </m:sub>
                        </m:sSub>
                      </m:e>
                    </m:d>
                    <m:r>
                      <a:rPr lang="ar-AE" sz="1100">
                        <a:latin typeface="Cambria Math" panose="02040503050406030204" pitchFamily="18" charset="0"/>
                      </a:rPr>
                      <m:t>=</m:t>
                    </m:r>
                    <m:d>
                      <m:dPr>
                        <m:sepChr m:val=","/>
                        <m:ctrlPr>
                          <a:rPr lang="ar-AE" sz="1100" i="1">
                            <a:latin typeface="Cambria Math" panose="02040503050406030204" pitchFamily="18" charset="0"/>
                          </a:rPr>
                        </m:ctrlPr>
                      </m:dPr>
                      <m:e>
                        <m:r>
                          <a:rPr lang="ar-AE" sz="1100">
                            <a:latin typeface="Cambria Math" panose="02040503050406030204" pitchFamily="18" charset="0"/>
                          </a:rPr>
                          <m:t>1</m:t>
                        </m:r>
                      </m:e>
                      <m:e>
                        <m:r>
                          <a:rPr lang="ar-AE" sz="1100">
                            <a:latin typeface="Cambria Math" panose="02040503050406030204" pitchFamily="18" charset="0"/>
                          </a:rPr>
                          <m:t>3</m:t>
                        </m:r>
                      </m:e>
                    </m:d>
                  </m:oMath>
                </a14:m>
                <a:r>
                  <a:rPr lang="en-US" sz="1100" dirty="0"/>
                  <a:t>with a peak success probability of </a:t>
                </a:r>
                <a:r>
                  <a:rPr lang="en-US" sz="1100" b="1" dirty="0"/>
                  <a:t>0.426</a:t>
                </a:r>
                <a:r>
                  <a:rPr lang="en-US" sz="1100" dirty="0"/>
                  <a:t>. The histogram plots display the </a:t>
                </a:r>
                <a:r>
                  <a:rPr lang="en-US" sz="1100" b="1" dirty="0"/>
                  <a:t>Tour Frequency Distribution</a:t>
                </a:r>
                <a:r>
                  <a:rPr lang="en-US" sz="1100" dirty="0"/>
                  <a:t> and </a:t>
                </a:r>
                <a:r>
                  <a:rPr lang="en-US" sz="1100" b="1" dirty="0"/>
                  <a:t>Tour Probability Distribution</a:t>
                </a:r>
                <a:r>
                  <a:rPr lang="en-US" sz="1100" dirty="0"/>
                  <a:t>, highlighting that the minimal-cost tours are successfully amplified.</a:t>
                </a:r>
              </a:p>
            </p:txBody>
          </p:sp>
        </mc:Choice>
        <mc:Fallback xmlns="">
          <p:sp>
            <p:nvSpPr>
              <p:cNvPr id="9" name="TextBox 8">
                <a:extLst>
                  <a:ext uri="{FF2B5EF4-FFF2-40B4-BE49-F238E27FC236}">
                    <a16:creationId xmlns:a16="http://schemas.microsoft.com/office/drawing/2014/main" id="{2845C539-98C5-80DD-0CC2-CEB44843E6C1}"/>
                  </a:ext>
                </a:extLst>
              </p:cNvPr>
              <p:cNvSpPr txBox="1">
                <a:spLocks noRot="1" noChangeAspect="1" noMove="1" noResize="1" noEditPoints="1" noAdjustHandles="1" noChangeArrowheads="1" noChangeShapeType="1" noTextEdit="1"/>
              </p:cNvSpPr>
              <p:nvPr/>
            </p:nvSpPr>
            <p:spPr>
              <a:xfrm>
                <a:off x="1248107" y="5385909"/>
                <a:ext cx="10393996" cy="769441"/>
              </a:xfrm>
              <a:prstGeom prst="rect">
                <a:avLst/>
              </a:prstGeom>
              <a:blipFill>
                <a:blip r:embed="rId4"/>
                <a:stretch>
                  <a:fillRect t="-794" b="-4762"/>
                </a:stretch>
              </a:blipFill>
            </p:spPr>
            <p:txBody>
              <a:bodyPr/>
              <a:lstStyle/>
              <a:p>
                <a:r>
                  <a:rPr lang="en-US">
                    <a:noFill/>
                  </a:rPr>
                  <a:t> </a:t>
                </a:r>
              </a:p>
            </p:txBody>
          </p:sp>
        </mc:Fallback>
      </mc:AlternateContent>
    </p:spTree>
    <p:extLst>
      <p:ext uri="{BB962C8B-B14F-4D97-AF65-F5344CB8AC3E}">
        <p14:creationId xmlns:p14="http://schemas.microsoft.com/office/powerpoint/2010/main" val="4094326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4D5BBC-7997-CC6D-CC39-60D530E750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848" y="1085016"/>
            <a:ext cx="5492881" cy="3477558"/>
          </a:xfrm>
          <a:prstGeom prst="rect">
            <a:avLst/>
          </a:prstGeom>
        </p:spPr>
      </p:pic>
      <p:pic>
        <p:nvPicPr>
          <p:cNvPr id="5" name="Picture 4">
            <a:extLst>
              <a:ext uri="{FF2B5EF4-FFF2-40B4-BE49-F238E27FC236}">
                <a16:creationId xmlns:a16="http://schemas.microsoft.com/office/drawing/2014/main" id="{9A2DB44F-AAC0-1DA5-7AB8-6CA2FB9C99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3665" y="1085016"/>
            <a:ext cx="5307487" cy="3477558"/>
          </a:xfrm>
          <a:prstGeom prst="rect">
            <a:avLst/>
          </a:prstGeom>
        </p:spPr>
      </p:pic>
      <p:sp>
        <p:nvSpPr>
          <p:cNvPr id="7" name="TextBox 6">
            <a:extLst>
              <a:ext uri="{FF2B5EF4-FFF2-40B4-BE49-F238E27FC236}">
                <a16:creationId xmlns:a16="http://schemas.microsoft.com/office/drawing/2014/main" id="{A80ED12C-03F4-9119-B88C-5865493183C9}"/>
              </a:ext>
            </a:extLst>
          </p:cNvPr>
          <p:cNvSpPr txBox="1"/>
          <p:nvPr/>
        </p:nvSpPr>
        <p:spPr>
          <a:xfrm>
            <a:off x="417136" y="6357535"/>
            <a:ext cx="6094428" cy="369332"/>
          </a:xfrm>
          <a:prstGeom prst="rect">
            <a:avLst/>
          </a:prstGeom>
          <a:noFill/>
        </p:spPr>
        <p:txBody>
          <a:bodyPr wrap="square">
            <a:spAutoFit/>
          </a:bodyPr>
          <a:lstStyle/>
          <a:p>
            <a:r>
              <a:rPr lang="en-US" i="1" dirty="0"/>
              <a:t>Department of Information Technology</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0991C46-0507-A9BF-3940-4735E78F3740}"/>
                  </a:ext>
                </a:extLst>
              </p:cNvPr>
              <p:cNvSpPr txBox="1"/>
              <p:nvPr/>
            </p:nvSpPr>
            <p:spPr>
              <a:xfrm>
                <a:off x="886120" y="4990695"/>
                <a:ext cx="10642861" cy="938719"/>
              </a:xfrm>
              <a:prstGeom prst="rect">
                <a:avLst/>
              </a:prstGeom>
              <a:noFill/>
            </p:spPr>
            <p:txBody>
              <a:bodyPr wrap="square" rtlCol="0">
                <a:spAutoFit/>
              </a:bodyPr>
              <a:lstStyle/>
              <a:p>
                <a:r>
                  <a:rPr lang="en-US" sz="1100" b="1" i="1" dirty="0"/>
                  <a:t>Execution Output and Visualization of Hybrid TSQS (Case 2)</a:t>
                </a:r>
                <a:endParaRPr lang="en-US" sz="1100" b="1" dirty="0"/>
              </a:p>
              <a:p>
                <a:r>
                  <a:rPr lang="en-US" sz="1100" dirty="0"/>
                  <a:t>This figure depicts another execution of H-TSQS with different city configuration </a:t>
                </a:r>
                <a14:m>
                  <m:oMath xmlns:m="http://schemas.openxmlformats.org/officeDocument/2006/math">
                    <m:d>
                      <m:dPr>
                        <m:sepChr m:val=","/>
                        <m:ctrlPr>
                          <a:rPr lang="ar-AE" sz="1100" i="1">
                            <a:latin typeface="Cambria Math" panose="02040503050406030204" pitchFamily="18" charset="0"/>
                          </a:rPr>
                        </m:ctrlPr>
                      </m:dPr>
                      <m:e>
                        <m:r>
                          <a:rPr lang="ar-AE" sz="1100" i="1">
                            <a:latin typeface="Cambria Math" panose="02040503050406030204" pitchFamily="18" charset="0"/>
                          </a:rPr>
                          <m:t>𝑛</m:t>
                        </m:r>
                      </m:e>
                      <m:e>
                        <m:r>
                          <a:rPr lang="ar-AE" sz="1100">
                            <a:latin typeface="Cambria Math" panose="02040503050406030204" pitchFamily="18" charset="0"/>
                          </a:rPr>
                          <m:t>=</m:t>
                        </m:r>
                        <m:r>
                          <a:rPr lang="ar-AE" sz="1100">
                            <a:latin typeface="Cambria Math" panose="02040503050406030204" pitchFamily="18" charset="0"/>
                          </a:rPr>
                          <m:t>3</m:t>
                        </m:r>
                        <m:r>
                          <a:rPr lang="ar-AE" sz="1100" i="1">
                            <a:latin typeface="Cambria Math" panose="02040503050406030204" pitchFamily="18" charset="0"/>
                          </a:rPr>
                          <m:t>𝑘</m:t>
                        </m:r>
                        <m:r>
                          <a:rPr lang="ar-AE" sz="1100">
                            <a:latin typeface="Cambria Math" panose="02040503050406030204" pitchFamily="18" charset="0"/>
                          </a:rPr>
                          <m:t>=</m:t>
                        </m:r>
                        <m:r>
                          <a:rPr lang="ar-AE" sz="1100">
                            <a:latin typeface="Cambria Math" panose="02040503050406030204" pitchFamily="18" charset="0"/>
                          </a:rPr>
                          <m:t>2</m:t>
                        </m:r>
                      </m:e>
                    </m:d>
                  </m:oMath>
                </a14:m>
                <a:r>
                  <a:rPr lang="ar-AE" sz="1100" dirty="0"/>
                  <a:t>. </a:t>
                </a:r>
                <a:r>
                  <a:rPr lang="en-US" sz="1100" dirty="0"/>
                  <a:t>The optimal parameters were found as </a:t>
                </a:r>
                <a14:m>
                  <m:oMath xmlns:m="http://schemas.openxmlformats.org/officeDocument/2006/math">
                    <m:d>
                      <m:dPr>
                        <m:sepChr m:val=","/>
                        <m:ctrlPr>
                          <a:rPr lang="ar-AE" sz="1100" i="1">
                            <a:latin typeface="Cambria Math" panose="02040503050406030204" pitchFamily="18" charset="0"/>
                          </a:rPr>
                        </m:ctrlPr>
                      </m:dPr>
                      <m:e>
                        <m:sSub>
                          <m:sSubPr>
                            <m:ctrlPr>
                              <a:rPr lang="ar-AE" sz="1100" i="1">
                                <a:latin typeface="Cambria Math" panose="02040503050406030204" pitchFamily="18" charset="0"/>
                              </a:rPr>
                            </m:ctrlPr>
                          </m:sSubPr>
                          <m:e>
                            <m:r>
                              <a:rPr lang="ar-AE" sz="1100" i="1">
                                <a:latin typeface="Cambria Math" panose="02040503050406030204" pitchFamily="18" charset="0"/>
                              </a:rPr>
                              <m:t>𝑡</m:t>
                            </m:r>
                          </m:e>
                          <m:sub>
                            <m:r>
                              <a:rPr lang="ar-AE" sz="1100">
                                <a:latin typeface="Cambria Math" panose="02040503050406030204" pitchFamily="18" charset="0"/>
                              </a:rPr>
                              <m:t>1</m:t>
                            </m:r>
                          </m:sub>
                        </m:sSub>
                      </m:e>
                      <m:e>
                        <m:sSub>
                          <m:sSubPr>
                            <m:ctrlPr>
                              <a:rPr lang="ar-AE" sz="1100" i="1">
                                <a:latin typeface="Cambria Math" panose="02040503050406030204" pitchFamily="18" charset="0"/>
                              </a:rPr>
                            </m:ctrlPr>
                          </m:sSubPr>
                          <m:e>
                            <m:r>
                              <a:rPr lang="ar-AE" sz="1100" i="1">
                                <a:latin typeface="Cambria Math" panose="02040503050406030204" pitchFamily="18" charset="0"/>
                              </a:rPr>
                              <m:t>𝑡</m:t>
                            </m:r>
                          </m:e>
                          <m:sub>
                            <m:r>
                              <a:rPr lang="ar-AE" sz="1100">
                                <a:latin typeface="Cambria Math" panose="02040503050406030204" pitchFamily="18" charset="0"/>
                              </a:rPr>
                              <m:t>2</m:t>
                            </m:r>
                          </m:sub>
                        </m:sSub>
                      </m:e>
                    </m:d>
                    <m:r>
                      <a:rPr lang="ar-AE" sz="1100">
                        <a:latin typeface="Cambria Math" panose="02040503050406030204" pitchFamily="18" charset="0"/>
                      </a:rPr>
                      <m:t>=</m:t>
                    </m:r>
                    <m:d>
                      <m:dPr>
                        <m:sepChr m:val=","/>
                        <m:ctrlPr>
                          <a:rPr lang="ar-AE" sz="1100" i="1">
                            <a:latin typeface="Cambria Math" panose="02040503050406030204" pitchFamily="18" charset="0"/>
                          </a:rPr>
                        </m:ctrlPr>
                      </m:dPr>
                      <m:e>
                        <m:r>
                          <a:rPr lang="ar-AE" sz="1100">
                            <a:latin typeface="Cambria Math" panose="02040503050406030204" pitchFamily="18" charset="0"/>
                          </a:rPr>
                          <m:t>2</m:t>
                        </m:r>
                      </m:e>
                      <m:e>
                        <m:r>
                          <a:rPr lang="ar-AE" sz="1100">
                            <a:latin typeface="Cambria Math" panose="02040503050406030204" pitchFamily="18" charset="0"/>
                          </a:rPr>
                          <m:t>3</m:t>
                        </m:r>
                      </m:e>
                    </m:d>
                  </m:oMath>
                </a14:m>
                <a:r>
                  <a:rPr lang="en-US" sz="1100" dirty="0"/>
                  <a:t>with a success probability of </a:t>
                </a:r>
                <a:r>
                  <a:rPr lang="en-US" sz="1100" b="1" dirty="0"/>
                  <a:t>0.438</a:t>
                </a:r>
                <a:r>
                  <a:rPr lang="en-US" sz="1100" dirty="0"/>
                  <a:t>. The plots confirm the dominance of the optimal tour “1-3-2” in both frequency and probability distributions. The </a:t>
                </a:r>
                <a:r>
                  <a:rPr lang="en-US" sz="1100" b="1" dirty="0"/>
                  <a:t>circuit width</a:t>
                </a:r>
                <a:r>
                  <a:rPr lang="en-US" sz="1100" dirty="0"/>
                  <a:t> was 11 qubits, with a logical depth of 150 and a physical depth of 4091, demonstrating reduced resource requirements compared to the previous run.</a:t>
                </a:r>
              </a:p>
              <a:p>
                <a:endParaRPr lang="en-US" sz="1100" dirty="0"/>
              </a:p>
            </p:txBody>
          </p:sp>
        </mc:Choice>
        <mc:Fallback xmlns="">
          <p:sp>
            <p:nvSpPr>
              <p:cNvPr id="8" name="TextBox 7">
                <a:extLst>
                  <a:ext uri="{FF2B5EF4-FFF2-40B4-BE49-F238E27FC236}">
                    <a16:creationId xmlns:a16="http://schemas.microsoft.com/office/drawing/2014/main" id="{90991C46-0507-A9BF-3940-4735E78F3740}"/>
                  </a:ext>
                </a:extLst>
              </p:cNvPr>
              <p:cNvSpPr txBox="1">
                <a:spLocks noRot="1" noChangeAspect="1" noMove="1" noResize="1" noEditPoints="1" noAdjustHandles="1" noChangeArrowheads="1" noChangeShapeType="1" noTextEdit="1"/>
              </p:cNvSpPr>
              <p:nvPr/>
            </p:nvSpPr>
            <p:spPr>
              <a:xfrm>
                <a:off x="886120" y="4990695"/>
                <a:ext cx="10642861" cy="938719"/>
              </a:xfrm>
              <a:prstGeom prst="rect">
                <a:avLst/>
              </a:prstGeom>
              <a:blipFill>
                <a:blip r:embed="rId4"/>
                <a:stretch>
                  <a:fillRect t="-649"/>
                </a:stretch>
              </a:blipFill>
            </p:spPr>
            <p:txBody>
              <a:bodyPr/>
              <a:lstStyle/>
              <a:p>
                <a:r>
                  <a:rPr lang="en-US">
                    <a:noFill/>
                  </a:rPr>
                  <a:t> </a:t>
                </a:r>
              </a:p>
            </p:txBody>
          </p:sp>
        </mc:Fallback>
      </mc:AlternateContent>
    </p:spTree>
    <p:extLst>
      <p:ext uri="{BB962C8B-B14F-4D97-AF65-F5344CB8AC3E}">
        <p14:creationId xmlns:p14="http://schemas.microsoft.com/office/powerpoint/2010/main" val="962221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28CC4-F68C-3F80-32B3-896D624D4C97}"/>
              </a:ext>
            </a:extLst>
          </p:cNvPr>
          <p:cNvSpPr>
            <a:spLocks noGrp="1"/>
          </p:cNvSpPr>
          <p:nvPr>
            <p:ph type="title"/>
          </p:nvPr>
        </p:nvSpPr>
        <p:spPr/>
        <p:txBody>
          <a:bodyPr>
            <a:normAutofit/>
          </a:bodyPr>
          <a:lstStyle/>
          <a:p>
            <a:r>
              <a:rPr lang="en-US" sz="4000" b="1" dirty="0">
                <a:solidFill>
                  <a:srgbClr val="C00000"/>
                </a:solidFill>
                <a:latin typeface="Times New Roman" panose="02020603050405020304" pitchFamily="18" charset="0"/>
                <a:cs typeface="Times New Roman" panose="02020603050405020304" pitchFamily="18" charset="0"/>
              </a:rPr>
              <a:t>PROJECT  REQUISITES:</a:t>
            </a:r>
          </a:p>
        </p:txBody>
      </p:sp>
      <p:sp>
        <p:nvSpPr>
          <p:cNvPr id="3" name="TextBox 2">
            <a:extLst>
              <a:ext uri="{FF2B5EF4-FFF2-40B4-BE49-F238E27FC236}">
                <a16:creationId xmlns:a16="http://schemas.microsoft.com/office/drawing/2014/main" id="{22AF9B02-91CB-9CBD-1584-2044B5A9AC1D}"/>
              </a:ext>
            </a:extLst>
          </p:cNvPr>
          <p:cNvSpPr txBox="1"/>
          <p:nvPr/>
        </p:nvSpPr>
        <p:spPr>
          <a:xfrm>
            <a:off x="1178351" y="1885361"/>
            <a:ext cx="6348469" cy="2215991"/>
          </a:xfrm>
          <a:prstGeom prst="rect">
            <a:avLst/>
          </a:prstGeom>
          <a:noFill/>
        </p:spPr>
        <p:txBody>
          <a:bodyPr wrap="non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Software Requirements</a:t>
            </a:r>
          </a:p>
          <a:p>
            <a:pPr algn="just">
              <a:lnSpc>
                <a:spcPct val="150000"/>
              </a:lnSpc>
            </a:pPr>
            <a:r>
              <a:rPr lang="en-US" sz="2000" dirty="0">
                <a:latin typeface="Times New Roman" panose="02020603050405020304" pitchFamily="18" charset="0"/>
                <a:cs typeface="Times New Roman" panose="02020603050405020304" pitchFamily="18" charset="0"/>
              </a:rPr>
              <a:t>🐍 Programming Language: Python 3.9 or above</a:t>
            </a:r>
          </a:p>
          <a:p>
            <a:pPr algn="just">
              <a:lnSpc>
                <a:spcPct val="150000"/>
              </a:lnSpc>
            </a:pPr>
            <a:r>
              <a:rPr lang="en-US" sz="2000" dirty="0">
                <a:latin typeface="Times New Roman" panose="02020603050405020304" pitchFamily="18" charset="0"/>
                <a:cs typeface="Times New Roman" panose="02020603050405020304" pitchFamily="18" charset="0"/>
              </a:rPr>
              <a:t>🔬 Quantum Framework: </a:t>
            </a:r>
            <a:r>
              <a:rPr lang="en-US" sz="2000" dirty="0" err="1">
                <a:latin typeface="Times New Roman" panose="02020603050405020304" pitchFamily="18" charset="0"/>
                <a:cs typeface="Times New Roman" panose="02020603050405020304" pitchFamily="18" charset="0"/>
              </a:rPr>
              <a:t>Qiskit</a:t>
            </a:r>
            <a:r>
              <a:rPr lang="en-US" sz="2000" dirty="0">
                <a:latin typeface="Times New Roman" panose="02020603050405020304" pitchFamily="18" charset="0"/>
                <a:cs typeface="Times New Roman" panose="02020603050405020304" pitchFamily="18" charset="0"/>
              </a:rPr>
              <a:t> &amp; </a:t>
            </a:r>
            <a:r>
              <a:rPr lang="en-US" sz="2000" dirty="0" err="1">
                <a:latin typeface="Times New Roman" panose="02020603050405020304" pitchFamily="18" charset="0"/>
                <a:cs typeface="Times New Roman" panose="02020603050405020304" pitchFamily="18" charset="0"/>
              </a:rPr>
              <a:t>Qiskit</a:t>
            </a:r>
            <a:r>
              <a:rPr lang="en-US" sz="2000" dirty="0">
                <a:latin typeface="Times New Roman" panose="02020603050405020304" pitchFamily="18" charset="0"/>
                <a:cs typeface="Times New Roman" panose="02020603050405020304" pitchFamily="18" charset="0"/>
              </a:rPr>
              <a:t> Aer Simulators</a:t>
            </a:r>
          </a:p>
          <a:p>
            <a:pPr algn="just">
              <a:lnSpc>
                <a:spcPct val="150000"/>
              </a:lnSpc>
            </a:pPr>
            <a:r>
              <a:rPr lang="en-US" sz="2000" dirty="0">
                <a:latin typeface="Times New Roman" panose="02020603050405020304" pitchFamily="18" charset="0"/>
                <a:cs typeface="Times New Roman" panose="02020603050405020304" pitchFamily="18" charset="0"/>
              </a:rPr>
              <a:t>📦 Supporting Libraries: NumPy, Matplotlib, Pandas</a:t>
            </a:r>
          </a:p>
          <a:p>
            <a:endParaRPr lang="en-US" dirty="0"/>
          </a:p>
        </p:txBody>
      </p:sp>
      <p:sp>
        <p:nvSpPr>
          <p:cNvPr id="5" name="TextBox 4">
            <a:extLst>
              <a:ext uri="{FF2B5EF4-FFF2-40B4-BE49-F238E27FC236}">
                <a16:creationId xmlns:a16="http://schemas.microsoft.com/office/drawing/2014/main" id="{53EB3303-F9C2-A98E-D8BD-3893A3520D23}"/>
              </a:ext>
            </a:extLst>
          </p:cNvPr>
          <p:cNvSpPr txBox="1"/>
          <p:nvPr/>
        </p:nvSpPr>
        <p:spPr>
          <a:xfrm>
            <a:off x="511405" y="6386731"/>
            <a:ext cx="6094428" cy="369332"/>
          </a:xfrm>
          <a:prstGeom prst="rect">
            <a:avLst/>
          </a:prstGeom>
          <a:noFill/>
        </p:spPr>
        <p:txBody>
          <a:bodyPr wrap="square">
            <a:spAutoFit/>
          </a:bodyPr>
          <a:lstStyle/>
          <a:p>
            <a:r>
              <a:rPr lang="en-US" i="1" dirty="0"/>
              <a:t>Department of Information Technology</a:t>
            </a:r>
          </a:p>
        </p:txBody>
      </p:sp>
    </p:spTree>
    <p:extLst>
      <p:ext uri="{BB962C8B-B14F-4D97-AF65-F5344CB8AC3E}">
        <p14:creationId xmlns:p14="http://schemas.microsoft.com/office/powerpoint/2010/main" val="15577518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F8320-5B4C-D5CB-90AE-1FD3D286FFF1}"/>
              </a:ext>
            </a:extLst>
          </p:cNvPr>
          <p:cNvSpPr>
            <a:spLocks noGrp="1"/>
          </p:cNvSpPr>
          <p:nvPr>
            <p:ph type="title"/>
          </p:nvPr>
        </p:nvSpPr>
        <p:spPr/>
        <p:txBody>
          <a:bodyPr>
            <a:normAutofit/>
          </a:bodyPr>
          <a:lstStyle/>
          <a:p>
            <a:r>
              <a:rPr lang="en-US" sz="4000" b="1" dirty="0">
                <a:solidFill>
                  <a:srgbClr val="C00000"/>
                </a:solidFill>
                <a:latin typeface="Times New Roman" panose="02020603050405020304" pitchFamily="18" charset="0"/>
                <a:cs typeface="Times New Roman" panose="02020603050405020304" pitchFamily="18" charset="0"/>
              </a:rPr>
              <a:t>REFERENCES</a:t>
            </a:r>
          </a:p>
        </p:txBody>
      </p:sp>
      <p:sp>
        <p:nvSpPr>
          <p:cNvPr id="4" name="Rectangle 1">
            <a:extLst>
              <a:ext uri="{FF2B5EF4-FFF2-40B4-BE49-F238E27FC236}">
                <a16:creationId xmlns:a16="http://schemas.microsoft.com/office/drawing/2014/main" id="{929280A2-C12B-E394-676E-A388836C0AA6}"/>
              </a:ext>
            </a:extLst>
          </p:cNvPr>
          <p:cNvSpPr>
            <a:spLocks noChangeArrowheads="1"/>
          </p:cNvSpPr>
          <p:nvPr/>
        </p:nvSpPr>
        <p:spPr bwMode="auto">
          <a:xfrm>
            <a:off x="1097280" y="2017029"/>
            <a:ext cx="8619905" cy="3378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600" b="0" i="0" u="none" strike="noStrike" cap="none" normalizeH="0" baseline="0" dirty="0">
                <a:ln>
                  <a:noFill/>
                </a:ln>
                <a:solidFill>
                  <a:schemeClr val="tx1"/>
                </a:solidFill>
                <a:effectLst/>
              </a:rPr>
              <a:t>T. Sato, K. Sakai, and Y. Mitsuhashi, </a:t>
            </a:r>
            <a:r>
              <a:rPr kumimoji="0" lang="en-US" altLang="en-US" sz="1600" b="0" i="1" u="none" strike="noStrike" cap="none" normalizeH="0" baseline="0" dirty="0">
                <a:ln>
                  <a:noFill/>
                </a:ln>
                <a:solidFill>
                  <a:schemeClr val="tx1"/>
                </a:solidFill>
                <a:effectLst/>
              </a:rPr>
              <a:t>“Two-Step Quantum Search Algorithm for Solving Traveling Salesman Problems,”</a:t>
            </a:r>
            <a:r>
              <a:rPr kumimoji="0" lang="en-US" altLang="en-US" sz="1600" b="0" i="0" u="none" strike="noStrike" cap="none" normalizeH="0" baseline="0" dirty="0">
                <a:ln>
                  <a:noFill/>
                </a:ln>
                <a:solidFill>
                  <a:schemeClr val="tx1"/>
                </a:solidFill>
                <a:effectLst/>
              </a:rPr>
              <a:t> </a:t>
            </a:r>
            <a:r>
              <a:rPr kumimoji="0" lang="en-US" altLang="en-US" sz="1600" b="1" i="0" u="none" strike="noStrike" cap="none" normalizeH="0" baseline="0" dirty="0">
                <a:ln>
                  <a:noFill/>
                </a:ln>
                <a:solidFill>
                  <a:schemeClr val="tx1"/>
                </a:solidFill>
                <a:effectLst/>
              </a:rPr>
              <a:t>IEEE Transactions on Quantum Engineering</a:t>
            </a:r>
            <a:r>
              <a:rPr kumimoji="0" lang="en-US" altLang="en-US" sz="1600" b="0" i="0" u="none" strike="noStrike" cap="none" normalizeH="0" baseline="0" dirty="0">
                <a:ln>
                  <a:noFill/>
                </a:ln>
                <a:solidFill>
                  <a:schemeClr val="tx1"/>
                </a:solidFill>
                <a:effectLst/>
              </a:rPr>
              <a:t>, vol. 6, pp. 1–12, 2025.</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600" b="0" i="0" u="none" strike="noStrike" cap="none" normalizeH="0" baseline="0" dirty="0">
                <a:ln>
                  <a:noFill/>
                </a:ln>
                <a:solidFill>
                  <a:schemeClr val="tx1"/>
                </a:solidFill>
                <a:effectLst/>
              </a:rPr>
              <a:t>H. Abraham et al., </a:t>
            </a:r>
            <a:r>
              <a:rPr kumimoji="0" lang="en-US" altLang="en-US" sz="1600" b="0" i="1" u="none" strike="noStrike" cap="none" normalizeH="0" baseline="0" dirty="0">
                <a:ln>
                  <a:noFill/>
                </a:ln>
                <a:solidFill>
                  <a:schemeClr val="tx1"/>
                </a:solidFill>
                <a:effectLst/>
              </a:rPr>
              <a:t>“</a:t>
            </a:r>
            <a:r>
              <a:rPr kumimoji="0" lang="en-US" altLang="en-US" sz="1600" b="0" i="1" u="none" strike="noStrike" cap="none" normalizeH="0" baseline="0" dirty="0" err="1">
                <a:ln>
                  <a:noFill/>
                </a:ln>
                <a:solidFill>
                  <a:schemeClr val="tx1"/>
                </a:solidFill>
                <a:effectLst/>
              </a:rPr>
              <a:t>Qiskit</a:t>
            </a:r>
            <a:r>
              <a:rPr kumimoji="0" lang="en-US" altLang="en-US" sz="1600" b="0" i="1" u="none" strike="noStrike" cap="none" normalizeH="0" baseline="0" dirty="0">
                <a:ln>
                  <a:noFill/>
                </a:ln>
                <a:solidFill>
                  <a:schemeClr val="tx1"/>
                </a:solidFill>
                <a:effectLst/>
              </a:rPr>
              <a:t>: An Open-Source Framework for Quantum Computing,”</a:t>
            </a:r>
            <a:r>
              <a:rPr kumimoji="0" lang="en-US" altLang="en-US" sz="1600" b="0" i="0" u="none" strike="noStrike" cap="none" normalizeH="0" baseline="0" dirty="0">
                <a:ln>
                  <a:noFill/>
                </a:ln>
                <a:solidFill>
                  <a:schemeClr val="tx1"/>
                </a:solidFill>
                <a:effectLst/>
              </a:rPr>
              <a:t> </a:t>
            </a:r>
            <a:r>
              <a:rPr kumimoji="0" lang="en-US" altLang="en-US" sz="1600" b="1" i="0" u="none" strike="noStrike" cap="none" normalizeH="0" baseline="0" dirty="0" err="1">
                <a:ln>
                  <a:noFill/>
                </a:ln>
                <a:solidFill>
                  <a:schemeClr val="tx1"/>
                </a:solidFill>
                <a:effectLst/>
              </a:rPr>
              <a:t>Zenodo</a:t>
            </a:r>
            <a:r>
              <a:rPr kumimoji="0" lang="en-US" altLang="en-US" sz="1600" b="0" i="0" u="none" strike="noStrike" cap="none" normalizeH="0" baseline="0" dirty="0">
                <a:ln>
                  <a:noFill/>
                </a:ln>
                <a:solidFill>
                  <a:schemeClr val="tx1"/>
                </a:solidFill>
                <a:effectLst/>
              </a:rPr>
              <a:t>, 2019.</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600" b="0" i="0" u="none" strike="noStrike" cap="none" normalizeH="0" baseline="0" dirty="0">
                <a:ln>
                  <a:noFill/>
                </a:ln>
                <a:solidFill>
                  <a:schemeClr val="tx1"/>
                </a:solidFill>
                <a:effectLst/>
              </a:rPr>
              <a:t>IBM Quantum, </a:t>
            </a:r>
            <a:r>
              <a:rPr kumimoji="0" lang="en-US" altLang="en-US" sz="1600" b="0" i="1" u="none" strike="noStrike" cap="none" normalizeH="0" baseline="0" dirty="0">
                <a:ln>
                  <a:noFill/>
                </a:ln>
                <a:solidFill>
                  <a:schemeClr val="tx1"/>
                </a:solidFill>
                <a:effectLst/>
              </a:rPr>
              <a:t>“</a:t>
            </a:r>
            <a:r>
              <a:rPr kumimoji="0" lang="en-US" altLang="en-US" sz="1600" b="0" i="1" u="none" strike="noStrike" cap="none" normalizeH="0" baseline="0" dirty="0" err="1">
                <a:ln>
                  <a:noFill/>
                </a:ln>
                <a:solidFill>
                  <a:schemeClr val="tx1"/>
                </a:solidFill>
                <a:effectLst/>
              </a:rPr>
              <a:t>Qiskit</a:t>
            </a:r>
            <a:r>
              <a:rPr kumimoji="0" lang="en-US" altLang="en-US" sz="1600" b="0" i="1" u="none" strike="noStrike" cap="none" normalizeH="0" baseline="0" dirty="0">
                <a:ln>
                  <a:noFill/>
                </a:ln>
                <a:solidFill>
                  <a:schemeClr val="tx1"/>
                </a:solidFill>
                <a:effectLst/>
              </a:rPr>
              <a:t> Aer: High-Performance Simulators for Quantum Circuits,”</a:t>
            </a:r>
            <a:r>
              <a:rPr kumimoji="0" lang="en-US" altLang="en-US" sz="1600" b="0" i="0" u="none" strike="noStrike" cap="none" normalizeH="0" baseline="0" dirty="0">
                <a:ln>
                  <a:noFill/>
                </a:ln>
                <a:solidFill>
                  <a:schemeClr val="tx1"/>
                </a:solidFill>
                <a:effectLst/>
              </a:rPr>
              <a:t> </a:t>
            </a:r>
            <a:r>
              <a:rPr kumimoji="0" lang="en-US" altLang="en-US" sz="1600" b="1" i="0" u="none" strike="noStrike" cap="none" normalizeH="0" baseline="0" dirty="0">
                <a:ln>
                  <a:noFill/>
                </a:ln>
                <a:solidFill>
                  <a:schemeClr val="tx1"/>
                </a:solidFill>
                <a:effectLst/>
              </a:rPr>
              <a:t>IBM Quantum Documentation</a:t>
            </a:r>
            <a:r>
              <a:rPr kumimoji="0" lang="en-US" altLang="en-US" sz="1600" b="0" i="0" u="none" strike="noStrike" cap="none" normalizeH="0" baseline="0" dirty="0">
                <a:ln>
                  <a:noFill/>
                </a:ln>
                <a:solidFill>
                  <a:schemeClr val="tx1"/>
                </a:solidFill>
                <a:effectLst/>
              </a:rPr>
              <a:t>, 2023.</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600" b="0" i="0" u="none" strike="noStrike" cap="none" normalizeH="0" baseline="0" dirty="0">
                <a:ln>
                  <a:noFill/>
                </a:ln>
                <a:solidFill>
                  <a:schemeClr val="tx1"/>
                </a:solidFill>
                <a:effectLst/>
              </a:rPr>
              <a:t>M. Schuld and F. </a:t>
            </a:r>
            <a:r>
              <a:rPr kumimoji="0" lang="en-US" altLang="en-US" sz="1600" b="0" i="0" u="none" strike="noStrike" cap="none" normalizeH="0" baseline="0" dirty="0" err="1">
                <a:ln>
                  <a:noFill/>
                </a:ln>
                <a:solidFill>
                  <a:schemeClr val="tx1"/>
                </a:solidFill>
                <a:effectLst/>
              </a:rPr>
              <a:t>Petruccione</a:t>
            </a:r>
            <a:r>
              <a:rPr kumimoji="0" lang="en-US" altLang="en-US" sz="1600" b="0" i="0" u="none" strike="noStrike" cap="none" normalizeH="0" baseline="0" dirty="0">
                <a:ln>
                  <a:noFill/>
                </a:ln>
                <a:solidFill>
                  <a:schemeClr val="tx1"/>
                </a:solidFill>
                <a:effectLst/>
              </a:rPr>
              <a:t>, </a:t>
            </a:r>
            <a:r>
              <a:rPr kumimoji="0" lang="en-US" altLang="en-US" sz="1600" b="0" i="1" u="none" strike="noStrike" cap="none" normalizeH="0" baseline="0" dirty="0">
                <a:ln>
                  <a:noFill/>
                </a:ln>
                <a:solidFill>
                  <a:schemeClr val="tx1"/>
                </a:solidFill>
                <a:effectLst/>
              </a:rPr>
              <a:t>Machine Learning with Quantum Computers</a:t>
            </a:r>
            <a:r>
              <a:rPr kumimoji="0" lang="en-US" altLang="en-US" sz="1600" b="0" i="0" u="none" strike="noStrike" cap="none" normalizeH="0" baseline="0" dirty="0">
                <a:ln>
                  <a:noFill/>
                </a:ln>
                <a:solidFill>
                  <a:schemeClr val="tx1"/>
                </a:solidFill>
                <a:effectLst/>
              </a:rPr>
              <a:t>, 2nd ed., </a:t>
            </a:r>
            <a:r>
              <a:rPr kumimoji="0" lang="en-US" altLang="en-US" sz="1600" b="1" i="0" u="none" strike="noStrike" cap="none" normalizeH="0" baseline="0" dirty="0">
                <a:ln>
                  <a:noFill/>
                </a:ln>
                <a:solidFill>
                  <a:schemeClr val="tx1"/>
                </a:solidFill>
                <a:effectLst/>
              </a:rPr>
              <a:t>Springer</a:t>
            </a:r>
            <a:r>
              <a:rPr kumimoji="0" lang="en-US" altLang="en-US" sz="1600" b="0" i="0" u="none" strike="noStrike" cap="none" normalizeH="0" baseline="0" dirty="0">
                <a:ln>
                  <a:noFill/>
                </a:ln>
                <a:solidFill>
                  <a:schemeClr val="tx1"/>
                </a:solidFill>
                <a:effectLst/>
              </a:rPr>
              <a:t>, 2021.</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600" b="0" i="0" u="none" strike="noStrike" cap="none" normalizeH="0" baseline="0" dirty="0">
                <a:ln>
                  <a:noFill/>
                </a:ln>
                <a:solidFill>
                  <a:schemeClr val="tx1"/>
                </a:solidFill>
                <a:effectLst/>
              </a:rPr>
              <a:t>L. Zhou et al., </a:t>
            </a:r>
            <a:r>
              <a:rPr kumimoji="0" lang="en-US" altLang="en-US" sz="1600" b="0" i="1" u="none" strike="noStrike" cap="none" normalizeH="0" baseline="0" dirty="0">
                <a:ln>
                  <a:noFill/>
                </a:ln>
                <a:solidFill>
                  <a:schemeClr val="tx1"/>
                </a:solidFill>
                <a:effectLst/>
              </a:rPr>
              <a:t>“Hybrid Quantum–Classical Algorithms for Optimization on NISQ Devices,”</a:t>
            </a:r>
            <a:r>
              <a:rPr kumimoji="0" lang="en-US" altLang="en-US" sz="1600" b="0" i="0" u="none" strike="noStrike" cap="none" normalizeH="0" baseline="0" dirty="0">
                <a:ln>
                  <a:noFill/>
                </a:ln>
                <a:solidFill>
                  <a:schemeClr val="tx1"/>
                </a:solidFill>
                <a:effectLst/>
              </a:rPr>
              <a:t> </a:t>
            </a:r>
            <a:r>
              <a:rPr kumimoji="0" lang="en-US" altLang="en-US" sz="1600" b="1" i="0" u="none" strike="noStrike" cap="none" normalizeH="0" baseline="0" dirty="0">
                <a:ln>
                  <a:noFill/>
                </a:ln>
                <a:solidFill>
                  <a:schemeClr val="tx1"/>
                </a:solidFill>
                <a:effectLst/>
              </a:rPr>
              <a:t>Nature Quantum Information</a:t>
            </a:r>
            <a:r>
              <a:rPr kumimoji="0" lang="en-US" altLang="en-US" sz="1600" b="0" i="0" u="none" strike="noStrike" cap="none" normalizeH="0" baseline="0" dirty="0">
                <a:ln>
                  <a:noFill/>
                </a:ln>
                <a:solidFill>
                  <a:schemeClr val="tx1"/>
                </a:solidFill>
                <a:effectLst/>
              </a:rPr>
              <a:t>, vol. 7, no. 3, pp. 1–12, 2021.</a:t>
            </a:r>
          </a:p>
        </p:txBody>
      </p:sp>
      <p:sp>
        <p:nvSpPr>
          <p:cNvPr id="6" name="TextBox 5">
            <a:extLst>
              <a:ext uri="{FF2B5EF4-FFF2-40B4-BE49-F238E27FC236}">
                <a16:creationId xmlns:a16="http://schemas.microsoft.com/office/drawing/2014/main" id="{A2B3BA2A-DD02-A88C-A306-40EF40ADFF3B}"/>
              </a:ext>
            </a:extLst>
          </p:cNvPr>
          <p:cNvSpPr txBox="1"/>
          <p:nvPr/>
        </p:nvSpPr>
        <p:spPr>
          <a:xfrm>
            <a:off x="388856" y="6386731"/>
            <a:ext cx="6094428" cy="369332"/>
          </a:xfrm>
          <a:prstGeom prst="rect">
            <a:avLst/>
          </a:prstGeom>
          <a:noFill/>
        </p:spPr>
        <p:txBody>
          <a:bodyPr wrap="square">
            <a:spAutoFit/>
          </a:bodyPr>
          <a:lstStyle/>
          <a:p>
            <a:r>
              <a:rPr lang="en-US" i="1" dirty="0"/>
              <a:t>Department of Information Technology</a:t>
            </a:r>
          </a:p>
        </p:txBody>
      </p:sp>
    </p:spTree>
    <p:extLst>
      <p:ext uri="{BB962C8B-B14F-4D97-AF65-F5344CB8AC3E}">
        <p14:creationId xmlns:p14="http://schemas.microsoft.com/office/powerpoint/2010/main" val="3121760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F434F7-CCA0-928A-8479-6C8548DB4297}"/>
              </a:ext>
            </a:extLst>
          </p:cNvPr>
          <p:cNvSpPr txBox="1"/>
          <p:nvPr/>
        </p:nvSpPr>
        <p:spPr>
          <a:xfrm>
            <a:off x="3063712" y="2801771"/>
            <a:ext cx="5348580" cy="1107996"/>
          </a:xfrm>
          <a:prstGeom prst="rect">
            <a:avLst/>
          </a:prstGeom>
          <a:noFill/>
        </p:spPr>
        <p:txBody>
          <a:bodyPr wrap="none" rtlCol="0">
            <a:spAutoFit/>
          </a:bodyPr>
          <a:lstStyle/>
          <a:p>
            <a:r>
              <a:rPr lang="en-US" sz="6600" b="1" dirty="0">
                <a:latin typeface="Times New Roman" panose="02020603050405020304" pitchFamily="18" charset="0"/>
                <a:cs typeface="Times New Roman" panose="02020603050405020304" pitchFamily="18" charset="0"/>
              </a:rPr>
              <a:t>THANK YOU</a:t>
            </a:r>
          </a:p>
        </p:txBody>
      </p:sp>
      <p:sp>
        <p:nvSpPr>
          <p:cNvPr id="4" name="TextBox 3">
            <a:extLst>
              <a:ext uri="{FF2B5EF4-FFF2-40B4-BE49-F238E27FC236}">
                <a16:creationId xmlns:a16="http://schemas.microsoft.com/office/drawing/2014/main" id="{AFD46930-91D7-F3E3-AE8B-425AADCB08DF}"/>
              </a:ext>
            </a:extLst>
          </p:cNvPr>
          <p:cNvSpPr txBox="1"/>
          <p:nvPr/>
        </p:nvSpPr>
        <p:spPr>
          <a:xfrm>
            <a:off x="501977" y="6395243"/>
            <a:ext cx="6094428" cy="369332"/>
          </a:xfrm>
          <a:prstGeom prst="rect">
            <a:avLst/>
          </a:prstGeom>
          <a:noFill/>
        </p:spPr>
        <p:txBody>
          <a:bodyPr wrap="square">
            <a:spAutoFit/>
          </a:bodyPr>
          <a:lstStyle/>
          <a:p>
            <a:r>
              <a:rPr lang="en-US" i="1" dirty="0"/>
              <a:t>Department of Information Technology</a:t>
            </a:r>
          </a:p>
        </p:txBody>
      </p:sp>
    </p:spTree>
    <p:extLst>
      <p:ext uri="{BB962C8B-B14F-4D97-AF65-F5344CB8AC3E}">
        <p14:creationId xmlns:p14="http://schemas.microsoft.com/office/powerpoint/2010/main" val="110751018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323</TotalTime>
  <Words>1576</Words>
  <Application>Microsoft Office PowerPoint</Application>
  <PresentationFormat>Widescreen</PresentationFormat>
  <Paragraphs>109</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Cambria Math</vt:lpstr>
      <vt:lpstr>Times New Roman</vt:lpstr>
      <vt:lpstr>Retrospect</vt:lpstr>
      <vt:lpstr>Hybrid-Enhanced Two-Step Quantum Search (H-TSQS)</vt:lpstr>
      <vt:lpstr>AGENDA</vt:lpstr>
      <vt:lpstr>PROBLEM  STATEMENT</vt:lpstr>
      <vt:lpstr>ABSTRACT</vt:lpstr>
      <vt:lpstr>PROJECT OBJECTIVES</vt:lpstr>
      <vt:lpstr>PROJECT  PLAN</vt:lpstr>
      <vt:lpstr>LITERATURE  REVIEW</vt:lpstr>
      <vt:lpstr>EXISTING  IDEA</vt:lpstr>
      <vt:lpstr>PROPOSED  METHODOLOGY</vt:lpstr>
      <vt:lpstr>FLOW CHART</vt:lpstr>
      <vt:lpstr>IMPROVEMENTS</vt:lpstr>
      <vt:lpstr>RESULTS</vt:lpstr>
      <vt:lpstr>PowerPoint Presentation</vt:lpstr>
      <vt:lpstr>PROJECT  REQUISITES: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Vyshnavi Gangadhari</dc:creator>
  <cp:lastModifiedBy>Saiteja Jagini</cp:lastModifiedBy>
  <cp:revision>3</cp:revision>
  <dcterms:created xsi:type="dcterms:W3CDTF">2025-10-27T16:59:54Z</dcterms:created>
  <dcterms:modified xsi:type="dcterms:W3CDTF">2025-10-28T08:52:17Z</dcterms:modified>
</cp:coreProperties>
</file>