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Helvetica World" panose="020B0604020202020204" charset="-128"/>
      <p:regular r:id="rId16"/>
    </p:embeddedFont>
    <p:embeddedFont>
      <p:font typeface="Helvetica World Bold" panose="020B0604020202020204" charset="-128"/>
      <p:regular r:id="rId17"/>
    </p:embeddedFont>
    <p:embeddedFont>
      <p:font typeface="DM Sans" pitchFamily="2" charset="0"/>
      <p:regular r:id="rId18"/>
    </p:embeddedFont>
    <p:embeddedFont>
      <p:font typeface="DM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55947" y="3144259"/>
            <a:ext cx="5532053" cy="7142741"/>
          </a:xfrm>
          <a:custGeom>
            <a:avLst/>
            <a:gdLst/>
            <a:ahLst/>
            <a:cxnLst/>
            <a:rect l="l" t="t" r="r" b="b"/>
            <a:pathLst>
              <a:path w="5532053" h="7142741">
                <a:moveTo>
                  <a:pt x="0" y="0"/>
                </a:moveTo>
                <a:lnTo>
                  <a:pt x="5532053" y="0"/>
                </a:lnTo>
                <a:lnTo>
                  <a:pt x="5532053" y="7142741"/>
                </a:lnTo>
                <a:lnTo>
                  <a:pt x="0" y="7142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03600" y="3855973"/>
            <a:ext cx="15302471" cy="1858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59"/>
              </a:lnSpc>
              <a:spcBef>
                <a:spcPct val="0"/>
              </a:spcBef>
            </a:pPr>
            <a:r>
              <a:rPr lang="en-US" sz="10828" spc="-8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Travelling Salesman Problem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8430" y="6326374"/>
            <a:ext cx="453539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Classic Optimization Problem</a:t>
            </a:r>
          </a:p>
        </p:txBody>
      </p:sp>
      <p:grpSp>
        <p:nvGrpSpPr>
          <p:cNvPr id="9" name="Group 9"/>
          <p:cNvGrpSpPr/>
          <p:nvPr/>
        </p:nvGrpSpPr>
        <p:grpSpPr>
          <a:xfrm rot="-2700000">
            <a:off x="12589265" y="3323377"/>
            <a:ext cx="504343" cy="504343"/>
            <a:chOff x="0" y="0"/>
            <a:chExt cx="132831" cy="1328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2831" cy="132831"/>
            </a:xfrm>
            <a:custGeom>
              <a:avLst/>
              <a:gdLst/>
              <a:ahLst/>
              <a:cxnLst/>
              <a:rect l="l" t="t" r="r" b="b"/>
              <a:pathLst>
                <a:path w="132831" h="132831">
                  <a:moveTo>
                    <a:pt x="0" y="0"/>
                  </a:moveTo>
                  <a:lnTo>
                    <a:pt x="132831" y="0"/>
                  </a:lnTo>
                  <a:lnTo>
                    <a:pt x="132831" y="132831"/>
                  </a:lnTo>
                  <a:lnTo>
                    <a:pt x="0" y="13283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2831" cy="170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6866660" y="7088679"/>
            <a:ext cx="317690" cy="317690"/>
            <a:chOff x="0" y="0"/>
            <a:chExt cx="83671" cy="836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3378082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0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183235" y="8542435"/>
            <a:ext cx="1921529" cy="47625"/>
            <a:chOff x="0" y="0"/>
            <a:chExt cx="506082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700000">
            <a:off x="1094496" y="1803290"/>
            <a:ext cx="317690" cy="317690"/>
            <a:chOff x="0" y="0"/>
            <a:chExt cx="83671" cy="836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384480" y="544665"/>
            <a:ext cx="11248919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95078" y="3101147"/>
            <a:ext cx="14741026" cy="37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classic optimization problem in graph theory &amp; computer science.</a:t>
            </a:r>
          </a:p>
          <a:p>
            <a:pPr marL="561337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Objective: find the shortest possible route that visits each city exactly once and returns to the starting city.</a:t>
            </a:r>
          </a:p>
          <a:p>
            <a:pPr marL="561337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Known as an NP-hard problem – easy to state but extremely challenging to solve efficiently for large inputs.</a:t>
            </a:r>
          </a:p>
          <a:p>
            <a:pPr marL="626106" lvl="1" indent="-313053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Important in real-world applications: logistics, routing, scheduling, chip design, and bioinformatics.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9210675"/>
            <a:ext cx="1921529" cy="47625"/>
            <a:chOff x="0" y="0"/>
            <a:chExt cx="506082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402503" y="3979063"/>
            <a:ext cx="4885497" cy="6307937"/>
          </a:xfrm>
          <a:custGeom>
            <a:avLst/>
            <a:gdLst/>
            <a:ahLst/>
            <a:cxnLst/>
            <a:rect l="l" t="t" r="r" b="b"/>
            <a:pathLst>
              <a:path w="4885497" h="6307937">
                <a:moveTo>
                  <a:pt x="0" y="0"/>
                </a:moveTo>
                <a:lnTo>
                  <a:pt x="4885497" y="0"/>
                </a:lnTo>
                <a:lnTo>
                  <a:pt x="4885497" y="6307937"/>
                </a:lnTo>
                <a:lnTo>
                  <a:pt x="0" y="6307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553696" y="3979063"/>
            <a:ext cx="5953215" cy="4931592"/>
          </a:xfrm>
          <a:custGeom>
            <a:avLst/>
            <a:gdLst/>
            <a:ahLst/>
            <a:cxnLst/>
            <a:rect l="l" t="t" r="r" b="b"/>
            <a:pathLst>
              <a:path w="5953215" h="4931592">
                <a:moveTo>
                  <a:pt x="0" y="0"/>
                </a:moveTo>
                <a:lnTo>
                  <a:pt x="5953214" y="0"/>
                </a:lnTo>
                <a:lnTo>
                  <a:pt x="5953214" y="4931592"/>
                </a:lnTo>
                <a:lnTo>
                  <a:pt x="0" y="4931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4" r="-81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85099" y="857250"/>
            <a:ext cx="9551026" cy="1566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  <a:spcBef>
                <a:spcPct val="0"/>
              </a:spcBef>
            </a:pPr>
            <a:r>
              <a:rPr lang="en-US" sz="9200" spc="-7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499314"/>
            <a:ext cx="10081279" cy="508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Input: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set of n cities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Pairwise distances or costs between every two cities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Objective: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Find the shortest possible route that visits each city exactly once and returns to the starting city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Point: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problem can be modeled as finding the minimum-cost Hamiltonian cycle in a weighted complete graph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Complexity: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Decision version: NP-Complete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Optimization version: NP-Hard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70099" y="9210675"/>
            <a:ext cx="1921529" cy="47625"/>
            <a:chOff x="0" y="0"/>
            <a:chExt cx="506082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0" y="2860226"/>
            <a:ext cx="5752036" cy="7426774"/>
          </a:xfrm>
          <a:custGeom>
            <a:avLst/>
            <a:gdLst/>
            <a:ahLst/>
            <a:cxnLst/>
            <a:rect l="l" t="t" r="r" b="b"/>
            <a:pathLst>
              <a:path w="5752036" h="7426774">
                <a:moveTo>
                  <a:pt x="5752036" y="0"/>
                </a:moveTo>
                <a:lnTo>
                  <a:pt x="0" y="0"/>
                </a:lnTo>
                <a:lnTo>
                  <a:pt x="0" y="7426774"/>
                </a:lnTo>
                <a:lnTo>
                  <a:pt x="5752036" y="7426774"/>
                </a:lnTo>
                <a:lnTo>
                  <a:pt x="57520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52461" y="3810511"/>
            <a:ext cx="11311530" cy="5793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4" lvl="1" indent="-356232" algn="l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Let c(i, j) be cost from city i to j</a:t>
            </a:r>
          </a:p>
          <a:p>
            <a:pPr marL="712464" lvl="1" indent="-356232" algn="l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Find permutation π of cities minimizing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12464" lvl="1" indent="-356232" algn="l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Output: best tour (order of cities) and its total cost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252461" y="5642124"/>
            <a:ext cx="10469936" cy="1862978"/>
          </a:xfrm>
          <a:custGeom>
            <a:avLst/>
            <a:gdLst/>
            <a:ahLst/>
            <a:cxnLst/>
            <a:rect l="l" t="t" r="r" b="b"/>
            <a:pathLst>
              <a:path w="10469936" h="1862978">
                <a:moveTo>
                  <a:pt x="0" y="0"/>
                </a:moveTo>
                <a:lnTo>
                  <a:pt x="10469936" y="0"/>
                </a:lnTo>
                <a:lnTo>
                  <a:pt x="10469936" y="1862978"/>
                </a:lnTo>
                <a:lnTo>
                  <a:pt x="0" y="186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39320" y="352504"/>
            <a:ext cx="9783077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Objective Function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9210675"/>
            <a:ext cx="1921529" cy="47625"/>
            <a:chOff x="0" y="0"/>
            <a:chExt cx="506082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277960" y="3979063"/>
            <a:ext cx="4885497" cy="6307937"/>
          </a:xfrm>
          <a:custGeom>
            <a:avLst/>
            <a:gdLst/>
            <a:ahLst/>
            <a:cxnLst/>
            <a:rect l="l" t="t" r="r" b="b"/>
            <a:pathLst>
              <a:path w="4885497" h="6307937">
                <a:moveTo>
                  <a:pt x="0" y="0"/>
                </a:moveTo>
                <a:lnTo>
                  <a:pt x="4885497" y="0"/>
                </a:lnTo>
                <a:lnTo>
                  <a:pt x="4885497" y="6307937"/>
                </a:lnTo>
                <a:lnTo>
                  <a:pt x="0" y="6307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-2700000">
            <a:off x="8760515" y="6426667"/>
            <a:ext cx="317690" cy="317690"/>
            <a:chOff x="0" y="0"/>
            <a:chExt cx="83671" cy="836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685430" y="3088567"/>
            <a:ext cx="6009318" cy="5757499"/>
          </a:xfrm>
          <a:custGeom>
            <a:avLst/>
            <a:gdLst/>
            <a:ahLst/>
            <a:cxnLst/>
            <a:rect l="l" t="t" r="r" b="b"/>
            <a:pathLst>
              <a:path w="6009318" h="5757499">
                <a:moveTo>
                  <a:pt x="0" y="0"/>
                </a:moveTo>
                <a:lnTo>
                  <a:pt x="6009318" y="0"/>
                </a:lnTo>
                <a:lnTo>
                  <a:pt x="6009318" y="5757499"/>
                </a:lnTo>
                <a:lnTo>
                  <a:pt x="0" y="57574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724324" y="847725"/>
            <a:ext cx="8965765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Solved Example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3961" y="3921913"/>
            <a:ext cx="8633031" cy="3596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Distance Matrix derived from graph.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possible tours checked (6 permutations).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Minimum cost found = 97.</a:t>
            </a: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Optimal Routes: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A → B → C → D → A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A → D → C → B → 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85641" y="619279"/>
            <a:ext cx="9361642" cy="155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40"/>
              </a:lnSpc>
              <a:spcBef>
                <a:spcPct val="0"/>
              </a:spcBef>
            </a:pPr>
            <a:r>
              <a:rPr lang="en-US" sz="9100" spc="-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Solving Approaches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614662"/>
            <a:ext cx="5218001" cy="272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Tries all possible tours (n−1)!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Computes cost of each and selects the minimum.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Guarantees optimal solution but impractical for large inputs (exponential time).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85890" y="3977117"/>
            <a:ext cx="4476710" cy="517719"/>
            <a:chOff x="0" y="-38100"/>
            <a:chExt cx="672082" cy="1573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2082" cy="119264"/>
            </a:xfrm>
            <a:custGeom>
              <a:avLst/>
              <a:gdLst/>
              <a:ahLst/>
              <a:cxnLst/>
              <a:rect l="l" t="t" r="r" b="b"/>
              <a:pathLst>
                <a:path w="672082" h="119264">
                  <a:moveTo>
                    <a:pt x="0" y="0"/>
                  </a:moveTo>
                  <a:lnTo>
                    <a:pt x="672082" y="0"/>
                  </a:lnTo>
                  <a:lnTo>
                    <a:pt x="672082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72082" cy="157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2877" y="4105581"/>
            <a:ext cx="3060144" cy="392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Brute Force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070029" y="2810977"/>
            <a:ext cx="343740" cy="47625"/>
            <a:chOff x="0" y="0"/>
            <a:chExt cx="90532" cy="125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968716" y="5614662"/>
            <a:ext cx="5195491" cy="272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overlapping subproblems and stores results in a DP table.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Time Complexity: O(n²·2ⁿ)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Space Complexity: O(n·2ⁿ)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Faster than brute force but still exponential.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991952" y="4047265"/>
            <a:ext cx="4476709" cy="389255"/>
            <a:chOff x="0" y="0"/>
            <a:chExt cx="891439" cy="11392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1439" cy="113926"/>
            </a:xfrm>
            <a:custGeom>
              <a:avLst/>
              <a:gdLst/>
              <a:ahLst/>
              <a:cxnLst/>
              <a:rect l="l" t="t" r="r" b="b"/>
              <a:pathLst>
                <a:path w="891439" h="113926">
                  <a:moveTo>
                    <a:pt x="0" y="0"/>
                  </a:moveTo>
                  <a:lnTo>
                    <a:pt x="891439" y="0"/>
                  </a:lnTo>
                  <a:lnTo>
                    <a:pt x="891439" y="113926"/>
                  </a:lnTo>
                  <a:lnTo>
                    <a:pt x="0" y="113926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91439" cy="152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968716" y="4047265"/>
            <a:ext cx="4314439" cy="392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Dynamic Programming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670619" y="1584795"/>
            <a:ext cx="343740" cy="47625"/>
            <a:chOff x="0" y="0"/>
            <a:chExt cx="90532" cy="1254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602172" y="5614662"/>
            <a:ext cx="5465612" cy="311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Explores partial tours and uses lower bounds to prune bad paths.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Much faster than brute force in practice.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Time: Best case efficient, worst case O(n!)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Space: About O(n^2)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Good for medium-sized problems.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2902774" y="3957066"/>
            <a:ext cx="4299335" cy="383789"/>
            <a:chOff x="0" y="0"/>
            <a:chExt cx="672082" cy="1192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2082" cy="119264"/>
            </a:xfrm>
            <a:custGeom>
              <a:avLst/>
              <a:gdLst/>
              <a:ahLst/>
              <a:cxnLst/>
              <a:rect l="l" t="t" r="r" b="b"/>
              <a:pathLst>
                <a:path w="672082" h="119264">
                  <a:moveTo>
                    <a:pt x="0" y="0"/>
                  </a:moveTo>
                  <a:lnTo>
                    <a:pt x="672082" y="0"/>
                  </a:lnTo>
                  <a:lnTo>
                    <a:pt x="672082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72082" cy="157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030200" y="3948825"/>
            <a:ext cx="2910442" cy="392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Branch &amp; Bound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3378082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0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183235" y="8542435"/>
            <a:ext cx="1921529" cy="47625"/>
            <a:chOff x="0" y="0"/>
            <a:chExt cx="506082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2485974" y="4657027"/>
            <a:ext cx="317690" cy="317690"/>
            <a:chOff x="0" y="0"/>
            <a:chExt cx="83671" cy="836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99404" y="2087791"/>
            <a:ext cx="6221029" cy="7778280"/>
          </a:xfrm>
          <a:custGeom>
            <a:avLst/>
            <a:gdLst/>
            <a:ahLst/>
            <a:cxnLst/>
            <a:rect l="l" t="t" r="r" b="b"/>
            <a:pathLst>
              <a:path w="6221029" h="7778280">
                <a:moveTo>
                  <a:pt x="0" y="0"/>
                </a:moveTo>
                <a:lnTo>
                  <a:pt x="6221029" y="0"/>
                </a:lnTo>
                <a:lnTo>
                  <a:pt x="6221029" y="7778280"/>
                </a:lnTo>
                <a:lnTo>
                  <a:pt x="0" y="7778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213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953568" y="3446218"/>
            <a:ext cx="7992291" cy="4537223"/>
          </a:xfrm>
          <a:custGeom>
            <a:avLst/>
            <a:gdLst/>
            <a:ahLst/>
            <a:cxnLst/>
            <a:rect l="l" t="t" r="r" b="b"/>
            <a:pathLst>
              <a:path w="7992291" h="4537223">
                <a:moveTo>
                  <a:pt x="0" y="0"/>
                </a:moveTo>
                <a:lnTo>
                  <a:pt x="7992292" y="0"/>
                </a:lnTo>
                <a:lnTo>
                  <a:pt x="7992292" y="4537223"/>
                </a:lnTo>
                <a:lnTo>
                  <a:pt x="0" y="4537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60765" y="117157"/>
            <a:ext cx="11248919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TSP using brute force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3378082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0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183235" y="8542435"/>
            <a:ext cx="1921529" cy="47625"/>
            <a:chOff x="0" y="0"/>
            <a:chExt cx="506082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2485974" y="4657027"/>
            <a:ext cx="317690" cy="317690"/>
            <a:chOff x="0" y="0"/>
            <a:chExt cx="83671" cy="836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00539" y="2062245"/>
            <a:ext cx="8115750" cy="7882423"/>
          </a:xfrm>
          <a:custGeom>
            <a:avLst/>
            <a:gdLst/>
            <a:ahLst/>
            <a:cxnLst/>
            <a:rect l="l" t="t" r="r" b="b"/>
            <a:pathLst>
              <a:path w="8115750" h="7882423">
                <a:moveTo>
                  <a:pt x="0" y="0"/>
                </a:moveTo>
                <a:lnTo>
                  <a:pt x="8115750" y="0"/>
                </a:lnTo>
                <a:lnTo>
                  <a:pt x="8115750" y="7882423"/>
                </a:lnTo>
                <a:lnTo>
                  <a:pt x="0" y="7882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844289" y="3465063"/>
            <a:ext cx="7691600" cy="4806667"/>
          </a:xfrm>
          <a:custGeom>
            <a:avLst/>
            <a:gdLst/>
            <a:ahLst/>
            <a:cxnLst/>
            <a:rect l="l" t="t" r="r" b="b"/>
            <a:pathLst>
              <a:path w="7691600" h="4806667">
                <a:moveTo>
                  <a:pt x="0" y="0"/>
                </a:moveTo>
                <a:lnTo>
                  <a:pt x="7691600" y="0"/>
                </a:lnTo>
                <a:lnTo>
                  <a:pt x="7691600" y="4806667"/>
                </a:lnTo>
                <a:lnTo>
                  <a:pt x="0" y="4806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2584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-1675215" y="612219"/>
            <a:ext cx="17093755" cy="109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 spc="-4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TSP using Dynamic Programming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3378082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0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183235" y="8542435"/>
            <a:ext cx="1921529" cy="47625"/>
            <a:chOff x="0" y="0"/>
            <a:chExt cx="506082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2485974" y="4657027"/>
            <a:ext cx="317690" cy="317690"/>
            <a:chOff x="0" y="0"/>
            <a:chExt cx="83671" cy="836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25705" y="2628547"/>
            <a:ext cx="5517486" cy="6297748"/>
          </a:xfrm>
          <a:custGeom>
            <a:avLst/>
            <a:gdLst/>
            <a:ahLst/>
            <a:cxnLst/>
            <a:rect l="l" t="t" r="r" b="b"/>
            <a:pathLst>
              <a:path w="5517486" h="6297748">
                <a:moveTo>
                  <a:pt x="0" y="0"/>
                </a:moveTo>
                <a:lnTo>
                  <a:pt x="5517486" y="0"/>
                </a:lnTo>
                <a:lnTo>
                  <a:pt x="5517486" y="6297749"/>
                </a:lnTo>
                <a:lnTo>
                  <a:pt x="0" y="6297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052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043191" y="2628547"/>
            <a:ext cx="5931497" cy="6297748"/>
          </a:xfrm>
          <a:custGeom>
            <a:avLst/>
            <a:gdLst/>
            <a:ahLst/>
            <a:cxnLst/>
            <a:rect l="l" t="t" r="r" b="b"/>
            <a:pathLst>
              <a:path w="5931497" h="6297748">
                <a:moveTo>
                  <a:pt x="0" y="0"/>
                </a:moveTo>
                <a:lnTo>
                  <a:pt x="5931497" y="0"/>
                </a:lnTo>
                <a:lnTo>
                  <a:pt x="5931497" y="6297749"/>
                </a:lnTo>
                <a:lnTo>
                  <a:pt x="0" y="62977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54" r="-31349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644292" y="2762424"/>
            <a:ext cx="6929737" cy="5827635"/>
          </a:xfrm>
          <a:custGeom>
            <a:avLst/>
            <a:gdLst/>
            <a:ahLst/>
            <a:cxnLst/>
            <a:rect l="l" t="t" r="r" b="b"/>
            <a:pathLst>
              <a:path w="6929737" h="5827635">
                <a:moveTo>
                  <a:pt x="0" y="0"/>
                </a:moveTo>
                <a:lnTo>
                  <a:pt x="6929737" y="0"/>
                </a:lnTo>
                <a:lnTo>
                  <a:pt x="6929737" y="5827636"/>
                </a:lnTo>
                <a:lnTo>
                  <a:pt x="0" y="5827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5986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60765" y="424996"/>
            <a:ext cx="14085184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TSP using Branch and Bound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3378082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0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183235" y="8542435"/>
            <a:ext cx="1921529" cy="47625"/>
            <a:chOff x="0" y="0"/>
            <a:chExt cx="506082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2485974" y="4657027"/>
            <a:ext cx="317690" cy="317690"/>
            <a:chOff x="0" y="0"/>
            <a:chExt cx="83671" cy="836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70725" y="213998"/>
            <a:ext cx="17146549" cy="146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0"/>
              </a:lnSpc>
              <a:spcBef>
                <a:spcPct val="0"/>
              </a:spcBef>
            </a:pPr>
            <a:r>
              <a:rPr lang="en-US" sz="8600" spc="-6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Comparison of TSP Solving Approaches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1B1183-5F13-EA9B-8A4E-E582D5691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210" y="1696940"/>
            <a:ext cx="14271581" cy="7645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3378082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0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2700000">
            <a:off x="2485974" y="4657027"/>
            <a:ext cx="317690" cy="317690"/>
            <a:chOff x="0" y="0"/>
            <a:chExt cx="83671" cy="836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519540" y="379976"/>
            <a:ext cx="11248919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Applications</a:t>
            </a:r>
          </a:p>
        </p:txBody>
      </p:sp>
      <p:grpSp>
        <p:nvGrpSpPr>
          <p:cNvPr id="11" name="Group 11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869460" y="2956610"/>
            <a:ext cx="12331475" cy="512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Logistics &amp; Delivery Routing</a:t>
            </a:r>
          </a:p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Optimize courier or food delivery routes.</a:t>
            </a: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Transportation &amp; Scheduling</a:t>
            </a:r>
          </a:p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Airline, railway, and bus timetable optimization.</a:t>
            </a: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Manufacturing &amp; Chip Design</a:t>
            </a:r>
          </a:p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Drill routing on PCBs, reducing tool movement.</a:t>
            </a: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Bioinformatics</a:t>
            </a:r>
          </a:p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DNA sequencing and genome assembly.</a:t>
            </a: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Telecommunications &amp; Networks</a:t>
            </a:r>
          </a:p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packet routing and network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3378082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0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56209" y="474528"/>
            <a:ext cx="12486971" cy="159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20"/>
              </a:lnSpc>
              <a:spcBef>
                <a:spcPct val="0"/>
              </a:spcBef>
            </a:pPr>
            <a:r>
              <a:rPr lang="en-US" sz="9300" spc="-7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Limitations &amp; Challenges</a:t>
            </a:r>
          </a:p>
        </p:txBody>
      </p:sp>
      <p:grpSp>
        <p:nvGrpSpPr>
          <p:cNvPr id="8" name="Group 8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30785" y="3077891"/>
            <a:ext cx="16148181" cy="543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Scalability Issue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Exact methods (Brute Force, DP, Branch &amp; Bound) become infeasible for large nnn.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Computational Complexity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TSP is NP-hard, meaning no known polynomial-time algorithm exists.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Approximation Gap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Heuristics/metaheuristics give near-optimal solutions, but no guarantee of true optimality.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Real-World Constraints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Practical problems often add constraints (e.g., time windows, multiple salesmen), making them even harder.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Trade-off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Need to balance speed vs accuracy in real applications.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8219" y="1432395"/>
            <a:ext cx="343740" cy="47625"/>
            <a:chOff x="0" y="0"/>
            <a:chExt cx="90532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32" cy="12543"/>
            </a:xfrm>
            <a:custGeom>
              <a:avLst/>
              <a:gdLst/>
              <a:ahLst/>
              <a:cxnLst/>
              <a:rect l="l" t="t" r="r" b="b"/>
              <a:pathLst>
                <a:path w="90532" h="12543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3378082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0" y="7565591"/>
            <a:ext cx="4909918" cy="2721409"/>
          </a:xfrm>
          <a:custGeom>
            <a:avLst/>
            <a:gdLst/>
            <a:ahLst/>
            <a:cxnLst/>
            <a:rect l="l" t="t" r="r" b="b"/>
            <a:pathLst>
              <a:path w="4909918" h="2721409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44641" y="538733"/>
            <a:ext cx="11248919" cy="334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  <a:p>
            <a:pPr algn="ctr">
              <a:lnSpc>
                <a:spcPts val="13439"/>
              </a:lnSpc>
              <a:spcBef>
                <a:spcPct val="0"/>
              </a:spcBef>
            </a:pPr>
            <a:endParaRPr lang="en-US" sz="9600" spc="-73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2139" y="3153509"/>
            <a:ext cx="17573923" cy="577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79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Travelling Salesman Problem (TSP) is simple to state but hard to solve.</a:t>
            </a:r>
          </a:p>
          <a:p>
            <a:pPr marL="885179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Belongs to the class of NP-hard problems — no efficient algorithm for large nnn.</a:t>
            </a:r>
          </a:p>
          <a:p>
            <a:pPr marL="885179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Exact methods ensure optimal solutions but don’t scale.</a:t>
            </a:r>
          </a:p>
          <a:p>
            <a:pPr marL="885179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Heuristics &amp; metaheuristics provide near-optimal solutions quickly.</a:t>
            </a:r>
          </a:p>
          <a:p>
            <a:pPr marL="885179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TSP has huge real-world impact in logistics, scheduling, networks, and bioinformatics.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B35F25-AE17-9B3D-F326-8909804563A6}"/>
              </a:ext>
            </a:extLst>
          </p:cNvPr>
          <p:cNvSpPr txBox="1"/>
          <p:nvPr/>
        </p:nvSpPr>
        <p:spPr>
          <a:xfrm>
            <a:off x="4572000" y="495883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585E5F-F122-0FAC-A259-020D17AA2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563</Words>
  <Application>Microsoft Office PowerPoint</Application>
  <PresentationFormat>Custom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Helvetica World Bold</vt:lpstr>
      <vt:lpstr>DM Sans Bold</vt:lpstr>
      <vt:lpstr>Helvetica World</vt:lpstr>
      <vt:lpstr>Calibri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cp:lastModifiedBy>Vyshnavi Gangadhari</cp:lastModifiedBy>
  <cp:revision>3</cp:revision>
  <dcterms:created xsi:type="dcterms:W3CDTF">2006-08-16T00:00:00Z</dcterms:created>
  <dcterms:modified xsi:type="dcterms:W3CDTF">2025-10-29T07:45:07Z</dcterms:modified>
  <dc:identifier>DAGzub4VeF8</dc:identifier>
</cp:coreProperties>
</file>